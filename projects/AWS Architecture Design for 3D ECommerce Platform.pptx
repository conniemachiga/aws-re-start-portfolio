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x="12192000" cy="6858000"/>
  <p:notesSz cx="6858000" cy="9144000"/>
  <p:embeddedFontLst>
    <p:embeddedFont>
      <p:font charset="-122" panose="020B0200000000000000" pitchFamily="34" typeface="Noto Sans SC"/>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fonts/font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AutoShape 2" id="2"/>
          <p:cNvSpPr/>
          <p:nvPr/>
        </p:nvSpPr>
        <p:spPr>
          <a:xfrm rot="0">
            <a:off x="451682" y="5071968"/>
            <a:ext cx="2948736" cy="518887"/>
          </a:xfrm>
          <a:prstGeom prst="rect">
            <a:avLst/>
          </a:prstGeom>
          <a:solidFill>
            <a:srgbClr val="59AE93">
              <a:alpha val="100000"/>
            </a:srgbClr>
          </a:solidFill>
          <a:ln/>
        </p:spPr>
      </p:sp>
      <p:sp>
        <p:nvSpPr>
          <p:cNvPr name="TextBox 3" id="3"/>
          <p:cNvSpPr txBox="true"/>
          <p:nvPr/>
        </p:nvSpPr>
        <p:spPr>
          <a:xfrm rot="0">
            <a:off x="451682" y="1096756"/>
            <a:ext cx="7010623" cy="3465110"/>
          </a:xfrm>
          <a:prstGeom prst="rect">
            <a:avLst/>
          </a:prstGeom>
          <a:ln/>
        </p:spPr>
        <p:txBody>
          <a:bodyPr anchor="t" rtlCol="false" lIns="114300" rIns="114300" tIns="57150" bIns="57150" anchorCtr="false" vert="horz" wrap="square">
            <a:normAutofit/>
          </a:bodyPr>
          <a:lstStyle/>
          <a:p>
            <a:pPr>
              <a:lnSpc>
                <a:spcPct val="114999"/>
              </a:lnSpc>
            </a:pPr>
            <a:r>
              <a:rPr lang="en-US" b="true" sz="5400">
                <a:solidFill>
                  <a:srgbClr val="1F1F1F">
                    <a:alpha val="100000"/>
                  </a:srgbClr>
                </a:solidFill>
                <a:latin typeface="Noto Sans SC"/>
                <a:ea typeface="Noto Sans SC"/>
                <a:cs typeface="Noto Sans SC"/>
              </a:rPr>
              <a:t>AWS Architecture Design for 3D E-Commerce Platform</a:t>
            </a:r>
          </a:p>
        </p:txBody>
      </p:sp>
      <p:sp>
        <p:nvSpPr>
          <p:cNvPr name="TextBox 4" id="4"/>
          <p:cNvSpPr txBox="true"/>
          <p:nvPr/>
        </p:nvSpPr>
        <p:spPr>
          <a:xfrm rot="0">
            <a:off x="451682" y="5071968"/>
            <a:ext cx="2948736" cy="504825"/>
          </a:xfrm>
          <a:prstGeom prst="rect">
            <a:avLst/>
          </a:prstGeom>
          <a:ln/>
        </p:spPr>
        <p:txBody>
          <a:bodyPr anchor="ctr" rtlCol="false" lIns="114300" rIns="114300" tIns="57150" bIns="57150" anchorCtr="false" vert="horz" wrap="square">
            <a:normAutofit/>
          </a:bodyPr>
          <a:lstStyle/>
          <a:p>
            <a:pPr algn="l">
              <a:lnSpc>
                <a:spcPct val="120000"/>
              </a:lnSpc>
            </a:pPr>
            <a:r>
              <a:rPr lang="en-US" sz="1950">
                <a:solidFill>
                  <a:srgbClr val="FFFFFF">
                    <a:alpha val="100000"/>
                  </a:srgbClr>
                </a:solidFill>
                <a:latin typeface="Noto Sans SC"/>
                <a:ea typeface="Noto Sans SC"/>
                <a:cs typeface="Noto Sans SC"/>
              </a:rPr>
              <a:t>Presenter: Connie Machiga</a:t>
            </a:r>
          </a:p>
        </p:txBody>
      </p:sp>
      <p:sp>
        <p:nvSpPr>
          <p:cNvPr name="TextBox 5" id="5"/>
          <p:cNvSpPr txBox="true"/>
          <p:nvPr/>
        </p:nvSpPr>
        <p:spPr>
          <a:xfrm rot="0">
            <a:off x="410986" y="5728772"/>
            <a:ext cx="3371850" cy="504825"/>
          </a:xfrm>
          <a:prstGeom prst="rect">
            <a:avLst/>
          </a:prstGeom>
          <a:ln/>
        </p:spPr>
        <p:txBody>
          <a:bodyPr anchor="t" rtlCol="false" lIns="114300" rIns="114300" tIns="57150" bIns="57150" anchorCtr="false" vert="horz" wrap="square">
            <a:normAutofit/>
          </a:bodyPr>
          <a:lstStyle/>
          <a:p>
            <a:pPr>
              <a:lnSpc>
                <a:spcPct val="120000"/>
              </a:lnSpc>
            </a:pPr>
            <a:r>
              <a:rPr lang="en-US" sz="2025">
                <a:solidFill>
                  <a:srgbClr val="232323">
                    <a:alpha val="100000"/>
                  </a:srgbClr>
                </a:solidFill>
                <a:latin typeface="Noto Sans SC"/>
                <a:ea typeface="Noto Sans SC"/>
                <a:cs typeface="Noto Sans SC"/>
              </a:rPr>
              <a:t>2026-02-16</a:t>
            </a:r>
          </a:p>
        </p:txBody>
      </p:sp>
    </p:spTree>
  </p:cSld>
  <p:clrMapOvr>
    <a:masterClrMapping/>
  </p:clrMapOvr>
  <p:transition spd="slow">
    <p:push/>
  </p:transition>
</p:sld>
</file>

<file path=ppt/slides/slide2.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TextBox 2" id="2"/>
          <p:cNvSpPr txBox="true"/>
          <p:nvPr>
            <p:ph type="title"/>
          </p:nvPr>
        </p:nvSpPr>
        <p:spPr>
          <a:xfrm rot="0">
            <a:off x="476023" y="265328"/>
            <a:ext cx="11239500" cy="914400"/>
          </a:xfrm>
          <a:prstGeom prst="rect">
            <a:avLst/>
          </a:prstGeom>
          <a:ln/>
        </p:spPr>
        <p:txBody>
          <a:bodyPr anchor="ctr" rtlCol="false" lIns="123825" rIns="57150" tIns="123825" bIns="123825" anchorCtr="false" vert="horz" wrap="square">
            <a:noAutofit/>
          </a:bodyPr>
          <a:lstStyle/>
          <a:p>
            <a:pPr algn="l">
              <a:defRPr/>
            </a:pPr>
            <a:r>
              <a:rPr lang="en-US"/>
              <a:t/>
            </a:r>
            <a:endParaRPr lang="en-US" sz="1100"/>
          </a:p>
        </p:txBody>
      </p:sp>
      <p:sp>
        <p:nvSpPr>
          <p:cNvPr name="TextBox 3" id="3"/>
          <p:cNvSpPr txBox="true"/>
          <p:nvPr>
            <p:ph type="obj"/>
          </p:nvPr>
        </p:nvSpPr>
        <p:spPr>
          <a:xfrm rot="0">
            <a:off x="476023" y="1333500"/>
            <a:ext cx="11239500" cy="5050575"/>
          </a:xfrm>
          <a:prstGeom prst="rect">
            <a:avLst/>
          </a:prstGeom>
          <a:ln/>
        </p:spPr>
        <p:txBody>
          <a:bodyPr anchor="t" rtlCol="false" lIns="123825" rIns="57150" tIns="123825" bIns="123825" anchorCtr="false" vert="horz" wrap="square">
            <a:noAutofit/>
          </a:bodyPr>
          <a:lstStyle/>
          <a:p>
            <a:pPr algn="l">
              <a:defRPr/>
            </a:pPr>
            <a:r>
              <a:rPr lang="en-US"/>
              <a:t/>
            </a:r>
            <a:endParaRPr lang="en-US" sz="1100"/>
          </a:p>
        </p:txBody>
      </p:sp>
      <p:pic>
        <p:nvPicPr>
          <p:cNvPr name="Picture 4" id="4"/>
          <p:cNvPicPr>
            <a:picLocks noChangeAspect="true"/>
          </p:cNvPicPr>
          <p:nvPr/>
        </p:nvPicPr>
        <p:blipFill>
          <a:blip r:embed="rId3"/>
          <a:srcRect/>
          <a:stretch>
            <a:fillRect/>
          </a:stretch>
        </p:blipFill>
        <p:spPr>
          <a:xfrm rot="0">
            <a:off x="394736" y="0"/>
            <a:ext cx="11402528" cy="6858000"/>
          </a:xfrm>
          <a:prstGeom prst="rect">
            <a:avLst/>
          </a:prstGeom>
        </p:spPr>
      </p:pic>
    </p:spTree>
  </p:cSld>
  <p:clrMapOvr>
    <a:masterClrMapping/>
  </p:clrMapOvr>
  <p:transition spd="slow">
    <p:push/>
  </p:transition>
</p:sld>
</file>

<file path=ppt/slides/slide3.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3"/>
          <a:srcRect/>
          <a:stretch>
            <a:fillRect/>
          </a:stretch>
        </p:blipFill>
        <p:spPr>
          <a:xfrm rot="0">
            <a:off x="0" y="0"/>
            <a:ext cx="12192000" cy="6858000"/>
          </a:xfrm>
          <a:prstGeom prst="rect">
            <a:avLst/>
          </a:prstGeom>
        </p:spPr>
      </p:pic>
      <p:sp>
        <p:nvSpPr>
          <p:cNvPr name="AutoShape 3" id="3"/>
          <p:cNvSpPr/>
          <p:nvPr/>
        </p:nvSpPr>
        <p:spPr>
          <a:xfrm rot="0">
            <a:off x="471840" y="1020063"/>
            <a:ext cx="2298095" cy="380543"/>
          </a:xfrm>
          <a:prstGeom prst="rect">
            <a:avLst/>
          </a:prstGeom>
          <a:solidFill>
            <a:srgbClr val="59AE93">
              <a:alpha val="100000"/>
            </a:srgbClr>
          </a:solidFill>
          <a:ln/>
        </p:spPr>
      </p:sp>
      <p:sp>
        <p:nvSpPr>
          <p:cNvPr name="TextBox 4" id="4"/>
          <p:cNvSpPr txBox="true"/>
          <p:nvPr/>
        </p:nvSpPr>
        <p:spPr>
          <a:xfrm rot="0">
            <a:off x="584603" y="423341"/>
            <a:ext cx="4405428" cy="977265"/>
          </a:xfrm>
          <a:prstGeom prst="rect">
            <a:avLst/>
          </a:prstGeom>
          <a:ln/>
        </p:spPr>
        <p:txBody>
          <a:bodyPr anchor="ctr" rtlCol="false" lIns="91440" rIns="91440" tIns="45720" bIns="45720" anchorCtr="false" vert="horz" wrap="square">
            <a:normAutofit/>
          </a:bodyPr>
          <a:lstStyle/>
          <a:p>
            <a:pPr algn="l">
              <a:lnSpc>
                <a:spcPct val="100000"/>
              </a:lnSpc>
              <a:spcBef>
                <a:spcPts val="375"/>
              </a:spcBef>
            </a:pPr>
            <a:r>
              <a:rPr lang="en-US" b="true" sz="5250">
                <a:solidFill>
                  <a:srgbClr val="1F1F1F">
                    <a:alpha val="100000"/>
                  </a:srgbClr>
                </a:solidFill>
                <a:latin typeface="Noto Sans SC"/>
                <a:ea typeface="Noto Sans SC"/>
                <a:cs typeface="Noto Sans SC"/>
              </a:rPr>
              <a:t>Contents</a:t>
            </a:r>
          </a:p>
        </p:txBody>
      </p:sp>
      <p:sp>
        <p:nvSpPr>
          <p:cNvPr name="TextBox 5" id="5"/>
          <p:cNvSpPr txBox="true"/>
          <p:nvPr/>
        </p:nvSpPr>
        <p:spPr>
          <a:xfrm rot="0">
            <a:off x="1241452" y="1850012"/>
            <a:ext cx="762000" cy="142875"/>
          </a:xfrm>
          <a:prstGeom prst="rect">
            <a:avLst/>
          </a:prstGeom>
          <a:ln/>
        </p:spPr>
        <p:txBody>
          <a:bodyPr anchor="t" rtlCol="false" lIns="0" rIns="0" tIns="0" bIns="0" anchorCtr="false" vert="horz" wrap="square">
            <a:spAutoFit/>
          </a:bodyPr>
          <a:lstStyle/>
          <a:p>
            <a:pPr>
              <a:lnSpc>
                <a:spcPct val="100000"/>
              </a:lnSpc>
              <a:spcBef>
                <a:spcPts val="375"/>
              </a:spcBef>
            </a:pPr>
          </a:p>
        </p:txBody>
      </p:sp>
      <p:sp>
        <p:nvSpPr>
          <p:cNvPr name="TextBox 6" id="6"/>
          <p:cNvSpPr txBox="true"/>
          <p:nvPr/>
        </p:nvSpPr>
        <p:spPr>
          <a:xfrm rot="0">
            <a:off x="885825" y="3857625"/>
            <a:ext cx="790575" cy="457200"/>
          </a:xfrm>
          <a:prstGeom prst="rect">
            <a:avLst/>
          </a:prstGeom>
          <a:ln/>
        </p:spPr>
        <p:txBody>
          <a:bodyPr anchor="t" rtlCol="false" lIns="0" rIns="0" tIns="0" bIns="0" anchorCtr="false" vert="horz" wrap="square">
            <a:spAutoFit/>
          </a:bodyPr>
          <a:lstStyle/>
          <a:p>
            <a:pPr>
              <a:lnSpc>
                <a:spcPct val="100000"/>
              </a:lnSpc>
              <a:spcBef>
                <a:spcPts val="375"/>
              </a:spcBef>
            </a:pPr>
            <a:r>
              <a:rPr lang="en-US" b="true" sz="2700">
                <a:solidFill>
                  <a:schemeClr val="accent1">
                    <a:alpha val="100000"/>
                  </a:schemeClr>
                </a:solidFill>
                <a:latin typeface="Noto Sans SC"/>
                <a:ea typeface="Noto Sans SC"/>
                <a:cs typeface="Noto Sans SC"/>
              </a:rPr>
              <a:t>02</a:t>
            </a:r>
          </a:p>
        </p:txBody>
      </p:sp>
      <p:sp>
        <p:nvSpPr>
          <p:cNvPr name="TextBox 7" id="7"/>
          <p:cNvSpPr txBox="true"/>
          <p:nvPr/>
        </p:nvSpPr>
        <p:spPr>
          <a:xfrm rot="0">
            <a:off x="1581150" y="3910013"/>
            <a:ext cx="5724525" cy="352425"/>
          </a:xfrm>
          <a:prstGeom prst="rect">
            <a:avLst/>
          </a:prstGeom>
          <a:ln/>
        </p:spPr>
        <p:txBody>
          <a:bodyPr anchor="t" rtlCol="false" lIns="0" rIns="0" tIns="0" bIns="0" anchorCtr="false" vert="horz" wrap="square">
            <a:spAutoFit/>
          </a:bodyPr>
          <a:lstStyle/>
          <a:p>
            <a:pPr>
              <a:lnSpc>
                <a:spcPct val="100000"/>
              </a:lnSpc>
              <a:spcBef>
                <a:spcPts val="375"/>
              </a:spcBef>
            </a:pPr>
            <a:r>
              <a:rPr lang="en-US" sz="2100">
                <a:solidFill>
                  <a:srgbClr val="232323">
                    <a:alpha val="100000"/>
                  </a:srgbClr>
                </a:solidFill>
                <a:latin typeface="Noto Sans SC"/>
                <a:ea typeface="Noto Sans SC"/>
                <a:cs typeface="Noto Sans SC"/>
              </a:rPr>
              <a:t>Architecture Components</a:t>
            </a:r>
          </a:p>
        </p:txBody>
      </p:sp>
      <p:sp>
        <p:nvSpPr>
          <p:cNvPr name="TextBox 8" id="8"/>
          <p:cNvSpPr txBox="true"/>
          <p:nvPr/>
        </p:nvSpPr>
        <p:spPr>
          <a:xfrm rot="0">
            <a:off x="885825" y="3000375"/>
            <a:ext cx="790575" cy="457200"/>
          </a:xfrm>
          <a:prstGeom prst="rect">
            <a:avLst/>
          </a:prstGeom>
          <a:ln/>
        </p:spPr>
        <p:txBody>
          <a:bodyPr anchor="t" rtlCol="false" lIns="0" rIns="0" tIns="0" bIns="0" anchorCtr="false" vert="horz" wrap="square">
            <a:spAutoFit/>
          </a:bodyPr>
          <a:lstStyle/>
          <a:p>
            <a:pPr>
              <a:lnSpc>
                <a:spcPct val="100000"/>
              </a:lnSpc>
              <a:spcBef>
                <a:spcPts val="375"/>
              </a:spcBef>
            </a:pPr>
            <a:r>
              <a:rPr lang="en-US" b="true" sz="2700">
                <a:solidFill>
                  <a:schemeClr val="accent1">
                    <a:alpha val="100000"/>
                  </a:schemeClr>
                </a:solidFill>
                <a:latin typeface="Noto Sans SC"/>
                <a:ea typeface="Noto Sans SC"/>
                <a:cs typeface="Noto Sans SC"/>
              </a:rPr>
              <a:t>01</a:t>
            </a:r>
          </a:p>
        </p:txBody>
      </p:sp>
      <p:sp>
        <p:nvSpPr>
          <p:cNvPr name="TextBox 9" id="9"/>
          <p:cNvSpPr txBox="true"/>
          <p:nvPr/>
        </p:nvSpPr>
        <p:spPr>
          <a:xfrm rot="0">
            <a:off x="1581150" y="3052763"/>
            <a:ext cx="5724525" cy="352425"/>
          </a:xfrm>
          <a:prstGeom prst="rect">
            <a:avLst/>
          </a:prstGeom>
          <a:ln/>
        </p:spPr>
        <p:txBody>
          <a:bodyPr anchor="t" rtlCol="false" lIns="0" rIns="0" tIns="0" bIns="0" anchorCtr="false" vert="horz" wrap="square">
            <a:spAutoFit/>
          </a:bodyPr>
          <a:lstStyle/>
          <a:p>
            <a:pPr>
              <a:lnSpc>
                <a:spcPct val="100000"/>
              </a:lnSpc>
              <a:spcBef>
                <a:spcPts val="375"/>
              </a:spcBef>
            </a:pPr>
            <a:r>
              <a:rPr lang="en-US" sz="2100">
                <a:solidFill>
                  <a:srgbClr val="232323">
                    <a:alpha val="100000"/>
                  </a:srgbClr>
                </a:solidFill>
                <a:latin typeface="Noto Sans SC"/>
                <a:ea typeface="Noto Sans SC"/>
                <a:cs typeface="Noto Sans SC"/>
              </a:rPr>
              <a:t>Overview</a:t>
            </a:r>
          </a:p>
        </p:txBody>
      </p:sp>
      <p:sp>
        <p:nvSpPr>
          <p:cNvPr name="TextBox 10" id="10"/>
          <p:cNvSpPr txBox="true"/>
          <p:nvPr/>
        </p:nvSpPr>
        <p:spPr>
          <a:xfrm rot="0">
            <a:off x="885825" y="4768215"/>
            <a:ext cx="790575" cy="457200"/>
          </a:xfrm>
          <a:prstGeom prst="rect">
            <a:avLst/>
          </a:prstGeom>
          <a:ln/>
        </p:spPr>
        <p:txBody>
          <a:bodyPr anchor="t" rtlCol="false" lIns="0" rIns="0" tIns="0" bIns="0" anchorCtr="false" vert="horz" wrap="square">
            <a:spAutoFit/>
          </a:bodyPr>
          <a:lstStyle/>
          <a:p>
            <a:pPr>
              <a:lnSpc>
                <a:spcPct val="100000"/>
              </a:lnSpc>
              <a:spcBef>
                <a:spcPts val="375"/>
              </a:spcBef>
            </a:pPr>
            <a:r>
              <a:rPr lang="en-US" b="true" sz="2700">
                <a:solidFill>
                  <a:schemeClr val="accent1">
                    <a:alpha val="100000"/>
                  </a:schemeClr>
                </a:solidFill>
                <a:latin typeface="Noto Sans SC"/>
                <a:ea typeface="Noto Sans SC"/>
                <a:cs typeface="Noto Sans SC"/>
              </a:rPr>
              <a:t>03</a:t>
            </a:r>
          </a:p>
        </p:txBody>
      </p:sp>
      <p:sp>
        <p:nvSpPr>
          <p:cNvPr name="TextBox 11" id="11"/>
          <p:cNvSpPr txBox="true"/>
          <p:nvPr/>
        </p:nvSpPr>
        <p:spPr>
          <a:xfrm rot="0">
            <a:off x="1581150" y="4820603"/>
            <a:ext cx="5724525" cy="352425"/>
          </a:xfrm>
          <a:prstGeom prst="rect">
            <a:avLst/>
          </a:prstGeom>
          <a:ln/>
        </p:spPr>
        <p:txBody>
          <a:bodyPr anchor="t" rtlCol="false" lIns="0" rIns="0" tIns="0" bIns="0" anchorCtr="false" vert="horz" wrap="square">
            <a:spAutoFit/>
          </a:bodyPr>
          <a:lstStyle/>
          <a:p>
            <a:pPr>
              <a:lnSpc>
                <a:spcPct val="100000"/>
              </a:lnSpc>
              <a:spcBef>
                <a:spcPts val="375"/>
              </a:spcBef>
            </a:pPr>
            <a:r>
              <a:rPr lang="en-US" sz="2100">
                <a:solidFill>
                  <a:srgbClr val="232323">
                    <a:alpha val="100000"/>
                  </a:srgbClr>
                </a:solidFill>
                <a:latin typeface="Noto Sans SC"/>
                <a:ea typeface="Noto Sans SC"/>
                <a:cs typeface="Noto Sans SC"/>
              </a:rPr>
              <a:t>AWS Service Choices and Rationale</a:t>
            </a:r>
          </a:p>
        </p:txBody>
      </p:sp>
      <p:sp>
        <p:nvSpPr>
          <p:cNvPr name="TextBox 12" id="12"/>
          <p:cNvSpPr txBox="true"/>
          <p:nvPr/>
        </p:nvSpPr>
        <p:spPr>
          <a:xfrm rot="0">
            <a:off x="885825" y="5653174"/>
            <a:ext cx="790575" cy="457200"/>
          </a:xfrm>
          <a:prstGeom prst="rect">
            <a:avLst/>
          </a:prstGeom>
          <a:ln/>
        </p:spPr>
        <p:txBody>
          <a:bodyPr anchor="t" rtlCol="false" lIns="0" rIns="0" tIns="0" bIns="0" anchorCtr="false" vert="horz" wrap="square">
            <a:spAutoFit/>
          </a:bodyPr>
          <a:lstStyle/>
          <a:p>
            <a:pPr>
              <a:lnSpc>
                <a:spcPct val="100000"/>
              </a:lnSpc>
              <a:spcBef>
                <a:spcPts val="375"/>
              </a:spcBef>
            </a:pPr>
            <a:r>
              <a:rPr lang="en-US" b="true" sz="2700">
                <a:solidFill>
                  <a:schemeClr val="accent1">
                    <a:alpha val="100000"/>
                  </a:schemeClr>
                </a:solidFill>
                <a:latin typeface="Noto Sans SC"/>
                <a:ea typeface="Noto Sans SC"/>
                <a:cs typeface="Noto Sans SC"/>
              </a:rPr>
              <a:t>04</a:t>
            </a:r>
          </a:p>
        </p:txBody>
      </p:sp>
      <p:sp>
        <p:nvSpPr>
          <p:cNvPr name="TextBox 13" id="13"/>
          <p:cNvSpPr txBox="true"/>
          <p:nvPr/>
        </p:nvSpPr>
        <p:spPr>
          <a:xfrm rot="0">
            <a:off x="1581150" y="5705562"/>
            <a:ext cx="5724525" cy="352425"/>
          </a:xfrm>
          <a:prstGeom prst="rect">
            <a:avLst/>
          </a:prstGeom>
          <a:ln/>
        </p:spPr>
        <p:txBody>
          <a:bodyPr anchor="t" rtlCol="false" lIns="0" rIns="0" tIns="0" bIns="0" anchorCtr="false" vert="horz" wrap="square">
            <a:spAutoFit/>
          </a:bodyPr>
          <a:lstStyle/>
          <a:p>
            <a:pPr>
              <a:lnSpc>
                <a:spcPct val="100000"/>
              </a:lnSpc>
              <a:spcBef>
                <a:spcPts val="375"/>
              </a:spcBef>
            </a:pPr>
            <a:r>
              <a:rPr lang="en-US" sz="2100">
                <a:solidFill>
                  <a:srgbClr val="232323">
                    <a:alpha val="100000"/>
                  </a:srgbClr>
                </a:solidFill>
                <a:latin typeface="Noto Sans SC"/>
                <a:ea typeface="Noto Sans SC"/>
                <a:cs typeface="Noto Sans SC"/>
              </a:rPr>
              <a:t>Design Trade-Offs and Challenges</a:t>
            </a:r>
          </a:p>
        </p:txBody>
      </p:sp>
    </p:spTree>
  </p:cSld>
  <p:clrMapOvr>
    <a:masterClrMapping/>
  </p:clrMapOvr>
  <p:transition spd="slow">
    <p:push/>
  </p:transition>
</p:sld>
</file>

<file path=ppt/slides/slide4.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0"/>
          </a:blip>
          <a:srcRect/>
          <a:stretch>
            <a:fillRect b="-3444" t="-3444" l="0" r="0"/>
          </a:stretch>
        </a:blipFill>
      </p:bgPr>
    </p:bg>
    <p:spTree>
      <p:nvGrpSpPr>
        <p:cNvPr id="1" name=""/>
        <p:cNvGrpSpPr/>
        <p:nvPr/>
      </p:nvGrpSpPr>
      <p:grpSpPr>
        <a:xfrm>
          <a:off x="0" y="0"/>
          <a:ext cx="0" cy="0"/>
          <a:chOff x="0" y="0"/>
          <a:chExt cx="0" cy="0"/>
        </a:xfrm>
      </p:grpSpPr>
      <p:sp>
        <p:nvSpPr>
          <p:cNvPr name="TextBox 2" id="2"/>
          <p:cNvSpPr txBox="true"/>
          <p:nvPr/>
        </p:nvSpPr>
        <p:spPr>
          <a:xfrm rot="0">
            <a:off x="10022720" y="2593320"/>
            <a:ext cx="1524655" cy="1842306"/>
          </a:xfrm>
          <a:prstGeom prst="rect">
            <a:avLst/>
          </a:prstGeom>
          <a:ln/>
        </p:spPr>
        <p:txBody>
          <a:bodyPr anchor="b" rtlCol="false" lIns="0" rIns="0" tIns="0" bIns="0" anchorCtr="false" vert="horz" wrap="square">
            <a:normAutofit/>
          </a:bodyPr>
          <a:lstStyle/>
          <a:p>
            <a:pPr algn="r">
              <a:lnSpc>
                <a:spcPct val="120000"/>
              </a:lnSpc>
            </a:pPr>
            <a:r>
              <a:rPr lang="en-US" sz="7200">
                <a:solidFill>
                  <a:srgbClr val="59AE93">
                    <a:alpha val="100000"/>
                  </a:srgbClr>
                </a:solidFill>
                <a:highlight>
                  <a:srgbClr val="000000">
                    <a:alpha val="0"/>
                  </a:srgbClr>
                </a:highlight>
                <a:latin typeface="Noto Sans SC"/>
                <a:ea typeface="Noto Sans SC"/>
                <a:cs typeface="Noto Sans SC"/>
              </a:rPr>
              <a:t>01</a:t>
            </a:r>
          </a:p>
        </p:txBody>
      </p:sp>
      <p:sp>
        <p:nvSpPr>
          <p:cNvPr name="TextBox 3" id="3"/>
          <p:cNvSpPr txBox="true"/>
          <p:nvPr/>
        </p:nvSpPr>
        <p:spPr>
          <a:xfrm rot="0">
            <a:off x="6124575" y="2653796"/>
            <a:ext cx="3926719" cy="1842306"/>
          </a:xfrm>
          <a:prstGeom prst="rect">
            <a:avLst/>
          </a:prstGeom>
          <a:ln/>
        </p:spPr>
        <p:txBody>
          <a:bodyPr anchor="b" rtlCol="false" lIns="114300" rIns="114300" tIns="57150" bIns="57150" anchorCtr="false" vert="horz" wrap="square">
            <a:normAutofit/>
          </a:bodyPr>
          <a:lstStyle/>
          <a:p>
            <a:pPr algn="r">
              <a:lnSpc>
                <a:spcPct val="120000"/>
              </a:lnSpc>
            </a:pPr>
            <a:r>
              <a:rPr lang="en-US" sz="7200">
                <a:solidFill>
                  <a:srgbClr val="59AE93">
                    <a:alpha val="100000"/>
                  </a:srgbClr>
                </a:solidFill>
                <a:highlight>
                  <a:srgbClr val="000000">
                    <a:alpha val="0"/>
                  </a:srgbClr>
                </a:highlight>
                <a:latin typeface="Noto Sans SC"/>
                <a:ea typeface="Noto Sans SC"/>
                <a:cs typeface="Noto Sans SC"/>
              </a:rPr>
              <a:t>PART</a:t>
            </a:r>
          </a:p>
        </p:txBody>
      </p:sp>
      <p:sp>
        <p:nvSpPr>
          <p:cNvPr name="TextBox 4" id="4"/>
          <p:cNvSpPr txBox="true"/>
          <p:nvPr/>
        </p:nvSpPr>
        <p:spPr>
          <a:xfrm rot="0">
            <a:off x="1062567" y="4496102"/>
            <a:ext cx="10484808" cy="1798058"/>
          </a:xfrm>
          <a:prstGeom prst="rect">
            <a:avLst/>
          </a:prstGeom>
          <a:ln/>
        </p:spPr>
        <p:txBody>
          <a:bodyPr anchor="t" rtlCol="false" lIns="114300" rIns="114300" tIns="57150" bIns="57150" anchorCtr="false" vert="horz" wrap="square">
            <a:normAutofit/>
          </a:bodyPr>
          <a:lstStyle/>
          <a:p>
            <a:pPr algn="r">
              <a:lnSpc>
                <a:spcPct val="120000"/>
              </a:lnSpc>
            </a:pPr>
            <a:r>
              <a:rPr lang="en-US" b="true" sz="4500">
                <a:solidFill>
                  <a:srgbClr val="1F1F1F">
                    <a:alpha val="100000"/>
                  </a:srgbClr>
                </a:solidFill>
                <a:latin typeface="Noto Sans SC"/>
                <a:ea typeface="Noto Sans SC"/>
                <a:cs typeface="Noto Sans SC"/>
              </a:rPr>
              <a:t>Overview</a:t>
            </a:r>
          </a:p>
        </p:txBody>
      </p:sp>
    </p:spTree>
  </p:cSld>
  <p:clrMapOvr>
    <a:masterClrMapping/>
  </p:clrMapOvr>
  <p:transition spd="slow">
    <p:push/>
  </p:transition>
</p:sld>
</file>

<file path=ppt/slides/slide5.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TextBox 2" id="2"/>
          <p:cNvSpPr txBox="true"/>
          <p:nvPr/>
        </p:nvSpPr>
        <p:spPr>
          <a:xfrm rot="0">
            <a:off x="476023" y="265328"/>
            <a:ext cx="11239500" cy="914400"/>
          </a:xfrm>
          <a:prstGeom prst="rect">
            <a:avLst/>
          </a:prstGeom>
          <a:ln/>
        </p:spPr>
        <p:txBody>
          <a:bodyPr anchor="t" rtlCol="false" lIns="123825" rIns="57150" tIns="123825" bIns="123825" anchorCtr="false" vert="horz" wrap="square">
            <a:spAutoFit/>
          </a:bodyPr>
          <a:lstStyle/>
          <a:p>
            <a:pPr>
              <a:lnSpc>
                <a:spcPct val="140000"/>
              </a:lnSpc>
            </a:pPr>
            <a:r>
              <a:rPr lang="en-US" b="true" sz="3000">
                <a:solidFill>
                  <a:schemeClr val="dk2">
                    <a:alpha val="100000"/>
                  </a:schemeClr>
                </a:solidFill>
                <a:latin typeface="Noto Sans SC"/>
                <a:ea typeface="Noto Sans SC"/>
                <a:cs typeface="Noto Sans SC"/>
              </a:rPr>
              <a:t>Overview</a:t>
            </a:r>
          </a:p>
        </p:txBody>
      </p:sp>
      <p:sp>
        <p:nvSpPr>
          <p:cNvPr name="TextBox 3" id="3"/>
          <p:cNvSpPr txBox="true"/>
          <p:nvPr/>
        </p:nvSpPr>
        <p:spPr>
          <a:xfrm rot="0">
            <a:off x="1036673" y="1749339"/>
            <a:ext cx="10118200" cy="4157254"/>
          </a:xfrm>
          <a:prstGeom prst="rect">
            <a:avLst/>
          </a:prstGeom>
          <a:ln/>
        </p:spPr>
        <p:txBody>
          <a:bodyPr anchor="t" rtlCol="false" lIns="66008" rIns="66008" tIns="33052" bIns="33052" anchorCtr="false" vert="horz" wrap="square">
            <a:noAutofit/>
          </a:bodyPr>
          <a:lstStyle/>
          <a:p>
            <a:pPr algn="l">
              <a:lnSpc>
                <a:spcPct val="140000"/>
              </a:lnSpc>
            </a:pPr>
            <a:r>
              <a:rPr lang="en-US" b="true" sz="3000">
                <a:solidFill>
                  <a:schemeClr val="dk1">
                    <a:alpha val="100000"/>
                  </a:schemeClr>
                </a:solidFill>
                <a:latin typeface="Noto Sans SC"/>
                <a:ea typeface="Noto Sans SC"/>
                <a:cs typeface="Noto Sans SC"/>
              </a:rPr>
              <a:t>Provides a detailed description of the AWS-based architecture designed for a 3D e-commerce platform, highlighting key services and their roles, rationale behind service choices, and the trade-offs involved in the design.</a:t>
            </a:r>
          </a:p>
        </p:txBody>
      </p:sp>
    </p:spTree>
  </p:cSld>
  <p:clrMapOvr>
    <a:masterClrMapping/>
  </p:clrMapOvr>
  <p:transition spd="slow">
    <p:push/>
  </p:transition>
</p:sld>
</file>

<file path=ppt/slides/slide6.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0"/>
          </a:blip>
          <a:srcRect/>
          <a:stretch>
            <a:fillRect b="-3444" t="-3444" l="0" r="0"/>
          </a:stretch>
        </a:blipFill>
      </p:bgPr>
    </p:bg>
    <p:spTree>
      <p:nvGrpSpPr>
        <p:cNvPr id="1" name=""/>
        <p:cNvGrpSpPr/>
        <p:nvPr/>
      </p:nvGrpSpPr>
      <p:grpSpPr>
        <a:xfrm>
          <a:off x="0" y="0"/>
          <a:ext cx="0" cy="0"/>
          <a:chOff x="0" y="0"/>
          <a:chExt cx="0" cy="0"/>
        </a:xfrm>
      </p:grpSpPr>
      <p:sp>
        <p:nvSpPr>
          <p:cNvPr name="TextBox 2" id="2"/>
          <p:cNvSpPr txBox="true"/>
          <p:nvPr/>
        </p:nvSpPr>
        <p:spPr>
          <a:xfrm rot="0">
            <a:off x="10022720" y="2593320"/>
            <a:ext cx="1524655" cy="1842306"/>
          </a:xfrm>
          <a:prstGeom prst="rect">
            <a:avLst/>
          </a:prstGeom>
          <a:ln/>
        </p:spPr>
        <p:txBody>
          <a:bodyPr anchor="b" rtlCol="false" lIns="0" rIns="0" tIns="0" bIns="0" anchorCtr="false" vert="horz" wrap="square">
            <a:normAutofit/>
          </a:bodyPr>
          <a:lstStyle/>
          <a:p>
            <a:pPr algn="r">
              <a:lnSpc>
                <a:spcPct val="120000"/>
              </a:lnSpc>
            </a:pPr>
            <a:r>
              <a:rPr lang="en-US" sz="7200">
                <a:solidFill>
                  <a:srgbClr val="59AE93">
                    <a:alpha val="100000"/>
                  </a:srgbClr>
                </a:solidFill>
                <a:highlight>
                  <a:srgbClr val="000000">
                    <a:alpha val="0"/>
                  </a:srgbClr>
                </a:highlight>
                <a:latin typeface="Noto Sans SC"/>
                <a:ea typeface="Noto Sans SC"/>
                <a:cs typeface="Noto Sans SC"/>
              </a:rPr>
              <a:t>02</a:t>
            </a:r>
          </a:p>
        </p:txBody>
      </p:sp>
      <p:sp>
        <p:nvSpPr>
          <p:cNvPr name="TextBox 3" id="3"/>
          <p:cNvSpPr txBox="true"/>
          <p:nvPr/>
        </p:nvSpPr>
        <p:spPr>
          <a:xfrm rot="0">
            <a:off x="6124575" y="2653796"/>
            <a:ext cx="3926719" cy="1842306"/>
          </a:xfrm>
          <a:prstGeom prst="rect">
            <a:avLst/>
          </a:prstGeom>
          <a:ln/>
        </p:spPr>
        <p:txBody>
          <a:bodyPr anchor="b" rtlCol="false" lIns="114300" rIns="114300" tIns="57150" bIns="57150" anchorCtr="false" vert="horz" wrap="square">
            <a:normAutofit/>
          </a:bodyPr>
          <a:lstStyle/>
          <a:p>
            <a:pPr algn="r">
              <a:lnSpc>
                <a:spcPct val="120000"/>
              </a:lnSpc>
            </a:pPr>
            <a:r>
              <a:rPr lang="en-US" sz="7200">
                <a:solidFill>
                  <a:srgbClr val="59AE93">
                    <a:alpha val="100000"/>
                  </a:srgbClr>
                </a:solidFill>
                <a:highlight>
                  <a:srgbClr val="000000">
                    <a:alpha val="0"/>
                  </a:srgbClr>
                </a:highlight>
                <a:latin typeface="Noto Sans SC"/>
                <a:ea typeface="Noto Sans SC"/>
                <a:cs typeface="Noto Sans SC"/>
              </a:rPr>
              <a:t>PART</a:t>
            </a:r>
          </a:p>
        </p:txBody>
      </p:sp>
      <p:sp>
        <p:nvSpPr>
          <p:cNvPr name="TextBox 4" id="4"/>
          <p:cNvSpPr txBox="true"/>
          <p:nvPr/>
        </p:nvSpPr>
        <p:spPr>
          <a:xfrm rot="0">
            <a:off x="1062567" y="4496102"/>
            <a:ext cx="10484808" cy="1798058"/>
          </a:xfrm>
          <a:prstGeom prst="rect">
            <a:avLst/>
          </a:prstGeom>
          <a:ln/>
        </p:spPr>
        <p:txBody>
          <a:bodyPr anchor="t" rtlCol="false" lIns="114300" rIns="114300" tIns="57150" bIns="57150" anchorCtr="false" vert="horz" wrap="square">
            <a:normAutofit/>
          </a:bodyPr>
          <a:lstStyle/>
          <a:p>
            <a:pPr algn="r">
              <a:lnSpc>
                <a:spcPct val="120000"/>
              </a:lnSpc>
            </a:pPr>
            <a:r>
              <a:rPr lang="en-US" b="true" sz="4500">
                <a:solidFill>
                  <a:srgbClr val="1F1F1F">
                    <a:alpha val="100000"/>
                  </a:srgbClr>
                </a:solidFill>
                <a:latin typeface="Noto Sans SC"/>
                <a:ea typeface="Noto Sans SC"/>
                <a:cs typeface="Noto Sans SC"/>
              </a:rPr>
              <a:t>Architecture Components</a:t>
            </a:r>
          </a:p>
        </p:txBody>
      </p:sp>
    </p:spTree>
  </p:cSld>
  <p:clrMapOvr>
    <a:masterClrMapping/>
  </p:clrMapOvr>
  <p:transition spd="slow">
    <p:push/>
  </p:transition>
</p:sld>
</file>

<file path=ppt/slides/slide7.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AutoShape 2" id="2"/>
          <p:cNvSpPr/>
          <p:nvPr/>
        </p:nvSpPr>
        <p:spPr>
          <a:xfrm rot="0">
            <a:off x="1374316" y="3045252"/>
            <a:ext cx="9429750" cy="1656361"/>
          </a:xfrm>
          <a:prstGeom prst="roundRect">
            <a:avLst>
              <a:gd fmla="val 16667" name="adj"/>
            </a:avLst>
          </a:prstGeom>
          <a:gradFill>
            <a:gsLst>
              <a:gs pos="100000">
                <a:schemeClr val="lt2">
                  <a:alpha val="100000"/>
                </a:schemeClr>
              </a:gs>
              <a:gs pos="0">
                <a:schemeClr val="lt1">
                  <a:alpha val="100000"/>
                </a:schemeClr>
              </a:gs>
            </a:gsLst>
            <a:lin ang="0"/>
          </a:gradFill>
          <a:ln/>
        </p:spPr>
      </p:sp>
      <p:sp>
        <p:nvSpPr>
          <p:cNvPr name="AutoShape 3" id="3"/>
          <p:cNvSpPr/>
          <p:nvPr/>
        </p:nvSpPr>
        <p:spPr>
          <a:xfrm rot="0">
            <a:off x="1374316" y="4823279"/>
            <a:ext cx="9429750" cy="1656361"/>
          </a:xfrm>
          <a:prstGeom prst="roundRect">
            <a:avLst>
              <a:gd fmla="val 16667" name="adj"/>
            </a:avLst>
          </a:prstGeom>
          <a:gradFill>
            <a:gsLst>
              <a:gs pos="0">
                <a:schemeClr val="lt2">
                  <a:alpha val="100000"/>
                </a:schemeClr>
              </a:gs>
              <a:gs pos="100000">
                <a:schemeClr val="lt1">
                  <a:alpha val="100000"/>
                </a:schemeClr>
              </a:gs>
            </a:gsLst>
            <a:lin ang="0"/>
          </a:gradFill>
          <a:ln/>
        </p:spPr>
      </p:sp>
      <p:sp>
        <p:nvSpPr>
          <p:cNvPr name="AutoShape 4" id="4"/>
          <p:cNvSpPr/>
          <p:nvPr/>
        </p:nvSpPr>
        <p:spPr>
          <a:xfrm rot="0">
            <a:off x="1374316" y="1267225"/>
            <a:ext cx="9429750" cy="1656361"/>
          </a:xfrm>
          <a:prstGeom prst="roundRect">
            <a:avLst>
              <a:gd fmla="val 16667" name="adj"/>
            </a:avLst>
          </a:prstGeom>
          <a:gradFill>
            <a:gsLst>
              <a:gs pos="0">
                <a:schemeClr val="lt2">
                  <a:alpha val="100000"/>
                </a:schemeClr>
              </a:gs>
              <a:gs pos="100000">
                <a:schemeClr val="lt1">
                  <a:alpha val="100000"/>
                </a:schemeClr>
              </a:gs>
            </a:gsLst>
            <a:lin ang="0"/>
          </a:gradFill>
          <a:ln/>
        </p:spPr>
      </p:sp>
      <p:sp>
        <p:nvSpPr>
          <p:cNvPr name="AutoShape 5" id="5"/>
          <p:cNvSpPr/>
          <p:nvPr/>
        </p:nvSpPr>
        <p:spPr>
          <a:xfrm rot="0">
            <a:off x="987242" y="5246342"/>
            <a:ext cx="810236" cy="810236"/>
          </a:xfrm>
          <a:prstGeom prst="ellipse">
            <a:avLst/>
          </a:prstGeom>
          <a:solidFill>
            <a:schemeClr val="accent1">
              <a:alpha val="100000"/>
            </a:schemeClr>
          </a:solidFill>
          <a:ln/>
        </p:spPr>
      </p:sp>
      <p:sp>
        <p:nvSpPr>
          <p:cNvPr name="Freeform 6" id="6"/>
          <p:cNvSpPr/>
          <p:nvPr/>
        </p:nvSpPr>
        <p:spPr>
          <a:xfrm rot="0">
            <a:off x="1115389" y="5374489"/>
            <a:ext cx="553940" cy="553940"/>
          </a:xfrm>
          <a:custGeom>
            <a:avLst/>
            <a:gdLst/>
            <a:ahLst/>
            <a:cxnLst/>
            <a:rect r="r" b="b" t="t" l="l"/>
            <a:pathLst>
              <a:path h="304800" w="304800">
                <a:moveTo>
                  <a:pt x="190033" y="152400"/>
                </a:moveTo>
                <a:cubicBezTo>
                  <a:pt x="190033" y="90992"/>
                  <a:pt x="221771" y="56493"/>
                  <a:pt x="221771" y="56493"/>
                </a:cubicBezTo>
                <a:cubicBezTo>
                  <a:pt x="221771" y="56493"/>
                  <a:pt x="193758" y="33766"/>
                  <a:pt x="151924" y="33766"/>
                </a:cubicBezTo>
                <a:cubicBezTo>
                  <a:pt x="110090" y="33766"/>
                  <a:pt x="82067" y="56512"/>
                  <a:pt x="82067" y="56512"/>
                </a:cubicBezTo>
                <a:cubicBezTo>
                  <a:pt x="82067" y="56512"/>
                  <a:pt x="114376" y="82753"/>
                  <a:pt x="114376" y="152400"/>
                </a:cubicBezTo>
                <a:cubicBezTo>
                  <a:pt x="114376" y="219608"/>
                  <a:pt x="81858" y="248145"/>
                  <a:pt x="81858" y="248145"/>
                </a:cubicBezTo>
                <a:cubicBezTo>
                  <a:pt x="81858" y="248145"/>
                  <a:pt x="115662" y="271034"/>
                  <a:pt x="151924" y="271034"/>
                </a:cubicBezTo>
                <a:cubicBezTo>
                  <a:pt x="189043" y="271034"/>
                  <a:pt x="221799" y="248269"/>
                  <a:pt x="221799" y="248269"/>
                </a:cubicBezTo>
                <a:cubicBezTo>
                  <a:pt x="221799" y="248269"/>
                  <a:pt x="190033" y="218503"/>
                  <a:pt x="190033" y="152400"/>
                </a:cubicBezTo>
                <a:close/>
              </a:path>
              <a:path h="304800" w="304800">
                <a:moveTo>
                  <a:pt x="74095" y="62789"/>
                </a:moveTo>
                <a:cubicBezTo>
                  <a:pt x="74095" y="62789"/>
                  <a:pt x="34633" y="86839"/>
                  <a:pt x="34633" y="152800"/>
                </a:cubicBezTo>
                <a:cubicBezTo>
                  <a:pt x="34633" y="218751"/>
                  <a:pt x="74533" y="240335"/>
                  <a:pt x="74533" y="240335"/>
                </a:cubicBezTo>
                <a:cubicBezTo>
                  <a:pt x="74533" y="240335"/>
                  <a:pt x="103613" y="218742"/>
                  <a:pt x="103613" y="152800"/>
                </a:cubicBezTo>
                <a:cubicBezTo>
                  <a:pt x="103613" y="86839"/>
                  <a:pt x="74095" y="62789"/>
                  <a:pt x="74095" y="62789"/>
                </a:cubicBezTo>
                <a:close/>
              </a:path>
              <a:path h="304800" w="304800">
                <a:moveTo>
                  <a:pt x="229753" y="64570"/>
                </a:moveTo>
                <a:cubicBezTo>
                  <a:pt x="229753" y="64570"/>
                  <a:pt x="200244" y="86839"/>
                  <a:pt x="200244" y="152800"/>
                </a:cubicBezTo>
                <a:cubicBezTo>
                  <a:pt x="200244" y="218751"/>
                  <a:pt x="229305" y="240335"/>
                  <a:pt x="229305" y="240335"/>
                </a:cubicBezTo>
                <a:cubicBezTo>
                  <a:pt x="229305" y="240335"/>
                  <a:pt x="270158" y="218742"/>
                  <a:pt x="270158" y="152800"/>
                </a:cubicBezTo>
                <a:cubicBezTo>
                  <a:pt x="270158" y="86839"/>
                  <a:pt x="229753" y="64570"/>
                  <a:pt x="229753" y="64570"/>
                </a:cubicBezTo>
              </a:path>
            </a:pathLst>
          </a:custGeom>
          <a:solidFill>
            <a:srgbClr val="FFFFFF">
              <a:alpha val="100000"/>
            </a:srgbClr>
          </a:solidFill>
          <a:ln/>
        </p:spPr>
      </p:sp>
      <p:sp>
        <p:nvSpPr>
          <p:cNvPr name="AutoShape 7" id="7"/>
          <p:cNvSpPr/>
          <p:nvPr/>
        </p:nvSpPr>
        <p:spPr>
          <a:xfrm rot="0">
            <a:off x="10373288" y="3468315"/>
            <a:ext cx="810236" cy="810236"/>
          </a:xfrm>
          <a:prstGeom prst="ellipse">
            <a:avLst/>
          </a:prstGeom>
          <a:solidFill>
            <a:schemeClr val="accent1">
              <a:alpha val="100000"/>
            </a:schemeClr>
          </a:solidFill>
          <a:ln/>
        </p:spPr>
      </p:sp>
      <p:sp>
        <p:nvSpPr>
          <p:cNvPr name="AutoShape 8" id="8"/>
          <p:cNvSpPr/>
          <p:nvPr/>
        </p:nvSpPr>
        <p:spPr>
          <a:xfrm rot="0">
            <a:off x="987242" y="1690288"/>
            <a:ext cx="810236" cy="810236"/>
          </a:xfrm>
          <a:prstGeom prst="ellipse">
            <a:avLst/>
          </a:prstGeom>
          <a:solidFill>
            <a:schemeClr val="accent1">
              <a:alpha val="100000"/>
            </a:schemeClr>
          </a:solidFill>
          <a:ln/>
        </p:spPr>
      </p:sp>
      <p:sp>
        <p:nvSpPr>
          <p:cNvPr name="Freeform 9" id="9"/>
          <p:cNvSpPr/>
          <p:nvPr/>
        </p:nvSpPr>
        <p:spPr>
          <a:xfrm rot="0">
            <a:off x="1171659" y="1892749"/>
            <a:ext cx="405314" cy="405314"/>
          </a:xfrm>
          <a:custGeom>
            <a:avLst/>
            <a:gdLst/>
            <a:ahLst/>
            <a:cxnLst/>
            <a:rect r="r" b="b" t="t" l="l"/>
            <a:pathLst>
              <a:path h="304800" w="304800">
                <a:moveTo>
                  <a:pt x="173841" y="122930"/>
                </a:moveTo>
                <a:cubicBezTo>
                  <a:pt x="179718" y="102937"/>
                  <a:pt x="177232" y="81020"/>
                  <a:pt x="166392" y="62665"/>
                </a:cubicBezTo>
                <a:cubicBezTo>
                  <a:pt x="166630" y="62998"/>
                  <a:pt x="62770" y="167697"/>
                  <a:pt x="62027" y="167040"/>
                </a:cubicBezTo>
                <a:cubicBezTo>
                  <a:pt x="80077" y="177698"/>
                  <a:pt x="101994" y="180699"/>
                  <a:pt x="121720" y="175193"/>
                </a:cubicBezTo>
                <a:cubicBezTo>
                  <a:pt x="121577" y="174689"/>
                  <a:pt x="173422" y="122853"/>
                  <a:pt x="173841" y="122930"/>
                </a:cubicBezTo>
                <a:close/>
              </a:path>
              <a:path h="304800" w="304800">
                <a:moveTo>
                  <a:pt x="155315" y="45968"/>
                </a:moveTo>
                <a:cubicBezTo>
                  <a:pt x="141322" y="32175"/>
                  <a:pt x="121301" y="22822"/>
                  <a:pt x="100127" y="22822"/>
                </a:cubicBezTo>
                <a:cubicBezTo>
                  <a:pt x="57331" y="22822"/>
                  <a:pt x="22631" y="57607"/>
                  <a:pt x="22631" y="100508"/>
                </a:cubicBezTo>
                <a:cubicBezTo>
                  <a:pt x="22631" y="121444"/>
                  <a:pt x="32156" y="141713"/>
                  <a:pt x="45587" y="155686"/>
                </a:cubicBezTo>
                <a:cubicBezTo>
                  <a:pt x="45615" y="155686"/>
                  <a:pt x="154657" y="46863"/>
                  <a:pt x="155315" y="45968"/>
                </a:cubicBezTo>
                <a:close/>
              </a:path>
              <a:path h="304800" w="304800">
                <a:moveTo>
                  <a:pt x="264909" y="252089"/>
                </a:moveTo>
                <a:cubicBezTo>
                  <a:pt x="264909" y="252089"/>
                  <a:pt x="267443" y="230200"/>
                  <a:pt x="261128" y="223885"/>
                </a:cubicBezTo>
                <a:cubicBezTo>
                  <a:pt x="260709" y="223466"/>
                  <a:pt x="188300" y="135065"/>
                  <a:pt x="188300" y="135065"/>
                </a:cubicBezTo>
                <a:lnTo>
                  <a:pt x="134417" y="188947"/>
                </a:lnTo>
                <a:lnTo>
                  <a:pt x="222818" y="262185"/>
                </a:lnTo>
                <a:cubicBezTo>
                  <a:pt x="228714" y="268919"/>
                  <a:pt x="251441" y="265557"/>
                  <a:pt x="251441" y="265557"/>
                </a:cubicBezTo>
                <a:lnTo>
                  <a:pt x="269538" y="281978"/>
                </a:lnTo>
                <a:lnTo>
                  <a:pt x="282169" y="269348"/>
                </a:lnTo>
                <a:lnTo>
                  <a:pt x="264909" y="252089"/>
                </a:lnTo>
              </a:path>
            </a:pathLst>
          </a:custGeom>
          <a:solidFill>
            <a:srgbClr val="FFFFFF">
              <a:alpha val="100000"/>
            </a:srgbClr>
          </a:solidFill>
          <a:ln/>
        </p:spPr>
      </p:sp>
      <p:sp>
        <p:nvSpPr>
          <p:cNvPr name="Freeform 10" id="10"/>
          <p:cNvSpPr/>
          <p:nvPr/>
        </p:nvSpPr>
        <p:spPr>
          <a:xfrm rot="0">
            <a:off x="10569897" y="3661311"/>
            <a:ext cx="424244" cy="424244"/>
          </a:xfrm>
          <a:custGeom>
            <a:avLst/>
            <a:gdLst/>
            <a:ahLst/>
            <a:cxnLst/>
            <a:rect r="r" b="b" t="t" l="l"/>
            <a:pathLst>
              <a:path h="304800" w="304800">
                <a:moveTo>
                  <a:pt x="167640" y="106680"/>
                </a:moveTo>
                <a:lnTo>
                  <a:pt x="189586" y="139598"/>
                </a:lnTo>
                <a:cubicBezTo>
                  <a:pt x="194310" y="146761"/>
                  <a:pt x="204978" y="152400"/>
                  <a:pt x="213512" y="152400"/>
                </a:cubicBezTo>
                <a:lnTo>
                  <a:pt x="259080" y="152400"/>
                </a:lnTo>
                <a:lnTo>
                  <a:pt x="259080" y="121920"/>
                </a:lnTo>
                <a:lnTo>
                  <a:pt x="213360" y="121920"/>
                </a:lnTo>
                <a:lnTo>
                  <a:pt x="191414" y="89002"/>
                </a:lnTo>
                <a:cubicBezTo>
                  <a:pt x="185452" y="80686"/>
                  <a:pt x="178394" y="73628"/>
                  <a:pt x="170345" y="67847"/>
                </a:cubicBezTo>
                <a:lnTo>
                  <a:pt x="170069" y="67666"/>
                </a:lnTo>
                <a:lnTo>
                  <a:pt x="149952" y="54254"/>
                </a:lnTo>
                <a:cubicBezTo>
                  <a:pt x="146104" y="51911"/>
                  <a:pt x="141446" y="50521"/>
                  <a:pt x="136465" y="50521"/>
                </a:cubicBezTo>
                <a:cubicBezTo>
                  <a:pt x="131912" y="50521"/>
                  <a:pt x="127635" y="51683"/>
                  <a:pt x="123911" y="53721"/>
                </a:cubicBezTo>
                <a:lnTo>
                  <a:pt x="124044" y="53654"/>
                </a:lnTo>
                <a:lnTo>
                  <a:pt x="60950" y="91450"/>
                </a:lnTo>
                <a:lnTo>
                  <a:pt x="60950" y="167650"/>
                </a:lnTo>
                <a:lnTo>
                  <a:pt x="91430" y="167650"/>
                </a:lnTo>
                <a:lnTo>
                  <a:pt x="91430" y="106690"/>
                </a:lnTo>
                <a:lnTo>
                  <a:pt x="121910" y="91450"/>
                </a:lnTo>
                <a:lnTo>
                  <a:pt x="76190" y="304810"/>
                </a:lnTo>
                <a:lnTo>
                  <a:pt x="106670" y="304810"/>
                </a:lnTo>
                <a:lnTo>
                  <a:pt x="142484" y="188224"/>
                </a:lnTo>
                <a:lnTo>
                  <a:pt x="167630" y="213370"/>
                </a:lnTo>
                <a:lnTo>
                  <a:pt x="167630" y="304810"/>
                </a:lnTo>
                <a:lnTo>
                  <a:pt x="198110" y="304810"/>
                </a:lnTo>
                <a:lnTo>
                  <a:pt x="198110" y="182890"/>
                </a:lnTo>
                <a:lnTo>
                  <a:pt x="156962" y="141742"/>
                </a:lnTo>
                <a:lnTo>
                  <a:pt x="167630" y="106690"/>
                </a:lnTo>
                <a:close/>
              </a:path>
              <a:path h="304800" w="304800">
                <a:moveTo>
                  <a:pt x="182880" y="60960"/>
                </a:moveTo>
                <a:cubicBezTo>
                  <a:pt x="199711" y="60960"/>
                  <a:pt x="213360" y="47311"/>
                  <a:pt x="213360" y="30480"/>
                </a:cubicBezTo>
                <a:cubicBezTo>
                  <a:pt x="213360" y="13649"/>
                  <a:pt x="199711" y="0"/>
                  <a:pt x="182880" y="0"/>
                </a:cubicBezTo>
                <a:lnTo>
                  <a:pt x="182880" y="0"/>
                </a:lnTo>
                <a:cubicBezTo>
                  <a:pt x="166049" y="0"/>
                  <a:pt x="152400" y="13649"/>
                  <a:pt x="152400" y="30480"/>
                </a:cubicBezTo>
                <a:cubicBezTo>
                  <a:pt x="152400" y="47311"/>
                  <a:pt x="166049" y="60960"/>
                  <a:pt x="182880" y="60960"/>
                </a:cubicBezTo>
                <a:lnTo>
                  <a:pt x="182880" y="60960"/>
                </a:lnTo>
              </a:path>
            </a:pathLst>
          </a:custGeom>
          <a:solidFill>
            <a:srgbClr val="FFFFFF">
              <a:alpha val="100000"/>
            </a:srgbClr>
          </a:solidFill>
          <a:ln/>
        </p:spPr>
      </p:sp>
      <p:sp>
        <p:nvSpPr>
          <p:cNvPr name="TextBox 11" id="11"/>
          <p:cNvSpPr txBox="true"/>
          <p:nvPr/>
        </p:nvSpPr>
        <p:spPr>
          <a:xfrm rot="0">
            <a:off x="476023" y="265328"/>
            <a:ext cx="11239500" cy="914400"/>
          </a:xfrm>
          <a:prstGeom prst="rect">
            <a:avLst/>
          </a:prstGeom>
          <a:ln/>
        </p:spPr>
        <p:txBody>
          <a:bodyPr anchor="ctr" rtlCol="false" lIns="123825" rIns="57150" tIns="123825" bIns="123825" anchorCtr="false" vert="horz" wrap="square">
            <a:noAutofit/>
          </a:bodyPr>
          <a:lstStyle/>
          <a:p>
            <a:pPr>
              <a:lnSpc>
                <a:spcPct val="140000"/>
              </a:lnSpc>
            </a:pPr>
            <a:r>
              <a:rPr lang="en-US" b="true" sz="3000">
                <a:solidFill>
                  <a:schemeClr val="dk2">
                    <a:alpha val="100000"/>
                  </a:schemeClr>
                </a:solidFill>
                <a:latin typeface="Noto Sans SC"/>
                <a:ea typeface="Noto Sans SC"/>
                <a:cs typeface="Noto Sans SC"/>
              </a:rPr>
              <a:t>Users</a:t>
            </a:r>
          </a:p>
        </p:txBody>
      </p:sp>
      <p:sp>
        <p:nvSpPr>
          <p:cNvPr name="TextBox 12" id="12"/>
          <p:cNvSpPr txBox="true"/>
          <p:nvPr/>
        </p:nvSpPr>
        <p:spPr>
          <a:xfrm rot="0">
            <a:off x="1986545" y="1423391"/>
            <a:ext cx="8201025" cy="571500"/>
          </a:xfrm>
          <a:prstGeom prst="rect">
            <a:avLst/>
          </a:prstGeom>
          <a:ln/>
        </p:spPr>
        <p:txBody>
          <a:bodyPr anchor="ctr" rtlCol="false" lIns="114300" rIns="114300" tIns="57150" bIns="57150" anchorCtr="false" vert="horz" wrap="square">
            <a:noAutofit/>
          </a:bodyPr>
          <a:lstStyle/>
          <a:p>
            <a:pPr>
              <a:lnSpc>
                <a:spcPct val="120000"/>
              </a:lnSpc>
            </a:pPr>
            <a:r>
              <a:rPr lang="en-US" b="true" sz="2400">
                <a:solidFill>
                  <a:schemeClr val="accent1">
                    <a:alpha val="100000"/>
                  </a:schemeClr>
                </a:solidFill>
                <a:latin typeface="Noto Sans SC"/>
                <a:ea typeface="Noto Sans SC"/>
                <a:cs typeface="Noto Sans SC"/>
              </a:rPr>
              <a:t>Global accessibility</a:t>
            </a:r>
          </a:p>
        </p:txBody>
      </p:sp>
      <p:sp>
        <p:nvSpPr>
          <p:cNvPr name="TextBox 13" id="13"/>
          <p:cNvSpPr txBox="true"/>
          <p:nvPr/>
        </p:nvSpPr>
        <p:spPr>
          <a:xfrm rot="0">
            <a:off x="1986545" y="1881734"/>
            <a:ext cx="8201025" cy="781050"/>
          </a:xfrm>
          <a:prstGeom prst="rect">
            <a:avLst/>
          </a:prstGeom>
          <a:ln/>
        </p:spPr>
        <p:txBody>
          <a:bodyPr anchor="t" rtlCol="false" lIns="114300" rIns="114300" tIns="57150" bIns="57150" anchorCtr="false" vert="horz" wrap="square">
            <a:noAutofit/>
          </a:bodyPr>
          <a:lstStyle/>
          <a:p>
            <a:pPr>
              <a:lnSpc>
                <a:spcPct val="140000"/>
              </a:lnSpc>
            </a:pPr>
            <a:r>
              <a:rPr lang="en-US" sz="2000">
                <a:solidFill>
                  <a:schemeClr val="dk1">
                    <a:alpha val="100000"/>
                  </a:schemeClr>
                </a:solidFill>
                <a:latin typeface="Noto Sans SC"/>
                <a:ea typeface="Noto Sans SC"/>
                <a:cs typeface="Noto Sans SC"/>
              </a:rPr>
              <a:t>Users can reach the platform seamlessly via web or mobile devices, ensuring a wide and inclusive audience.</a:t>
            </a:r>
          </a:p>
        </p:txBody>
      </p:sp>
      <p:sp>
        <p:nvSpPr>
          <p:cNvPr name="TextBox 14" id="14"/>
          <p:cNvSpPr txBox="true"/>
          <p:nvPr/>
        </p:nvSpPr>
        <p:spPr>
          <a:xfrm rot="0">
            <a:off x="1931680" y="3229780"/>
            <a:ext cx="8201025" cy="571500"/>
          </a:xfrm>
          <a:prstGeom prst="rect">
            <a:avLst/>
          </a:prstGeom>
          <a:ln/>
        </p:spPr>
        <p:txBody>
          <a:bodyPr anchor="ctr" rtlCol="false" lIns="114300" rIns="114300" tIns="57150" bIns="57150" anchorCtr="false" vert="horz" wrap="square">
            <a:noAutofit/>
          </a:bodyPr>
          <a:lstStyle/>
          <a:p>
            <a:pPr algn="r">
              <a:lnSpc>
                <a:spcPct val="120000"/>
              </a:lnSpc>
            </a:pPr>
            <a:r>
              <a:rPr lang="en-US" b="true" sz="2400">
                <a:solidFill>
                  <a:schemeClr val="accent1">
                    <a:alpha val="100000"/>
                  </a:schemeClr>
                </a:solidFill>
                <a:latin typeface="Noto Sans SC"/>
                <a:ea typeface="Noto Sans SC"/>
                <a:cs typeface="Noto Sans SC"/>
              </a:rPr>
              <a:t>Optimized experience</a:t>
            </a:r>
          </a:p>
        </p:txBody>
      </p:sp>
      <p:sp>
        <p:nvSpPr>
          <p:cNvPr name="TextBox 15" id="15"/>
          <p:cNvSpPr txBox="true"/>
          <p:nvPr/>
        </p:nvSpPr>
        <p:spPr>
          <a:xfrm rot="0">
            <a:off x="1931680" y="3688123"/>
            <a:ext cx="8201025" cy="781050"/>
          </a:xfrm>
          <a:prstGeom prst="rect">
            <a:avLst/>
          </a:prstGeom>
          <a:ln/>
        </p:spPr>
        <p:txBody>
          <a:bodyPr anchor="t" rtlCol="false" lIns="114300" rIns="114300" tIns="57150" bIns="57150"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The architecture ensures low latency for users regardless of their geographical location.</a:t>
            </a:r>
          </a:p>
        </p:txBody>
      </p:sp>
      <p:sp>
        <p:nvSpPr>
          <p:cNvPr name="TextBox 16" id="16"/>
          <p:cNvSpPr txBox="true"/>
          <p:nvPr/>
        </p:nvSpPr>
        <p:spPr>
          <a:xfrm rot="0">
            <a:off x="1931680" y="4882435"/>
            <a:ext cx="8201025" cy="571500"/>
          </a:xfrm>
          <a:prstGeom prst="rect">
            <a:avLst/>
          </a:prstGeom>
          <a:ln/>
        </p:spPr>
        <p:txBody>
          <a:bodyPr anchor="ctr" rtlCol="false" lIns="114300" rIns="114300" tIns="57150" bIns="57150" anchorCtr="false" vert="horz" wrap="square">
            <a:noAutofit/>
          </a:bodyPr>
          <a:lstStyle/>
          <a:p>
            <a:pPr>
              <a:lnSpc>
                <a:spcPct val="120000"/>
              </a:lnSpc>
            </a:pPr>
            <a:r>
              <a:rPr lang="en-US" b="true" sz="2400">
                <a:solidFill>
                  <a:schemeClr val="accent1">
                    <a:alpha val="100000"/>
                  </a:schemeClr>
                </a:solidFill>
                <a:latin typeface="Noto Sans SC"/>
                <a:ea typeface="Noto Sans SC"/>
                <a:cs typeface="Noto Sans SC"/>
              </a:rPr>
              <a:t>Cross-device support</a:t>
            </a:r>
          </a:p>
        </p:txBody>
      </p:sp>
      <p:sp>
        <p:nvSpPr>
          <p:cNvPr name="TextBox 17" id="17"/>
          <p:cNvSpPr txBox="true"/>
          <p:nvPr/>
        </p:nvSpPr>
        <p:spPr>
          <a:xfrm rot="0">
            <a:off x="1931680" y="5340777"/>
            <a:ext cx="8201025" cy="781050"/>
          </a:xfrm>
          <a:prstGeom prst="rect">
            <a:avLst/>
          </a:prstGeom>
          <a:ln/>
        </p:spPr>
        <p:txBody>
          <a:bodyPr anchor="t" rtlCol="false" lIns="114300" rIns="114300" tIns="57150" bIns="57150" anchorCtr="false" vert="horz" wrap="square">
            <a:noAutofit/>
          </a:bodyPr>
          <a:lstStyle/>
          <a:p>
            <a:pPr>
              <a:lnSpc>
                <a:spcPct val="140000"/>
              </a:lnSpc>
            </a:pPr>
            <a:r>
              <a:rPr lang="en-US" sz="2000">
                <a:solidFill>
                  <a:schemeClr val="dk1">
                    <a:alpha val="100000"/>
                  </a:schemeClr>
                </a:solidFill>
                <a:latin typeface="Noto Sans SC"/>
                <a:ea typeface="Noto Sans SC"/>
                <a:cs typeface="Noto Sans SC"/>
              </a:rPr>
              <a:t>The platform provides consistent performance and design adaptability across various screen sizes and device types.</a:t>
            </a:r>
          </a:p>
        </p:txBody>
      </p:sp>
    </p:spTree>
  </p:cSld>
  <p:clrMapOvr>
    <a:masterClrMapping/>
  </p:clrMapOvr>
  <p:transition spd="slow">
    <p:push/>
  </p:transition>
</p:sld>
</file>

<file path=ppt/slides/slide8.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AutoShape 2" id="2"/>
          <p:cNvSpPr/>
          <p:nvPr/>
        </p:nvSpPr>
        <p:spPr>
          <a:xfrm rot="0">
            <a:off x="5682831" y="1449014"/>
            <a:ext cx="762000" cy="762000"/>
          </a:xfrm>
          <a:prstGeom prst="ellipse">
            <a:avLst/>
          </a:prstGeom>
          <a:noFill/>
          <a:ln w="19050">
            <a:solidFill>
              <a:schemeClr val="accent1">
                <a:alpha val="100000"/>
              </a:schemeClr>
            </a:solidFill>
            <a:prstDash val="solid"/>
          </a:ln>
        </p:spPr>
      </p:sp>
      <p:sp>
        <p:nvSpPr>
          <p:cNvPr name="Freeform 3" id="3"/>
          <p:cNvSpPr/>
          <p:nvPr/>
        </p:nvSpPr>
        <p:spPr>
          <a:xfrm rot="0">
            <a:off x="5873331" y="1658564"/>
            <a:ext cx="381000" cy="381000"/>
          </a:xfrm>
          <a:custGeom>
            <a:avLst/>
            <a:gdLst/>
            <a:ahLst/>
            <a:cxnLst/>
            <a:rect r="r" b="b" t="t" l="l"/>
            <a:pathLst>
              <a:path h="304800" w="304800">
                <a:moveTo>
                  <a:pt x="152800" y="79486"/>
                </a:moveTo>
                <a:cubicBezTo>
                  <a:pt x="152800" y="79486"/>
                  <a:pt x="133750" y="38891"/>
                  <a:pt x="90888" y="38891"/>
                </a:cubicBezTo>
                <a:cubicBezTo>
                  <a:pt x="44053" y="38891"/>
                  <a:pt x="19450" y="78581"/>
                  <a:pt x="19450" y="118262"/>
                </a:cubicBezTo>
                <a:cubicBezTo>
                  <a:pt x="19450" y="184147"/>
                  <a:pt x="152800" y="265900"/>
                  <a:pt x="152800" y="265900"/>
                </a:cubicBezTo>
                <a:cubicBezTo>
                  <a:pt x="152800" y="265900"/>
                  <a:pt x="285350" y="184937"/>
                  <a:pt x="285350" y="118262"/>
                </a:cubicBezTo>
                <a:cubicBezTo>
                  <a:pt x="285350" y="77781"/>
                  <a:pt x="259956" y="38891"/>
                  <a:pt x="214713" y="38891"/>
                </a:cubicBezTo>
                <a:cubicBezTo>
                  <a:pt x="169469" y="38891"/>
                  <a:pt x="152800" y="79486"/>
                  <a:pt x="152800" y="79486"/>
                </a:cubicBezTo>
              </a:path>
            </a:pathLst>
          </a:custGeom>
          <a:solidFill>
            <a:schemeClr val="accent1">
              <a:alpha val="100000"/>
            </a:schemeClr>
          </a:solidFill>
          <a:ln/>
        </p:spPr>
      </p:sp>
      <p:sp>
        <p:nvSpPr>
          <p:cNvPr name="TextBox 4" id="4"/>
          <p:cNvSpPr txBox="true"/>
          <p:nvPr/>
        </p:nvSpPr>
        <p:spPr>
          <a:xfrm rot="0">
            <a:off x="4066691" y="2189845"/>
            <a:ext cx="3905250" cy="571500"/>
          </a:xfrm>
          <a:prstGeom prst="rect">
            <a:avLst/>
          </a:prstGeom>
          <a:ln/>
        </p:spPr>
        <p:txBody>
          <a:bodyPr anchor="ctr" rtlCol="false" lIns="114300" rIns="114300" tIns="57150" bIns="57150" anchorCtr="false" vert="horz" wrap="square">
            <a:noAutofit/>
          </a:bodyPr>
          <a:lstStyle/>
          <a:p>
            <a:pPr algn="ctr">
              <a:lnSpc>
                <a:spcPct val="120000"/>
              </a:lnSpc>
            </a:pPr>
            <a:r>
              <a:rPr lang="en-US" b="true" sz="2400">
                <a:solidFill>
                  <a:schemeClr val="accent1">
                    <a:alpha val="100000"/>
                  </a:schemeClr>
                </a:solidFill>
                <a:latin typeface="Noto Sans SC"/>
                <a:ea typeface="Noto Sans SC"/>
                <a:cs typeface="Noto Sans SC"/>
              </a:rPr>
              <a:t>DNS management</a:t>
            </a:r>
          </a:p>
        </p:txBody>
      </p:sp>
      <p:sp>
        <p:nvSpPr>
          <p:cNvPr name="TextBox 5" id="5"/>
          <p:cNvSpPr txBox="true"/>
          <p:nvPr/>
        </p:nvSpPr>
        <p:spPr>
          <a:xfrm rot="0">
            <a:off x="4066691" y="2745724"/>
            <a:ext cx="3905250" cy="1091065"/>
          </a:xfrm>
          <a:prstGeom prst="rect">
            <a:avLst/>
          </a:prstGeom>
          <a:ln/>
        </p:spPr>
        <p:txBody>
          <a:bodyPr anchor="t" rtlCol="false" lIns="114300" rIns="114300" tIns="57150" bIns="57150" anchorCtr="false" vert="horz" wrap="square">
            <a:noAutofit/>
          </a:bodyPr>
          <a:lstStyle/>
          <a:p>
            <a:pPr algn="ctr">
              <a:lnSpc>
                <a:spcPct val="140000"/>
              </a:lnSpc>
            </a:pPr>
            <a:r>
              <a:rPr lang="en-US" sz="2000">
                <a:solidFill>
                  <a:schemeClr val="dk1">
                    <a:alpha val="100000"/>
                  </a:schemeClr>
                </a:solidFill>
                <a:latin typeface="Noto Sans SC"/>
                <a:ea typeface="Noto Sans SC"/>
                <a:cs typeface="Noto Sans SC"/>
              </a:rPr>
              <a:t>Route 53 efficiently directs user requests, ensuring swift and accurate DNS resolution globally.</a:t>
            </a:r>
          </a:p>
        </p:txBody>
      </p:sp>
      <p:sp>
        <p:nvSpPr>
          <p:cNvPr name="TextBox 6" id="6"/>
          <p:cNvSpPr txBox="true"/>
          <p:nvPr/>
        </p:nvSpPr>
        <p:spPr>
          <a:xfrm rot="0">
            <a:off x="7352637" y="4430931"/>
            <a:ext cx="3905250" cy="571500"/>
          </a:xfrm>
          <a:prstGeom prst="rect">
            <a:avLst/>
          </a:prstGeom>
          <a:ln/>
        </p:spPr>
        <p:txBody>
          <a:bodyPr anchor="ctr" rtlCol="false" lIns="114300" rIns="114300" tIns="57150" bIns="57150" anchorCtr="false" vert="horz" wrap="square">
            <a:noAutofit/>
          </a:bodyPr>
          <a:lstStyle/>
          <a:p>
            <a:pPr algn="ctr">
              <a:lnSpc>
                <a:spcPct val="120000"/>
              </a:lnSpc>
            </a:pPr>
            <a:r>
              <a:rPr lang="en-US" b="true" sz="2400">
                <a:solidFill>
                  <a:schemeClr val="accent1">
                    <a:alpha val="100000"/>
                  </a:schemeClr>
                </a:solidFill>
                <a:latin typeface="Noto Sans SC"/>
                <a:ea typeface="Noto Sans SC"/>
                <a:cs typeface="Noto Sans SC"/>
              </a:rPr>
              <a:t>High availability</a:t>
            </a:r>
          </a:p>
        </p:txBody>
      </p:sp>
      <p:sp>
        <p:nvSpPr>
          <p:cNvPr name="TextBox 7" id="7"/>
          <p:cNvSpPr txBox="true"/>
          <p:nvPr/>
        </p:nvSpPr>
        <p:spPr>
          <a:xfrm rot="0">
            <a:off x="7352637" y="4986810"/>
            <a:ext cx="3905250" cy="1107482"/>
          </a:xfrm>
          <a:prstGeom prst="rect">
            <a:avLst/>
          </a:prstGeom>
          <a:ln/>
        </p:spPr>
        <p:txBody>
          <a:bodyPr anchor="t" rtlCol="false" lIns="114300" rIns="114300" tIns="57150" bIns="57150" anchorCtr="false" vert="horz" wrap="square">
            <a:noAutofit/>
          </a:bodyPr>
          <a:lstStyle/>
          <a:p>
            <a:pPr algn="ctr">
              <a:lnSpc>
                <a:spcPct val="140000"/>
              </a:lnSpc>
            </a:pPr>
            <a:r>
              <a:rPr lang="en-US" sz="2000">
                <a:solidFill>
                  <a:schemeClr val="dk1">
                    <a:alpha val="100000"/>
                  </a:schemeClr>
                </a:solidFill>
                <a:latin typeface="Noto Sans SC"/>
                <a:ea typeface="Noto Sans SC"/>
                <a:cs typeface="Noto Sans SC"/>
              </a:rPr>
              <a:t>Provides robust failover capabilities, ensuring uninterrupted service during outages.</a:t>
            </a:r>
          </a:p>
        </p:txBody>
      </p:sp>
      <p:sp>
        <p:nvSpPr>
          <p:cNvPr name="TextBox 8" id="8"/>
          <p:cNvSpPr txBox="true"/>
          <p:nvPr/>
        </p:nvSpPr>
        <p:spPr>
          <a:xfrm rot="0">
            <a:off x="888310" y="4381849"/>
            <a:ext cx="3905250" cy="571500"/>
          </a:xfrm>
          <a:prstGeom prst="rect">
            <a:avLst/>
          </a:prstGeom>
          <a:ln/>
        </p:spPr>
        <p:txBody>
          <a:bodyPr anchor="t" rtlCol="false" lIns="114300" rIns="114300" tIns="57150" bIns="57150" anchorCtr="false" vert="horz" wrap="square">
            <a:noAutofit/>
          </a:bodyPr>
          <a:lstStyle/>
          <a:p>
            <a:pPr algn="ctr">
              <a:lnSpc>
                <a:spcPct val="120000"/>
              </a:lnSpc>
            </a:pPr>
            <a:r>
              <a:rPr lang="en-US" b="true" sz="2400">
                <a:solidFill>
                  <a:schemeClr val="accent1">
                    <a:alpha val="100000"/>
                  </a:schemeClr>
                </a:solidFill>
                <a:latin typeface="Noto Sans SC"/>
                <a:ea typeface="Noto Sans SC"/>
                <a:cs typeface="Noto Sans SC"/>
              </a:rPr>
              <a:t>Nearest edge routing</a:t>
            </a:r>
          </a:p>
        </p:txBody>
      </p:sp>
      <p:sp>
        <p:nvSpPr>
          <p:cNvPr name="TextBox 9" id="9"/>
          <p:cNvSpPr txBox="true"/>
          <p:nvPr/>
        </p:nvSpPr>
        <p:spPr>
          <a:xfrm rot="0">
            <a:off x="888310" y="4937728"/>
            <a:ext cx="3905250" cy="1156564"/>
          </a:xfrm>
          <a:prstGeom prst="rect">
            <a:avLst/>
          </a:prstGeom>
          <a:ln/>
        </p:spPr>
        <p:txBody>
          <a:bodyPr anchor="t" rtlCol="false" lIns="114300" rIns="114300" tIns="57150" bIns="57150" anchorCtr="false" vert="horz" wrap="square">
            <a:noAutofit/>
          </a:bodyPr>
          <a:lstStyle/>
          <a:p>
            <a:pPr algn="ctr">
              <a:lnSpc>
                <a:spcPct val="140000"/>
              </a:lnSpc>
            </a:pPr>
            <a:r>
              <a:rPr lang="en-US" sz="2000">
                <a:solidFill>
                  <a:schemeClr val="dk1">
                    <a:alpha val="100000"/>
                  </a:schemeClr>
                </a:solidFill>
                <a:latin typeface="Noto Sans SC"/>
                <a:ea typeface="Noto Sans SC"/>
                <a:cs typeface="Noto Sans SC"/>
              </a:rPr>
              <a:t>Routes requests to the closest AWS edge location, reducing latency and improving the user experience.</a:t>
            </a:r>
          </a:p>
        </p:txBody>
      </p:sp>
      <p:sp>
        <p:nvSpPr>
          <p:cNvPr name="AutoShape 10" id="10"/>
          <p:cNvSpPr/>
          <p:nvPr/>
        </p:nvSpPr>
        <p:spPr>
          <a:xfrm rot="0">
            <a:off x="2459935" y="3552236"/>
            <a:ext cx="762000" cy="762000"/>
          </a:xfrm>
          <a:prstGeom prst="ellipse">
            <a:avLst/>
          </a:prstGeom>
          <a:noFill/>
          <a:ln w="19050">
            <a:solidFill>
              <a:schemeClr val="accent1">
                <a:alpha val="100000"/>
              </a:schemeClr>
            </a:solidFill>
            <a:prstDash val="solid"/>
          </a:ln>
        </p:spPr>
      </p:sp>
      <p:sp>
        <p:nvSpPr>
          <p:cNvPr name="AutoShape 11" id="11"/>
          <p:cNvSpPr/>
          <p:nvPr/>
        </p:nvSpPr>
        <p:spPr>
          <a:xfrm rot="0">
            <a:off x="8924262" y="3527695"/>
            <a:ext cx="762000" cy="762000"/>
          </a:xfrm>
          <a:prstGeom prst="ellipse">
            <a:avLst/>
          </a:prstGeom>
          <a:noFill/>
          <a:ln w="19050">
            <a:solidFill>
              <a:schemeClr val="accent1">
                <a:alpha val="100000"/>
              </a:schemeClr>
            </a:solidFill>
            <a:prstDash val="solid"/>
          </a:ln>
        </p:spPr>
      </p:sp>
      <p:sp>
        <p:nvSpPr>
          <p:cNvPr name="Freeform 12" id="12"/>
          <p:cNvSpPr/>
          <p:nvPr/>
        </p:nvSpPr>
        <p:spPr>
          <a:xfrm rot="-2700000">
            <a:off x="2650435" y="3742736"/>
            <a:ext cx="381000" cy="381000"/>
          </a:xfrm>
          <a:custGeom>
            <a:avLst/>
            <a:gdLst/>
            <a:ahLst/>
            <a:cxnLst/>
            <a:rect r="r" b="b" t="t" l="l"/>
            <a:pathLst>
              <a:path h="304800" w="304800">
                <a:moveTo>
                  <a:pt x="222609" y="281264"/>
                </a:moveTo>
                <a:cubicBezTo>
                  <a:pt x="222609" y="281264"/>
                  <a:pt x="225800" y="262099"/>
                  <a:pt x="206121" y="238696"/>
                </a:cubicBezTo>
                <a:cubicBezTo>
                  <a:pt x="225276" y="184966"/>
                  <a:pt x="227933" y="136036"/>
                  <a:pt x="227933" y="136036"/>
                </a:cubicBezTo>
                <a:cubicBezTo>
                  <a:pt x="227933" y="136036"/>
                  <a:pt x="267300" y="145085"/>
                  <a:pt x="267300" y="183909"/>
                </a:cubicBezTo>
                <a:cubicBezTo>
                  <a:pt x="267291" y="250403"/>
                  <a:pt x="222609" y="281264"/>
                  <a:pt x="222609" y="281264"/>
                </a:cubicBezTo>
                <a:close/>
              </a:path>
              <a:path h="304800" w="304800">
                <a:moveTo>
                  <a:pt x="114100" y="257918"/>
                </a:moveTo>
                <a:cubicBezTo>
                  <a:pt x="114100" y="257918"/>
                  <a:pt x="87735" y="173307"/>
                  <a:pt x="87735" y="138208"/>
                </a:cubicBezTo>
                <a:cubicBezTo>
                  <a:pt x="87735" y="122415"/>
                  <a:pt x="89516" y="108366"/>
                  <a:pt x="92288" y="95612"/>
                </a:cubicBezTo>
                <a:lnTo>
                  <a:pt x="212398" y="95612"/>
                </a:lnTo>
                <a:cubicBezTo>
                  <a:pt x="215189" y="108375"/>
                  <a:pt x="216980" y="122434"/>
                  <a:pt x="216980" y="138217"/>
                </a:cubicBezTo>
                <a:cubicBezTo>
                  <a:pt x="216980" y="172784"/>
                  <a:pt x="190691" y="257918"/>
                  <a:pt x="190691" y="257918"/>
                </a:cubicBezTo>
                <a:lnTo>
                  <a:pt x="114100" y="257918"/>
                </a:lnTo>
                <a:close/>
              </a:path>
              <a:path h="304800" w="304800">
                <a:moveTo>
                  <a:pt x="152305" y="114957"/>
                </a:moveTo>
                <a:cubicBezTo>
                  <a:pt x="138798" y="114957"/>
                  <a:pt x="127845" y="125911"/>
                  <a:pt x="127845" y="139427"/>
                </a:cubicBezTo>
                <a:cubicBezTo>
                  <a:pt x="127845" y="152933"/>
                  <a:pt x="138798" y="163897"/>
                  <a:pt x="152305" y="163897"/>
                </a:cubicBezTo>
                <a:cubicBezTo>
                  <a:pt x="165811" y="163897"/>
                  <a:pt x="176774" y="152943"/>
                  <a:pt x="176774" y="139427"/>
                </a:cubicBezTo>
                <a:cubicBezTo>
                  <a:pt x="176784" y="125911"/>
                  <a:pt x="165821" y="114957"/>
                  <a:pt x="152305" y="114957"/>
                </a:cubicBezTo>
                <a:close/>
              </a:path>
              <a:path h="304800" w="304800">
                <a:moveTo>
                  <a:pt x="147047" y="5677"/>
                </a:moveTo>
                <a:lnTo>
                  <a:pt x="147047" y="-27642"/>
                </a:lnTo>
                <a:lnTo>
                  <a:pt x="156572" y="-27642"/>
                </a:lnTo>
                <a:lnTo>
                  <a:pt x="156572" y="4829"/>
                </a:lnTo>
                <a:cubicBezTo>
                  <a:pt x="167459" y="12754"/>
                  <a:pt x="196920" y="37957"/>
                  <a:pt x="210245" y="86506"/>
                </a:cubicBezTo>
                <a:lnTo>
                  <a:pt x="94421" y="86506"/>
                </a:lnTo>
                <a:cubicBezTo>
                  <a:pt x="107299" y="39291"/>
                  <a:pt x="135341" y="14364"/>
                  <a:pt x="147047" y="5677"/>
                </a:cubicBezTo>
                <a:close/>
              </a:path>
              <a:path h="304800" w="304800">
                <a:moveTo>
                  <a:pt x="82191" y="281264"/>
                </a:moveTo>
                <a:cubicBezTo>
                  <a:pt x="82191" y="281264"/>
                  <a:pt x="37509" y="250403"/>
                  <a:pt x="37509" y="183909"/>
                </a:cubicBezTo>
                <a:cubicBezTo>
                  <a:pt x="37509" y="145085"/>
                  <a:pt x="76876" y="136036"/>
                  <a:pt x="76876" y="136036"/>
                </a:cubicBezTo>
                <a:cubicBezTo>
                  <a:pt x="76876" y="136036"/>
                  <a:pt x="79534" y="184966"/>
                  <a:pt x="98679" y="238697"/>
                </a:cubicBezTo>
                <a:cubicBezTo>
                  <a:pt x="78991" y="262109"/>
                  <a:pt x="82191" y="281264"/>
                  <a:pt x="82191" y="281264"/>
                </a:cubicBezTo>
                <a:close/>
              </a:path>
              <a:path h="304800" w="304800">
                <a:moveTo>
                  <a:pt x="168507" y="286179"/>
                </a:moveTo>
                <a:lnTo>
                  <a:pt x="160525" y="278197"/>
                </a:lnTo>
                <a:lnTo>
                  <a:pt x="152019" y="304800"/>
                </a:lnTo>
                <a:lnTo>
                  <a:pt x="141903" y="278197"/>
                </a:lnTo>
                <a:lnTo>
                  <a:pt x="134988" y="292017"/>
                </a:lnTo>
                <a:lnTo>
                  <a:pt x="124873" y="267014"/>
                </a:lnTo>
                <a:lnTo>
                  <a:pt x="179661" y="267014"/>
                </a:lnTo>
                <a:lnTo>
                  <a:pt x="168507" y="286179"/>
                </a:lnTo>
              </a:path>
            </a:pathLst>
          </a:custGeom>
          <a:solidFill>
            <a:schemeClr val="accent1">
              <a:alpha val="100000"/>
            </a:schemeClr>
          </a:solidFill>
          <a:ln/>
        </p:spPr>
      </p:sp>
      <p:sp>
        <p:nvSpPr>
          <p:cNvPr name="Freeform 13" id="13"/>
          <p:cNvSpPr/>
          <p:nvPr/>
        </p:nvSpPr>
        <p:spPr>
          <a:xfrm rot="0">
            <a:off x="9114762" y="3716099"/>
            <a:ext cx="381000" cy="381000"/>
          </a:xfrm>
          <a:custGeom>
            <a:avLst/>
            <a:gdLst/>
            <a:ahLst/>
            <a:cxnLst/>
            <a:rect r="r" b="b" t="t" l="l"/>
            <a:pathLst>
              <a:path h="304800" w="304800">
                <a:moveTo>
                  <a:pt x="167640" y="0"/>
                </a:moveTo>
                <a:lnTo>
                  <a:pt x="182880" y="0"/>
                </a:lnTo>
                <a:lnTo>
                  <a:pt x="182880" y="45720"/>
                </a:lnTo>
                <a:lnTo>
                  <a:pt x="228600" y="152400"/>
                </a:lnTo>
                <a:lnTo>
                  <a:pt x="228600" y="274320"/>
                </a:lnTo>
                <a:cubicBezTo>
                  <a:pt x="228600" y="291151"/>
                  <a:pt x="214951" y="304800"/>
                  <a:pt x="198120" y="304800"/>
                </a:cubicBezTo>
                <a:lnTo>
                  <a:pt x="198120" y="304800"/>
                </a:lnTo>
                <a:lnTo>
                  <a:pt x="76200" y="304800"/>
                </a:lnTo>
                <a:cubicBezTo>
                  <a:pt x="59436" y="304800"/>
                  <a:pt x="40996" y="291998"/>
                  <a:pt x="35052" y="276149"/>
                </a:cubicBezTo>
                <a:lnTo>
                  <a:pt x="0" y="182880"/>
                </a:lnTo>
                <a:lnTo>
                  <a:pt x="0" y="152400"/>
                </a:lnTo>
                <a:cubicBezTo>
                  <a:pt x="0" y="135569"/>
                  <a:pt x="13649" y="121920"/>
                  <a:pt x="30480" y="121920"/>
                </a:cubicBezTo>
                <a:lnTo>
                  <a:pt x="30480" y="121920"/>
                </a:lnTo>
                <a:lnTo>
                  <a:pt x="137160" y="121920"/>
                </a:lnTo>
                <a:lnTo>
                  <a:pt x="137160" y="30480"/>
                </a:lnTo>
                <a:cubicBezTo>
                  <a:pt x="137160" y="13649"/>
                  <a:pt x="150809" y="0"/>
                  <a:pt x="167640" y="0"/>
                </a:cubicBezTo>
                <a:lnTo>
                  <a:pt x="167640" y="0"/>
                </a:lnTo>
                <a:close/>
              </a:path>
              <a:path h="304800" w="304800">
                <a:moveTo>
                  <a:pt x="259080" y="152400"/>
                </a:moveTo>
                <a:lnTo>
                  <a:pt x="304800" y="152400"/>
                </a:lnTo>
                <a:lnTo>
                  <a:pt x="304800" y="304800"/>
                </a:lnTo>
                <a:lnTo>
                  <a:pt x="259080" y="304800"/>
                </a:lnTo>
                <a:lnTo>
                  <a:pt x="259080" y="152400"/>
                </a:lnTo>
              </a:path>
            </a:pathLst>
          </a:custGeom>
          <a:solidFill>
            <a:schemeClr val="accent1">
              <a:alpha val="100000"/>
            </a:schemeClr>
          </a:solidFill>
          <a:ln/>
        </p:spPr>
      </p:sp>
      <p:sp>
        <p:nvSpPr>
          <p:cNvPr name="TextBox 14" id="14"/>
          <p:cNvSpPr txBox="true"/>
          <p:nvPr/>
        </p:nvSpPr>
        <p:spPr>
          <a:xfrm rot="0">
            <a:off x="476023" y="265328"/>
            <a:ext cx="11239500" cy="914400"/>
          </a:xfrm>
          <a:prstGeom prst="rect">
            <a:avLst/>
          </a:prstGeom>
          <a:ln/>
        </p:spPr>
        <p:txBody>
          <a:bodyPr anchor="ctr" rtlCol="false" lIns="123825" rIns="57150" tIns="123825" bIns="123825" anchorCtr="false" vert="horz" wrap="square">
            <a:noAutofit/>
          </a:bodyPr>
          <a:lstStyle/>
          <a:p>
            <a:pPr>
              <a:lnSpc>
                <a:spcPct val="140000"/>
              </a:lnSpc>
            </a:pPr>
            <a:r>
              <a:rPr lang="en-US" b="true" sz="3000">
                <a:solidFill>
                  <a:schemeClr val="dk2">
                    <a:alpha val="100000"/>
                  </a:schemeClr>
                </a:solidFill>
                <a:latin typeface="Noto Sans SC"/>
                <a:ea typeface="Noto Sans SC"/>
                <a:cs typeface="Noto Sans SC"/>
              </a:rPr>
              <a:t>Route 53</a:t>
            </a:r>
          </a:p>
        </p:txBody>
      </p:sp>
    </p:spTree>
  </p:cSld>
  <p:clrMapOvr>
    <a:masterClrMapping/>
  </p:clrMapOvr>
  <p:transition spd="slow">
    <p:push/>
  </p:transition>
</p:sld>
</file>

<file path=ppt/slides/slide9.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3">
            <a:alphaModFix amt="100000"/>
          </a:blip>
          <a:srcRect l="31594" r="31594"/>
          <a:stretch>
            <a:fillRect/>
          </a:stretch>
        </p:blipFill>
        <p:spPr>
          <a:xfrm rot="0">
            <a:off x="7993836" y="1370655"/>
            <a:ext cx="3721686" cy="4806802"/>
          </a:xfrm>
          <a:prstGeom prst="rect">
            <a:avLst/>
          </a:prstGeom>
        </p:spPr>
      </p:pic>
      <p:sp>
        <p:nvSpPr>
          <p:cNvPr name="TextBox 3" id="3"/>
          <p:cNvSpPr txBox="true"/>
          <p:nvPr/>
        </p:nvSpPr>
        <p:spPr>
          <a:xfrm rot="0">
            <a:off x="1482606" y="1947878"/>
            <a:ext cx="6248003" cy="914400"/>
          </a:xfrm>
          <a:prstGeom prst="rect">
            <a:avLst/>
          </a:prstGeom>
          <a:ln/>
        </p:spPr>
        <p:txBody>
          <a:bodyPr anchor="t" rtlCol="false" lIns="123825" rIns="57150" tIns="123825" bIns="123825" anchorCtr="false" vert="horz" wrap="square">
            <a:noAutofit/>
          </a:bodyPr>
          <a:lstStyle/>
          <a:p>
            <a:pPr>
              <a:lnSpc>
                <a:spcPct val="140000"/>
              </a:lnSpc>
            </a:pPr>
            <a:r>
              <a:rPr lang="en-US" sz="2000">
                <a:solidFill>
                  <a:schemeClr val="dk1">
                    <a:alpha val="100000"/>
                  </a:schemeClr>
                </a:solidFill>
                <a:latin typeface="Noto Sans SC"/>
                <a:ea typeface="Noto Sans SC"/>
                <a:cs typeface="Noto Sans SC"/>
              </a:rPr>
              <a:t>Stores and caches static assets such as 3D models, images, and JavaScript for improved delivery speeds.</a:t>
            </a:r>
          </a:p>
        </p:txBody>
      </p:sp>
      <p:sp>
        <p:nvSpPr>
          <p:cNvPr name="TextBox 4" id="4"/>
          <p:cNvSpPr txBox="true"/>
          <p:nvPr/>
        </p:nvSpPr>
        <p:spPr>
          <a:xfrm rot="0">
            <a:off x="1482606" y="1370655"/>
            <a:ext cx="4219575" cy="738707"/>
          </a:xfrm>
          <a:prstGeom prst="rect">
            <a:avLst/>
          </a:prstGeom>
          <a:ln/>
        </p:spPr>
        <p:txBody>
          <a:bodyPr anchor="ctr" rtlCol="false" lIns="123825" rIns="57150" tIns="123825" bIns="123825" anchorCtr="false" vert="horz" wrap="square">
            <a:noAutofit/>
          </a:bodyPr>
          <a:lstStyle/>
          <a:p>
            <a:pPr>
              <a:lnSpc>
                <a:spcPct val="150000"/>
              </a:lnSpc>
            </a:pPr>
            <a:r>
              <a:rPr lang="en-US" b="true" sz="2400">
                <a:solidFill>
                  <a:schemeClr val="accent1">
                    <a:alpha val="100000"/>
                  </a:schemeClr>
                </a:solidFill>
                <a:latin typeface="Noto Sans SC"/>
                <a:ea typeface="Noto Sans SC"/>
                <a:cs typeface="Noto Sans SC"/>
              </a:rPr>
              <a:t>Content caching</a:t>
            </a:r>
          </a:p>
        </p:txBody>
      </p:sp>
      <p:sp>
        <p:nvSpPr>
          <p:cNvPr name="TextBox 5" id="5"/>
          <p:cNvSpPr txBox="true"/>
          <p:nvPr/>
        </p:nvSpPr>
        <p:spPr>
          <a:xfrm rot="0">
            <a:off x="1482606" y="3712973"/>
            <a:ext cx="6078470" cy="914400"/>
          </a:xfrm>
          <a:prstGeom prst="rect">
            <a:avLst/>
          </a:prstGeom>
          <a:ln/>
        </p:spPr>
        <p:txBody>
          <a:bodyPr anchor="t" rtlCol="false" lIns="123825" rIns="57150" tIns="123825" bIns="123825" anchorCtr="false" vert="horz" wrap="square">
            <a:noAutofit/>
          </a:bodyPr>
          <a:lstStyle/>
          <a:p>
            <a:pPr>
              <a:lnSpc>
                <a:spcPct val="140000"/>
              </a:lnSpc>
            </a:pPr>
            <a:r>
              <a:rPr lang="en-US" sz="2000">
                <a:solidFill>
                  <a:schemeClr val="dk1">
                    <a:alpha val="100000"/>
                  </a:schemeClr>
                </a:solidFill>
                <a:latin typeface="Noto Sans SC"/>
                <a:ea typeface="Noto Sans SC"/>
                <a:cs typeface="Noto Sans SC"/>
              </a:rPr>
              <a:t>Ensures that all content is distributed effectively to reduce latency for users worldwide.</a:t>
            </a:r>
          </a:p>
        </p:txBody>
      </p:sp>
      <p:sp>
        <p:nvSpPr>
          <p:cNvPr name="TextBox 6" id="6"/>
          <p:cNvSpPr txBox="true"/>
          <p:nvPr/>
        </p:nvSpPr>
        <p:spPr>
          <a:xfrm rot="0">
            <a:off x="1482606" y="3116450"/>
            <a:ext cx="4219575" cy="736876"/>
          </a:xfrm>
          <a:prstGeom prst="rect">
            <a:avLst/>
          </a:prstGeom>
          <a:ln/>
        </p:spPr>
        <p:txBody>
          <a:bodyPr anchor="ctr" rtlCol="false" lIns="123825" rIns="57150" tIns="123825" bIns="123825" anchorCtr="false" vert="horz" wrap="square">
            <a:noAutofit/>
          </a:bodyPr>
          <a:lstStyle/>
          <a:p>
            <a:pPr>
              <a:lnSpc>
                <a:spcPct val="150000"/>
              </a:lnSpc>
            </a:pPr>
            <a:r>
              <a:rPr lang="en-US" b="true" sz="2400">
                <a:solidFill>
                  <a:schemeClr val="accent1">
                    <a:alpha val="100000"/>
                  </a:schemeClr>
                </a:solidFill>
                <a:latin typeface="Noto Sans SC"/>
                <a:ea typeface="Noto Sans SC"/>
                <a:cs typeface="Noto Sans SC"/>
              </a:rPr>
              <a:t>Global distribution</a:t>
            </a:r>
          </a:p>
        </p:txBody>
      </p:sp>
      <p:sp>
        <p:nvSpPr>
          <p:cNvPr name="TextBox 7" id="7"/>
          <p:cNvSpPr txBox="true"/>
          <p:nvPr/>
        </p:nvSpPr>
        <p:spPr>
          <a:xfrm rot="0">
            <a:off x="1482606" y="5377103"/>
            <a:ext cx="6078470" cy="914400"/>
          </a:xfrm>
          <a:prstGeom prst="rect">
            <a:avLst/>
          </a:prstGeom>
          <a:ln/>
        </p:spPr>
        <p:txBody>
          <a:bodyPr anchor="t" rtlCol="false" lIns="123825" rIns="57150" tIns="123825" bIns="123825" anchorCtr="false" vert="horz" wrap="square">
            <a:noAutofit/>
          </a:bodyPr>
          <a:lstStyle/>
          <a:p>
            <a:pPr>
              <a:lnSpc>
                <a:spcPct val="140000"/>
              </a:lnSpc>
            </a:pPr>
            <a:r>
              <a:rPr lang="en-US" sz="2000">
                <a:solidFill>
                  <a:schemeClr val="dk1">
                    <a:alpha val="100000"/>
                  </a:schemeClr>
                </a:solidFill>
                <a:latin typeface="Noto Sans SC"/>
                <a:ea typeface="Noto Sans SC"/>
                <a:cs typeface="Noto Sans SC"/>
              </a:rPr>
              <a:t>Employs HTTPS and integrates with AWS WAF to securely distribute assets and protect against web attacks.</a:t>
            </a:r>
          </a:p>
        </p:txBody>
      </p:sp>
      <p:sp>
        <p:nvSpPr>
          <p:cNvPr name="TextBox 8" id="8"/>
          <p:cNvSpPr txBox="true"/>
          <p:nvPr/>
        </p:nvSpPr>
        <p:spPr>
          <a:xfrm rot="0">
            <a:off x="1482606" y="4799881"/>
            <a:ext cx="4219575" cy="749453"/>
          </a:xfrm>
          <a:prstGeom prst="rect">
            <a:avLst/>
          </a:prstGeom>
          <a:ln/>
        </p:spPr>
        <p:txBody>
          <a:bodyPr anchor="ctr" rtlCol="false" lIns="123825" rIns="57150" tIns="123825" bIns="123825" anchorCtr="false" vert="horz" wrap="square">
            <a:noAutofit/>
          </a:bodyPr>
          <a:lstStyle/>
          <a:p>
            <a:pPr>
              <a:lnSpc>
                <a:spcPct val="150000"/>
              </a:lnSpc>
            </a:pPr>
            <a:r>
              <a:rPr lang="en-US" b="true" sz="2400">
                <a:solidFill>
                  <a:schemeClr val="accent1">
                    <a:alpha val="100000"/>
                  </a:schemeClr>
                </a:solidFill>
                <a:latin typeface="Noto Sans SC"/>
                <a:ea typeface="Noto Sans SC"/>
                <a:cs typeface="Noto Sans SC"/>
              </a:rPr>
              <a:t>Secure delivery</a:t>
            </a:r>
          </a:p>
        </p:txBody>
      </p:sp>
      <p:sp>
        <p:nvSpPr>
          <p:cNvPr name="TextBox 9" id="9"/>
          <p:cNvSpPr txBox="true"/>
          <p:nvPr/>
        </p:nvSpPr>
        <p:spPr>
          <a:xfrm rot="0">
            <a:off x="476023" y="265328"/>
            <a:ext cx="11239500" cy="914400"/>
          </a:xfrm>
          <a:prstGeom prst="rect">
            <a:avLst/>
          </a:prstGeom>
          <a:ln/>
        </p:spPr>
        <p:txBody>
          <a:bodyPr anchor="t" rtlCol="false" lIns="123825" rIns="57150" tIns="123825" bIns="123825" anchorCtr="false" vert="horz" wrap="square">
            <a:spAutoFit/>
          </a:bodyPr>
          <a:lstStyle/>
          <a:p>
            <a:pPr>
              <a:lnSpc>
                <a:spcPct val="140000"/>
              </a:lnSpc>
            </a:pPr>
            <a:r>
              <a:rPr lang="en-US" b="true" sz="3000">
                <a:solidFill>
                  <a:schemeClr val="dk2">
                    <a:alpha val="100000"/>
                  </a:schemeClr>
                </a:solidFill>
                <a:latin typeface="Noto Sans SC"/>
                <a:ea typeface="Noto Sans SC"/>
                <a:cs typeface="Noto Sans SC"/>
              </a:rPr>
              <a:t>CloudFront (CDN)</a:t>
            </a:r>
          </a:p>
        </p:txBody>
      </p:sp>
      <p:sp>
        <p:nvSpPr>
          <p:cNvPr name="TextBox 10" id="10"/>
          <p:cNvSpPr txBox="true"/>
          <p:nvPr/>
        </p:nvSpPr>
        <p:spPr>
          <a:xfrm rot="0">
            <a:off x="542238" y="1676264"/>
            <a:ext cx="849630" cy="481965"/>
          </a:xfrm>
          <a:prstGeom prst="rect">
            <a:avLst/>
          </a:prstGeom>
          <a:ln/>
        </p:spPr>
        <p:txBody>
          <a:bodyPr anchor="ctr" rtlCol="false" lIns="91440" rIns="91440" tIns="45720" bIns="45720" anchorCtr="false" vert="horz" wrap="square">
            <a:spAutoFit/>
          </a:bodyPr>
          <a:lstStyle/>
          <a:p>
            <a:pPr algn="ctr">
              <a:lnSpc>
                <a:spcPct val="100000"/>
              </a:lnSpc>
              <a:spcBef>
                <a:spcPts val="375"/>
              </a:spcBef>
            </a:pPr>
            <a:r>
              <a:rPr lang="en-US" sz="2400">
                <a:solidFill>
                  <a:schemeClr val="accent1">
                    <a:alpha val="100000"/>
                  </a:schemeClr>
                </a:solidFill>
                <a:latin typeface="Noto Sans SC"/>
                <a:ea typeface="Noto Sans SC"/>
                <a:cs typeface="Noto Sans SC"/>
              </a:rPr>
              <a:t>01</a:t>
            </a:r>
          </a:p>
        </p:txBody>
      </p:sp>
      <p:sp>
        <p:nvSpPr>
          <p:cNvPr name="TextBox 11" id="11"/>
          <p:cNvSpPr txBox="true"/>
          <p:nvPr/>
        </p:nvSpPr>
        <p:spPr>
          <a:xfrm rot="0">
            <a:off x="542238" y="3414840"/>
            <a:ext cx="849630" cy="481965"/>
          </a:xfrm>
          <a:prstGeom prst="rect">
            <a:avLst/>
          </a:prstGeom>
          <a:ln/>
        </p:spPr>
        <p:txBody>
          <a:bodyPr anchor="ctr" rtlCol="false" lIns="91440" rIns="91440" tIns="45720" bIns="45720" anchorCtr="false" vert="horz" wrap="square">
            <a:spAutoFit/>
          </a:bodyPr>
          <a:lstStyle/>
          <a:p>
            <a:pPr algn="ctr">
              <a:lnSpc>
                <a:spcPct val="100000"/>
              </a:lnSpc>
              <a:spcBef>
                <a:spcPts val="375"/>
              </a:spcBef>
            </a:pPr>
            <a:r>
              <a:rPr lang="en-US" sz="2400">
                <a:solidFill>
                  <a:schemeClr val="accent1">
                    <a:alpha val="100000"/>
                  </a:schemeClr>
                </a:solidFill>
                <a:latin typeface="Noto Sans SC"/>
                <a:ea typeface="Noto Sans SC"/>
                <a:cs typeface="Noto Sans SC"/>
              </a:rPr>
              <a:t>02</a:t>
            </a:r>
          </a:p>
        </p:txBody>
      </p:sp>
      <p:sp>
        <p:nvSpPr>
          <p:cNvPr name="TextBox 12" id="12"/>
          <p:cNvSpPr txBox="true"/>
          <p:nvPr/>
        </p:nvSpPr>
        <p:spPr>
          <a:xfrm rot="0">
            <a:off x="542238" y="5136121"/>
            <a:ext cx="849630" cy="481965"/>
          </a:xfrm>
          <a:prstGeom prst="rect">
            <a:avLst/>
          </a:prstGeom>
          <a:ln/>
        </p:spPr>
        <p:txBody>
          <a:bodyPr anchor="ctr" rtlCol="false" lIns="91440" rIns="91440" tIns="45720" bIns="45720" anchorCtr="false" vert="horz" wrap="square">
            <a:spAutoFit/>
          </a:bodyPr>
          <a:lstStyle/>
          <a:p>
            <a:pPr algn="ctr">
              <a:lnSpc>
                <a:spcPct val="100000"/>
              </a:lnSpc>
              <a:spcBef>
                <a:spcPts val="375"/>
              </a:spcBef>
            </a:pPr>
            <a:r>
              <a:rPr lang="en-US" sz="2400">
                <a:solidFill>
                  <a:schemeClr val="accent1">
                    <a:alpha val="100000"/>
                  </a:schemeClr>
                </a:solidFill>
                <a:latin typeface="Noto Sans SC"/>
                <a:ea typeface="Noto Sans SC"/>
                <a:cs typeface="Noto Sans SC"/>
              </a:rPr>
              <a:t>03</a:t>
            </a:r>
          </a:p>
        </p:txBody>
      </p:sp>
      <p:sp>
        <p:nvSpPr>
          <p:cNvPr name="AutoShape 13" id="13"/>
          <p:cNvSpPr/>
          <p:nvPr/>
        </p:nvSpPr>
        <p:spPr>
          <a:xfrm rot="0">
            <a:off x="647738" y="1597932"/>
            <a:ext cx="638629" cy="638629"/>
          </a:xfrm>
          <a:prstGeom prst="rect">
            <a:avLst/>
          </a:prstGeom>
          <a:noFill/>
          <a:ln w="19050">
            <a:solidFill>
              <a:schemeClr val="accent1">
                <a:alpha val="100000"/>
              </a:schemeClr>
            </a:solidFill>
            <a:prstDash val="solid"/>
          </a:ln>
        </p:spPr>
      </p:sp>
      <p:sp>
        <p:nvSpPr>
          <p:cNvPr name="AutoShape 14" id="14"/>
          <p:cNvSpPr/>
          <p:nvPr/>
        </p:nvSpPr>
        <p:spPr>
          <a:xfrm rot="0">
            <a:off x="647738" y="3327861"/>
            <a:ext cx="638629" cy="638629"/>
          </a:xfrm>
          <a:prstGeom prst="rect">
            <a:avLst/>
          </a:prstGeom>
          <a:noFill/>
          <a:ln w="19050">
            <a:solidFill>
              <a:schemeClr val="accent1">
                <a:alpha val="100000"/>
              </a:schemeClr>
            </a:solidFill>
            <a:prstDash val="solid"/>
          </a:ln>
        </p:spPr>
      </p:sp>
      <p:sp>
        <p:nvSpPr>
          <p:cNvPr name="AutoShape 15" id="15"/>
          <p:cNvSpPr/>
          <p:nvPr/>
        </p:nvSpPr>
        <p:spPr>
          <a:xfrm rot="0">
            <a:off x="647738" y="5057789"/>
            <a:ext cx="638629" cy="638629"/>
          </a:xfrm>
          <a:prstGeom prst="rect">
            <a:avLst/>
          </a:prstGeom>
          <a:noFill/>
          <a:ln w="19050">
            <a:solidFill>
              <a:schemeClr val="accent1">
                <a:alpha val="100000"/>
              </a:schemeClr>
            </a:solidFill>
            <a:prstDash val="solid"/>
          </a:ln>
        </p:spPr>
      </p:sp>
    </p:spTree>
  </p:cSld>
  <p:clrMapOvr>
    <a:masterClrMapping/>
  </p:clrMapOvr>
  <p:transition spd="slow">
    <p:push/>
  </p:transition>
</p:sld>
</file>

<file path=ppt/slides/slide10.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grpSp>
        <p:nvGrpSpPr>
          <p:cNvPr name="Group 2" id="2"/>
          <p:cNvGrpSpPr/>
          <p:nvPr/>
        </p:nvGrpSpPr>
        <p:grpSpPr>
          <a:xfrm rot="0">
            <a:off x="5678225" y="3968431"/>
            <a:ext cx="2861035" cy="1956149"/>
            <a:chOff x="5678225" y="3968431"/>
            <a:chExt cx="2861035" cy="1956149"/>
          </a:xfrm>
        </p:grpSpPr>
        <p:sp>
          <p:nvSpPr>
            <p:cNvPr name="AutoShape 3" id="3"/>
            <p:cNvSpPr/>
            <p:nvPr/>
          </p:nvSpPr>
          <p:spPr>
            <a:xfrm rot="0">
              <a:off x="5678225" y="3968431"/>
              <a:ext cx="2861035" cy="1956149"/>
            </a:xfrm>
            <a:prstGeom prst="roundRect">
              <a:avLst>
                <a:gd fmla="val 9799" name="adj"/>
              </a:avLst>
            </a:prstGeom>
            <a:solidFill>
              <a:schemeClr val="accent3">
                <a:alpha val="100000"/>
                <a:lumMod val="75000"/>
              </a:schemeClr>
            </a:solidFill>
            <a:ln/>
          </p:spPr>
        </p:sp>
        <p:sp>
          <p:nvSpPr>
            <p:cNvPr name="TextBox 4" id="4"/>
            <p:cNvSpPr txBox="true"/>
            <p:nvPr/>
          </p:nvSpPr>
          <p:spPr>
            <a:xfrm rot="0">
              <a:off x="7781420" y="4010252"/>
              <a:ext cx="706755" cy="501015"/>
            </a:xfrm>
            <a:prstGeom prst="rect">
              <a:avLst/>
            </a:prstGeom>
            <a:ln/>
          </p:spPr>
          <p:txBody>
            <a:bodyPr anchor="t" rtlCol="false" lIns="91440" rIns="91440" tIns="45720" bIns="45720" anchorCtr="false" vert="horz" wrap="square">
              <a:spAutoFit/>
            </a:bodyPr>
            <a:lstStyle/>
            <a:p>
              <a:pPr>
                <a:lnSpc>
                  <a:spcPct val="100000"/>
                </a:lnSpc>
                <a:spcBef>
                  <a:spcPts val="375"/>
                </a:spcBef>
              </a:pPr>
              <a:r>
                <a:rPr lang="en-US" b="true" sz="2400">
                  <a:solidFill>
                    <a:srgbClr val="FFFFFF">
                      <a:alpha val="100000"/>
                    </a:srgbClr>
                  </a:solidFill>
                  <a:latin typeface="Noto Sans SC"/>
                  <a:ea typeface="Noto Sans SC"/>
                  <a:cs typeface="Noto Sans SC"/>
                </a:rPr>
                <a:t>03</a:t>
              </a:r>
            </a:p>
          </p:txBody>
        </p:sp>
      </p:grpSp>
      <p:sp>
        <p:nvSpPr>
          <p:cNvPr name="TextBox 5" id="5"/>
          <p:cNvSpPr txBox="true"/>
          <p:nvPr/>
        </p:nvSpPr>
        <p:spPr>
          <a:xfrm rot="0">
            <a:off x="476023" y="265328"/>
            <a:ext cx="11239500" cy="914400"/>
          </a:xfrm>
          <a:prstGeom prst="rect">
            <a:avLst/>
          </a:prstGeom>
          <a:ln/>
        </p:spPr>
        <p:txBody>
          <a:bodyPr anchor="ctr" rtlCol="false" lIns="123825" rIns="57150" tIns="123825" bIns="123825" anchorCtr="false" vert="horz" wrap="square">
            <a:noAutofit/>
          </a:bodyPr>
          <a:lstStyle/>
          <a:p>
            <a:pPr>
              <a:lnSpc>
                <a:spcPct val="140000"/>
              </a:lnSpc>
            </a:pPr>
            <a:r>
              <a:rPr lang="en-US" b="true" sz="3000">
                <a:solidFill>
                  <a:schemeClr val="dk1">
                    <a:alpha val="100000"/>
                  </a:schemeClr>
                </a:solidFill>
                <a:latin typeface="Noto Sans SC"/>
                <a:ea typeface="Noto Sans SC"/>
                <a:cs typeface="Noto Sans SC"/>
              </a:rPr>
              <a:t>Amazon S3</a:t>
            </a:r>
          </a:p>
        </p:txBody>
      </p:sp>
      <p:sp>
        <p:nvSpPr>
          <p:cNvPr name="AutoShape 6" id="6"/>
          <p:cNvSpPr/>
          <p:nvPr/>
        </p:nvSpPr>
        <p:spPr>
          <a:xfrm rot="0">
            <a:off x="8774024" y="1320729"/>
            <a:ext cx="2861035" cy="1956149"/>
          </a:xfrm>
          <a:prstGeom prst="roundRect">
            <a:avLst>
              <a:gd fmla="val 9799" name="adj"/>
            </a:avLst>
          </a:prstGeom>
          <a:solidFill>
            <a:schemeClr val="accent2">
              <a:alpha val="100000"/>
              <a:lumMod val="75000"/>
            </a:schemeClr>
          </a:solidFill>
          <a:ln/>
        </p:spPr>
      </p:sp>
      <p:sp>
        <p:nvSpPr>
          <p:cNvPr name="AutoShape 7" id="7"/>
          <p:cNvSpPr/>
          <p:nvPr/>
        </p:nvSpPr>
        <p:spPr>
          <a:xfrm rot="0">
            <a:off x="6376640" y="1806416"/>
            <a:ext cx="5016791" cy="1942842"/>
          </a:xfrm>
          <a:prstGeom prst="roundRect">
            <a:avLst>
              <a:gd fmla="val 9132" name="adj"/>
            </a:avLst>
          </a:prstGeom>
          <a:solidFill>
            <a:schemeClr val="lt2">
              <a:alpha val="100000"/>
            </a:schemeClr>
          </a:solidFill>
          <a:ln w="19050">
            <a:solidFill>
              <a:schemeClr val="accent2">
                <a:alpha val="100000"/>
                <a:lumMod val="75000"/>
              </a:schemeClr>
            </a:solidFill>
            <a:prstDash val="solid"/>
          </a:ln>
        </p:spPr>
        <p:txBody>
          <a:bodyPr anchor="ctr" rtlCol="false" anchorCtr="false" vert="horz" wrap="square">
            <a:noAutofit/>
          </a:bodyPr>
          <a:lstStyle/>
          <a:p>
            <a:pPr algn="ctr">
              <a:lnSpc>
                <a:spcPct val="100000"/>
              </a:lnSpc>
              <a:spcBef>
                <a:spcPts val="375"/>
              </a:spcBef>
              <a:defRPr/>
            </a:pPr>
            <a:r>
              <a:rPr lang="en-US" sz="900">
                <a:solidFill>
                  <a:srgbClr val="000000">
                    <a:alpha val="100000"/>
                  </a:srgbClr>
                </a:solidFill>
                <a:latin typeface="Microsoft Yahei"/>
                <a:ea typeface="Microsoft Yahei"/>
                <a:cs typeface="Microsoft Yahei"/>
              </a:rPr>
              <a:t/>
            </a:r>
            <a:endParaRPr lang="en-US" sz="1100"/>
          </a:p>
        </p:txBody>
      </p:sp>
      <p:sp>
        <p:nvSpPr>
          <p:cNvPr name="TextBox 8" id="8"/>
          <p:cNvSpPr txBox="true"/>
          <p:nvPr/>
        </p:nvSpPr>
        <p:spPr>
          <a:xfrm rot="0">
            <a:off x="10928304" y="1320729"/>
            <a:ext cx="706755" cy="501015"/>
          </a:xfrm>
          <a:prstGeom prst="rect">
            <a:avLst/>
          </a:prstGeom>
          <a:ln/>
        </p:spPr>
        <p:txBody>
          <a:bodyPr anchor="t" rtlCol="false" lIns="91440" rIns="91440" tIns="45720" bIns="45720" anchorCtr="false" vert="horz" wrap="square">
            <a:spAutoFit/>
          </a:bodyPr>
          <a:lstStyle/>
          <a:p>
            <a:pPr>
              <a:lnSpc>
                <a:spcPct val="100000"/>
              </a:lnSpc>
              <a:spcBef>
                <a:spcPts val="375"/>
              </a:spcBef>
            </a:pPr>
            <a:r>
              <a:rPr lang="en-US" b="true" sz="2400">
                <a:solidFill>
                  <a:srgbClr val="FFFFFF">
                    <a:alpha val="100000"/>
                  </a:srgbClr>
                </a:solidFill>
                <a:latin typeface="Noto Sans SC"/>
                <a:ea typeface="Noto Sans SC"/>
                <a:cs typeface="Noto Sans SC"/>
              </a:rPr>
              <a:t>02</a:t>
            </a:r>
          </a:p>
        </p:txBody>
      </p:sp>
      <p:sp>
        <p:nvSpPr>
          <p:cNvPr name="AutoShape 9" id="9"/>
          <p:cNvSpPr/>
          <p:nvPr/>
        </p:nvSpPr>
        <p:spPr>
          <a:xfrm rot="0">
            <a:off x="6565649" y="2021883"/>
            <a:ext cx="3810000" cy="454737"/>
          </a:xfrm>
          <a:prstGeom prst="rect">
            <a:avLst/>
          </a:prstGeom>
          <a:noFill/>
          <a:ln/>
        </p:spPr>
        <p:txBody>
          <a:bodyPr anchor="b" rtlCol="false" tIns="45720" lIns="91440" bIns="45720" rIns="91440" anchorCtr="true" vert="horz" wrap="square">
            <a:normAutofit/>
          </a:bodyPr>
          <a:lstStyle/>
          <a:p>
            <a:pPr algn="l">
              <a:defRPr/>
            </a:pPr>
            <a:r>
              <a:rPr lang="en-US" b="true" sz="1800">
                <a:solidFill>
                  <a:schemeClr val="accent1">
                    <a:alpha val="100000"/>
                  </a:schemeClr>
                </a:solidFill>
                <a:latin typeface="Noto Sans SC"/>
                <a:ea typeface="Noto Sans SC"/>
                <a:cs typeface="Noto Sans SC"/>
              </a:rPr>
              <a:t>Scalable content delivery</a:t>
            </a:r>
            <a:endParaRPr lang="en-US" sz="1100"/>
          </a:p>
        </p:txBody>
      </p:sp>
      <p:sp>
        <p:nvSpPr>
          <p:cNvPr name="TextBox 10" id="10"/>
          <p:cNvSpPr txBox="true"/>
          <p:nvPr/>
        </p:nvSpPr>
        <p:spPr>
          <a:xfrm rot="0">
            <a:off x="6565649" y="2500155"/>
            <a:ext cx="4638774" cy="922036"/>
          </a:xfrm>
          <a:prstGeom prst="rect">
            <a:avLst/>
          </a:prstGeom>
          <a:ln/>
        </p:spPr>
        <p:txBody>
          <a:bodyPr anchor="t" rtlCol="false" lIns="123825" rIns="57150" tIns="57150" bIns="57150"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Seamlessly connects with CloudFront for high-speed retrieval of stored assets.</a:t>
            </a:r>
          </a:p>
        </p:txBody>
      </p:sp>
      <p:sp>
        <p:nvSpPr>
          <p:cNvPr name="AutoShape 11" id="11"/>
          <p:cNvSpPr/>
          <p:nvPr/>
        </p:nvSpPr>
        <p:spPr>
          <a:xfrm rot="0">
            <a:off x="2976465" y="4491282"/>
            <a:ext cx="5228647" cy="1942842"/>
          </a:xfrm>
          <a:prstGeom prst="roundRect">
            <a:avLst>
              <a:gd fmla="val 9132" name="adj"/>
            </a:avLst>
          </a:prstGeom>
          <a:solidFill>
            <a:schemeClr val="lt2">
              <a:alpha val="100000"/>
            </a:schemeClr>
          </a:solidFill>
          <a:ln w="19050">
            <a:solidFill>
              <a:schemeClr val="accent3">
                <a:alpha val="100000"/>
                <a:lumMod val="75000"/>
              </a:schemeClr>
            </a:solidFill>
            <a:prstDash val="solid"/>
          </a:ln>
        </p:spPr>
      </p:sp>
      <p:sp>
        <p:nvSpPr>
          <p:cNvPr name="AutoShape 12" id="12"/>
          <p:cNvSpPr/>
          <p:nvPr/>
        </p:nvSpPr>
        <p:spPr>
          <a:xfrm rot="0">
            <a:off x="3205985" y="4688167"/>
            <a:ext cx="3810000" cy="454737"/>
          </a:xfrm>
          <a:prstGeom prst="rect">
            <a:avLst/>
          </a:prstGeom>
          <a:noFill/>
          <a:ln/>
        </p:spPr>
        <p:txBody>
          <a:bodyPr anchor="b" rtlCol="false" tIns="45720" lIns="91440" bIns="45720" rIns="91440" anchorCtr="true" vert="horz" wrap="square">
            <a:normAutofit/>
          </a:bodyPr>
          <a:lstStyle/>
          <a:p>
            <a:pPr algn="l">
              <a:defRPr/>
            </a:pPr>
            <a:r>
              <a:rPr lang="en-US" b="true" sz="1800">
                <a:solidFill>
                  <a:schemeClr val="accent1">
                    <a:alpha val="100000"/>
                  </a:schemeClr>
                </a:solidFill>
                <a:latin typeface="Noto Sans SC"/>
                <a:ea typeface="Noto Sans SC"/>
                <a:cs typeface="Noto Sans SC"/>
              </a:rPr>
              <a:t>Cost-efficient</a:t>
            </a:r>
            <a:endParaRPr lang="en-US" sz="1100"/>
          </a:p>
        </p:txBody>
      </p:sp>
      <p:sp>
        <p:nvSpPr>
          <p:cNvPr name="TextBox 13" id="13"/>
          <p:cNvSpPr txBox="true"/>
          <p:nvPr/>
        </p:nvSpPr>
        <p:spPr>
          <a:xfrm rot="0">
            <a:off x="3099002" y="5203604"/>
            <a:ext cx="4906377" cy="934012"/>
          </a:xfrm>
          <a:prstGeom prst="rect">
            <a:avLst/>
          </a:prstGeom>
          <a:ln/>
        </p:spPr>
        <p:txBody>
          <a:bodyPr anchor="t" rtlCol="false" lIns="123825" rIns="57150" tIns="57150" bIns="57150"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Utilizes lifecycle policies to transition older content to lower-cost storage tiers, optimizing costs.</a:t>
            </a:r>
          </a:p>
        </p:txBody>
      </p:sp>
      <p:sp>
        <p:nvSpPr>
          <p:cNvPr name="AutoShape 14" id="14"/>
          <p:cNvSpPr/>
          <p:nvPr/>
        </p:nvSpPr>
        <p:spPr>
          <a:xfrm rot="0">
            <a:off x="2956705" y="1320729"/>
            <a:ext cx="2861035" cy="1956149"/>
          </a:xfrm>
          <a:prstGeom prst="roundRect">
            <a:avLst>
              <a:gd fmla="val 9799" name="adj"/>
            </a:avLst>
          </a:prstGeom>
          <a:solidFill>
            <a:schemeClr val="accent1">
              <a:alpha val="100000"/>
            </a:schemeClr>
          </a:solidFill>
          <a:ln/>
        </p:spPr>
      </p:sp>
      <p:sp>
        <p:nvSpPr>
          <p:cNvPr name="AutoShape 15" id="15"/>
          <p:cNvSpPr/>
          <p:nvPr/>
        </p:nvSpPr>
        <p:spPr>
          <a:xfrm rot="0">
            <a:off x="559320" y="1806416"/>
            <a:ext cx="5016791" cy="1942842"/>
          </a:xfrm>
          <a:prstGeom prst="roundRect">
            <a:avLst>
              <a:gd fmla="val 9132" name="adj"/>
            </a:avLst>
          </a:prstGeom>
          <a:solidFill>
            <a:schemeClr val="lt2">
              <a:alpha val="100000"/>
            </a:schemeClr>
          </a:solidFill>
          <a:ln w="19050">
            <a:solidFill>
              <a:schemeClr val="accent1">
                <a:alpha val="100000"/>
              </a:schemeClr>
            </a:solidFill>
            <a:prstDash val="solid"/>
          </a:ln>
        </p:spPr>
        <p:txBody>
          <a:bodyPr anchor="ctr" rtlCol="false" anchorCtr="false" vert="horz" wrap="square">
            <a:noAutofit/>
          </a:bodyPr>
          <a:lstStyle/>
          <a:p>
            <a:pPr algn="ctr">
              <a:lnSpc>
                <a:spcPct val="100000"/>
              </a:lnSpc>
              <a:spcBef>
                <a:spcPts val="375"/>
              </a:spcBef>
              <a:defRPr/>
            </a:pPr>
            <a:r>
              <a:rPr lang="en-US" sz="900">
                <a:solidFill>
                  <a:srgbClr val="000000">
                    <a:alpha val="100000"/>
                  </a:srgbClr>
                </a:solidFill>
                <a:latin typeface="Microsoft Yahei"/>
                <a:ea typeface="Microsoft Yahei"/>
                <a:cs typeface="Microsoft Yahei"/>
              </a:rPr>
              <a:t/>
            </a:r>
            <a:endParaRPr lang="en-US" sz="1100"/>
          </a:p>
        </p:txBody>
      </p:sp>
      <p:sp>
        <p:nvSpPr>
          <p:cNvPr name="TextBox 16" id="16"/>
          <p:cNvSpPr txBox="true"/>
          <p:nvPr/>
        </p:nvSpPr>
        <p:spPr>
          <a:xfrm rot="0">
            <a:off x="5110985" y="1320729"/>
            <a:ext cx="706755" cy="501015"/>
          </a:xfrm>
          <a:prstGeom prst="rect">
            <a:avLst/>
          </a:prstGeom>
          <a:ln/>
        </p:spPr>
        <p:txBody>
          <a:bodyPr anchor="t" rtlCol="false" lIns="91440" rIns="91440" tIns="45720" bIns="45720" anchorCtr="false" vert="horz" wrap="square">
            <a:spAutoFit/>
          </a:bodyPr>
          <a:lstStyle/>
          <a:p>
            <a:pPr>
              <a:lnSpc>
                <a:spcPct val="100000"/>
              </a:lnSpc>
              <a:spcBef>
                <a:spcPts val="375"/>
              </a:spcBef>
            </a:pPr>
            <a:r>
              <a:rPr lang="en-US" b="true" sz="2400">
                <a:solidFill>
                  <a:srgbClr val="FFFFFF">
                    <a:alpha val="100000"/>
                  </a:srgbClr>
                </a:solidFill>
                <a:latin typeface="Noto Sans SC"/>
                <a:ea typeface="Noto Sans SC"/>
                <a:cs typeface="Noto Sans SC"/>
              </a:rPr>
              <a:t>01</a:t>
            </a:r>
          </a:p>
        </p:txBody>
      </p:sp>
      <p:sp>
        <p:nvSpPr>
          <p:cNvPr name="AutoShape 17" id="17"/>
          <p:cNvSpPr/>
          <p:nvPr/>
        </p:nvSpPr>
        <p:spPr>
          <a:xfrm rot="0">
            <a:off x="748329" y="2021883"/>
            <a:ext cx="3810000" cy="454737"/>
          </a:xfrm>
          <a:prstGeom prst="rect">
            <a:avLst/>
          </a:prstGeom>
          <a:noFill/>
          <a:ln/>
        </p:spPr>
        <p:txBody>
          <a:bodyPr anchor="b" rtlCol="false" tIns="45720" lIns="91440" bIns="45720" rIns="91440" anchorCtr="true" vert="horz" wrap="square">
            <a:normAutofit/>
          </a:bodyPr>
          <a:lstStyle/>
          <a:p>
            <a:pPr algn="l">
              <a:defRPr/>
            </a:pPr>
            <a:r>
              <a:rPr lang="en-US" b="true" sz="1800">
                <a:solidFill>
                  <a:schemeClr val="accent1">
                    <a:alpha val="100000"/>
                  </a:schemeClr>
                </a:solidFill>
                <a:latin typeface="Noto Sans SC"/>
                <a:ea typeface="Noto Sans SC"/>
                <a:cs typeface="Noto Sans SC"/>
              </a:rPr>
              <a:t>Durable storage</a:t>
            </a:r>
            <a:endParaRPr lang="en-US" sz="1100"/>
          </a:p>
        </p:txBody>
      </p:sp>
      <p:sp>
        <p:nvSpPr>
          <p:cNvPr name="TextBox 18" id="18"/>
          <p:cNvSpPr txBox="true"/>
          <p:nvPr/>
        </p:nvSpPr>
        <p:spPr>
          <a:xfrm rot="0">
            <a:off x="748329" y="2500155"/>
            <a:ext cx="4638774" cy="922036"/>
          </a:xfrm>
          <a:prstGeom prst="rect">
            <a:avLst/>
          </a:prstGeom>
          <a:ln/>
        </p:spPr>
        <p:txBody>
          <a:bodyPr anchor="t" rtlCol="false" lIns="123825" rIns="57150" tIns="57150" bIns="57150"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Offers reliable storage for 3D models, textures, and other static content with 99.999999999% durability.</a:t>
            </a:r>
          </a:p>
        </p:txBody>
      </p:sp>
    </p:spTree>
  </p:cSld>
  <p:clrMapOvr>
    <a:masterClrMapping/>
  </p:clrMapOvr>
  <p:transition spd="slow">
    <p:push/>
  </p:transition>
</p:sld>
</file>

<file path=ppt/slides/slide11.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TextBox 2" id="2"/>
          <p:cNvSpPr txBox="true"/>
          <p:nvPr/>
        </p:nvSpPr>
        <p:spPr>
          <a:xfrm rot="0">
            <a:off x="476023" y="265328"/>
            <a:ext cx="11239500" cy="914400"/>
          </a:xfrm>
          <a:prstGeom prst="rect">
            <a:avLst/>
          </a:prstGeom>
          <a:ln/>
        </p:spPr>
        <p:txBody>
          <a:bodyPr anchor="ctr" rtlCol="false" lIns="123825" rIns="57150" tIns="123825" bIns="123825" anchorCtr="false" vert="horz" wrap="square">
            <a:noAutofit/>
          </a:bodyPr>
          <a:lstStyle/>
          <a:p>
            <a:pPr>
              <a:lnSpc>
                <a:spcPct val="140000"/>
              </a:lnSpc>
            </a:pPr>
            <a:r>
              <a:rPr lang="en-US" b="true" sz="3000">
                <a:solidFill>
                  <a:schemeClr val="dk2">
                    <a:alpha val="100000"/>
                  </a:schemeClr>
                </a:solidFill>
                <a:latin typeface="Noto Sans SC"/>
                <a:ea typeface="Noto Sans SC"/>
                <a:cs typeface="Noto Sans SC"/>
              </a:rPr>
              <a:t>Elastic Load Balancer (ELB)</a:t>
            </a:r>
          </a:p>
        </p:txBody>
      </p:sp>
      <p:cxnSp>
        <p:nvCxnSpPr>
          <p:cNvPr name="Connector 3" id="3"/>
          <p:cNvCxnSpPr/>
          <p:nvPr/>
        </p:nvCxnSpPr>
        <p:spPr>
          <a:xfrm>
            <a:off x="1253185" y="2298717"/>
            <a:ext cx="1246133" cy="0"/>
          </a:xfrm>
          <a:prstGeom prst="line">
            <a:avLst/>
          </a:prstGeom>
          <a:ln w="12700">
            <a:solidFill>
              <a:schemeClr val="accent1"/>
            </a:solidFill>
            <a:prstDash val="dash"/>
            <a:headEnd type="none"/>
            <a:tailEnd type="oval"/>
          </a:ln>
        </p:spPr>
        <p:style>
          <a:lnRef idx="0">
            <a:schemeClr val="accent1"/>
          </a:lnRef>
          <a:fillRef idx="1">
            <a:schemeClr val="accent1"/>
          </a:fillRef>
          <a:effectRef idx="0">
            <a:schemeClr val="accent1"/>
          </a:effectRef>
          <a:fontRef idx="minor">
            <a:schemeClr val="lt1"/>
          </a:fontRef>
        </p:style>
      </p:cxnSp>
      <p:cxnSp>
        <p:nvCxnSpPr>
          <p:cNvPr name="Connector 4" id="4"/>
          <p:cNvCxnSpPr/>
          <p:nvPr/>
        </p:nvCxnSpPr>
        <p:spPr>
          <a:xfrm>
            <a:off x="1254288" y="3896661"/>
            <a:ext cx="665253" cy="0"/>
          </a:xfrm>
          <a:prstGeom prst="line">
            <a:avLst/>
          </a:prstGeom>
          <a:ln w="12700">
            <a:solidFill>
              <a:schemeClr val="accent4"/>
            </a:solidFill>
            <a:prstDash val="dash"/>
            <a:headEnd type="none"/>
            <a:tailEnd type="oval"/>
          </a:ln>
        </p:spPr>
        <p:style>
          <a:lnRef idx="0">
            <a:schemeClr val="accent4"/>
          </a:lnRef>
          <a:fillRef idx="1">
            <a:schemeClr val="accent4"/>
          </a:fillRef>
          <a:effectRef idx="0">
            <a:schemeClr val="accent4"/>
          </a:effectRef>
          <a:fontRef idx="minor">
            <a:schemeClr val="lt1"/>
          </a:fontRef>
        </p:style>
      </p:cxnSp>
      <p:cxnSp>
        <p:nvCxnSpPr>
          <p:cNvPr name="Connector 5" id="5"/>
          <p:cNvCxnSpPr/>
          <p:nvPr/>
        </p:nvCxnSpPr>
        <p:spPr>
          <a:xfrm>
            <a:off x="1253185" y="5472872"/>
            <a:ext cx="1246133" cy="0"/>
          </a:xfrm>
          <a:prstGeom prst="line">
            <a:avLst/>
          </a:prstGeom>
          <a:ln w="12700">
            <a:solidFill>
              <a:schemeClr val="accent1"/>
            </a:solidFill>
            <a:prstDash val="dash"/>
            <a:headEnd type="none"/>
            <a:tailEnd type="oval"/>
          </a:ln>
        </p:spPr>
        <p:style>
          <a:lnRef idx="0">
            <a:schemeClr val="accent1"/>
          </a:lnRef>
          <a:fillRef idx="1">
            <a:schemeClr val="accent1"/>
          </a:fillRef>
          <a:effectRef idx="0">
            <a:schemeClr val="accent1"/>
          </a:effectRef>
          <a:fontRef idx="minor">
            <a:schemeClr val="lt1"/>
          </a:fontRef>
        </p:style>
      </p:cxnSp>
      <p:sp>
        <p:nvSpPr>
          <p:cNvPr name="AutoShape 6" id="6"/>
          <p:cNvSpPr/>
          <p:nvPr/>
        </p:nvSpPr>
        <p:spPr>
          <a:xfrm rot="0">
            <a:off x="622879" y="5154774"/>
            <a:ext cx="630365" cy="630269"/>
          </a:xfrm>
          <a:prstGeom prst="ellipse">
            <a:avLst/>
          </a:prstGeom>
          <a:solidFill>
            <a:schemeClr val="accent1">
              <a:alpha val="100000"/>
            </a:schemeClr>
          </a:solidFill>
          <a:ln/>
        </p:spPr>
      </p:sp>
      <p:grpSp>
        <p:nvGrpSpPr>
          <p:cNvPr name="Group 7" id="7"/>
          <p:cNvGrpSpPr/>
          <p:nvPr/>
        </p:nvGrpSpPr>
        <p:grpSpPr>
          <a:xfrm rot="0">
            <a:off x="622879" y="1983582"/>
            <a:ext cx="630365" cy="630269"/>
            <a:chOff x="622879" y="1983582"/>
            <a:chExt cx="630365" cy="630269"/>
          </a:xfrm>
        </p:grpSpPr>
        <p:sp>
          <p:nvSpPr>
            <p:cNvPr name="AutoShape 8" id="8"/>
            <p:cNvSpPr/>
            <p:nvPr/>
          </p:nvSpPr>
          <p:spPr>
            <a:xfrm rot="0">
              <a:off x="622879" y="1983582"/>
              <a:ext cx="630365" cy="630269"/>
            </a:xfrm>
            <a:prstGeom prst="ellipse">
              <a:avLst/>
            </a:prstGeom>
            <a:solidFill>
              <a:schemeClr val="accent1">
                <a:alpha val="100000"/>
              </a:schemeClr>
            </a:solidFill>
            <a:ln/>
          </p:spPr>
        </p:sp>
        <p:sp>
          <p:nvSpPr>
            <p:cNvPr name="Freeform 9" id="9"/>
            <p:cNvSpPr/>
            <p:nvPr/>
          </p:nvSpPr>
          <p:spPr>
            <a:xfrm rot="0">
              <a:off x="834905" y="2131125"/>
              <a:ext cx="234601" cy="304229"/>
            </a:xfrm>
            <a:custGeom>
              <a:avLst/>
              <a:gdLst/>
              <a:ahLst/>
              <a:cxnLst/>
              <a:rect r="r" b="b" t="t" l="l"/>
              <a:pathLst>
                <a:path h="568325" w="438150">
                  <a:moveTo>
                    <a:pt x="344255" y="320246"/>
                  </a:moveTo>
                  <a:cubicBezTo>
                    <a:pt x="393080" y="312737"/>
                    <a:pt x="434394" y="346528"/>
                    <a:pt x="438150" y="399092"/>
                  </a:cubicBezTo>
                  <a:cubicBezTo>
                    <a:pt x="438150" y="399092"/>
                    <a:pt x="438150" y="402847"/>
                    <a:pt x="438150" y="406601"/>
                  </a:cubicBezTo>
                  <a:cubicBezTo>
                    <a:pt x="438150" y="451656"/>
                    <a:pt x="438150" y="496711"/>
                    <a:pt x="438150" y="545520"/>
                  </a:cubicBezTo>
                  <a:cubicBezTo>
                    <a:pt x="438150" y="545520"/>
                    <a:pt x="438150" y="545520"/>
                    <a:pt x="438150" y="549275"/>
                  </a:cubicBezTo>
                  <a:cubicBezTo>
                    <a:pt x="438150" y="549275"/>
                    <a:pt x="438150" y="549275"/>
                    <a:pt x="284162" y="549275"/>
                  </a:cubicBezTo>
                  <a:cubicBezTo>
                    <a:pt x="284162" y="549275"/>
                    <a:pt x="284162" y="545520"/>
                    <a:pt x="284162" y="545520"/>
                  </a:cubicBezTo>
                  <a:cubicBezTo>
                    <a:pt x="284162" y="496711"/>
                    <a:pt x="284162" y="451656"/>
                    <a:pt x="284162" y="402847"/>
                  </a:cubicBezTo>
                  <a:cubicBezTo>
                    <a:pt x="284162" y="361546"/>
                    <a:pt x="310453" y="327755"/>
                    <a:pt x="344255" y="320246"/>
                  </a:cubicBezTo>
                  <a:close/>
                </a:path>
                <a:path h="568325" w="438150">
                  <a:moveTo>
                    <a:pt x="352879" y="200025"/>
                  </a:moveTo>
                  <a:cubicBezTo>
                    <a:pt x="352879" y="200025"/>
                    <a:pt x="352879" y="200025"/>
                    <a:pt x="356621" y="200025"/>
                  </a:cubicBezTo>
                  <a:cubicBezTo>
                    <a:pt x="356621" y="200025"/>
                    <a:pt x="356621" y="200025"/>
                    <a:pt x="367847" y="200025"/>
                  </a:cubicBezTo>
                  <a:cubicBezTo>
                    <a:pt x="371589" y="200025"/>
                    <a:pt x="375330" y="203767"/>
                    <a:pt x="379072" y="203767"/>
                  </a:cubicBezTo>
                  <a:cubicBezTo>
                    <a:pt x="401524" y="211251"/>
                    <a:pt x="412750" y="237445"/>
                    <a:pt x="409008" y="263638"/>
                  </a:cubicBezTo>
                  <a:cubicBezTo>
                    <a:pt x="405266" y="286090"/>
                    <a:pt x="386556" y="304800"/>
                    <a:pt x="360363" y="304800"/>
                  </a:cubicBezTo>
                  <a:cubicBezTo>
                    <a:pt x="337911" y="304800"/>
                    <a:pt x="319201" y="286090"/>
                    <a:pt x="311717" y="263638"/>
                  </a:cubicBezTo>
                  <a:cubicBezTo>
                    <a:pt x="307975" y="233703"/>
                    <a:pt x="326685" y="207509"/>
                    <a:pt x="352879" y="200025"/>
                  </a:cubicBezTo>
                  <a:close/>
                </a:path>
                <a:path h="568325" w="438150">
                  <a:moveTo>
                    <a:pt x="100853" y="196018"/>
                  </a:moveTo>
                  <a:cubicBezTo>
                    <a:pt x="175559" y="180975"/>
                    <a:pt x="246529" y="241146"/>
                    <a:pt x="254000" y="320120"/>
                  </a:cubicBezTo>
                  <a:cubicBezTo>
                    <a:pt x="254000" y="323881"/>
                    <a:pt x="254000" y="327642"/>
                    <a:pt x="254000" y="331402"/>
                  </a:cubicBezTo>
                  <a:cubicBezTo>
                    <a:pt x="254000" y="406616"/>
                    <a:pt x="254000" y="481829"/>
                    <a:pt x="254000" y="557043"/>
                  </a:cubicBezTo>
                  <a:cubicBezTo>
                    <a:pt x="254000" y="557043"/>
                    <a:pt x="254000" y="557043"/>
                    <a:pt x="254000" y="568325"/>
                  </a:cubicBezTo>
                  <a:cubicBezTo>
                    <a:pt x="254000" y="568325"/>
                    <a:pt x="254000" y="568325"/>
                    <a:pt x="0" y="568325"/>
                  </a:cubicBezTo>
                  <a:cubicBezTo>
                    <a:pt x="0" y="564564"/>
                    <a:pt x="0" y="564564"/>
                    <a:pt x="0" y="560804"/>
                  </a:cubicBezTo>
                  <a:cubicBezTo>
                    <a:pt x="0" y="485590"/>
                    <a:pt x="0" y="406616"/>
                    <a:pt x="0" y="327642"/>
                  </a:cubicBezTo>
                  <a:cubicBezTo>
                    <a:pt x="0" y="263710"/>
                    <a:pt x="44823" y="211060"/>
                    <a:pt x="100853" y="196018"/>
                  </a:cubicBezTo>
                  <a:close/>
                </a:path>
                <a:path h="568325" w="438150">
                  <a:moveTo>
                    <a:pt x="112091" y="0"/>
                  </a:moveTo>
                  <a:cubicBezTo>
                    <a:pt x="115818" y="0"/>
                    <a:pt x="115818" y="0"/>
                    <a:pt x="115818" y="0"/>
                  </a:cubicBezTo>
                  <a:cubicBezTo>
                    <a:pt x="115818" y="0"/>
                    <a:pt x="115818" y="0"/>
                    <a:pt x="138181" y="0"/>
                  </a:cubicBezTo>
                  <a:cubicBezTo>
                    <a:pt x="141909" y="0"/>
                    <a:pt x="149363" y="3762"/>
                    <a:pt x="153090" y="3762"/>
                  </a:cubicBezTo>
                  <a:cubicBezTo>
                    <a:pt x="190362" y="18808"/>
                    <a:pt x="212725" y="60187"/>
                    <a:pt x="205271" y="101566"/>
                  </a:cubicBezTo>
                  <a:cubicBezTo>
                    <a:pt x="197816" y="139183"/>
                    <a:pt x="164272" y="169276"/>
                    <a:pt x="127000" y="169276"/>
                  </a:cubicBezTo>
                  <a:cubicBezTo>
                    <a:pt x="89728" y="173038"/>
                    <a:pt x="56184" y="142944"/>
                    <a:pt x="48729" y="101566"/>
                  </a:cubicBezTo>
                  <a:cubicBezTo>
                    <a:pt x="41275" y="52664"/>
                    <a:pt x="71092" y="7523"/>
                    <a:pt x="112091" y="0"/>
                  </a:cubicBezTo>
                </a:path>
              </a:pathLst>
            </a:custGeom>
            <a:solidFill>
              <a:srgbClr val="FFFFFF">
                <a:alpha val="100000"/>
              </a:srgbClr>
            </a:solidFill>
            <a:ln/>
          </p:spPr>
        </p:sp>
      </p:grpSp>
      <p:sp>
        <p:nvSpPr>
          <p:cNvPr name="AutoShape 10" id="10"/>
          <p:cNvSpPr/>
          <p:nvPr/>
        </p:nvSpPr>
        <p:spPr>
          <a:xfrm rot="0">
            <a:off x="623942" y="3581527"/>
            <a:ext cx="630365" cy="630269"/>
          </a:xfrm>
          <a:prstGeom prst="ellipse">
            <a:avLst/>
          </a:prstGeom>
          <a:solidFill>
            <a:schemeClr val="accent1">
              <a:alpha val="100000"/>
            </a:schemeClr>
          </a:solidFill>
          <a:ln/>
        </p:spPr>
      </p:sp>
      <p:grpSp>
        <p:nvGrpSpPr>
          <p:cNvPr name="Group 11" id="11"/>
          <p:cNvGrpSpPr/>
          <p:nvPr/>
        </p:nvGrpSpPr>
        <p:grpSpPr>
          <a:xfrm rot="0">
            <a:off x="787200" y="3739737"/>
            <a:ext cx="313754" cy="313849"/>
            <a:chOff x="787200" y="3739737"/>
            <a:chExt cx="313754" cy="313849"/>
          </a:xfrm>
        </p:grpSpPr>
        <p:sp>
          <p:nvSpPr>
            <p:cNvPr name="Freeform 12" id="12"/>
            <p:cNvSpPr/>
            <p:nvPr/>
          </p:nvSpPr>
          <p:spPr>
            <a:xfrm rot="0">
              <a:off x="787200" y="3768884"/>
              <a:ext cx="284702" cy="284702"/>
            </a:xfrm>
            <a:custGeom>
              <a:avLst/>
              <a:gdLst/>
              <a:ahLst/>
              <a:cxnLst/>
              <a:rect r="r" b="b" t="t" l="l"/>
              <a:pathLst>
                <a:path h="184" w="184">
                  <a:moveTo>
                    <a:pt x="92" y="184"/>
                  </a:moveTo>
                  <a:cubicBezTo>
                    <a:pt x="143" y="184"/>
                    <a:pt x="184" y="143"/>
                    <a:pt x="184" y="92"/>
                  </a:cubicBezTo>
                  <a:cubicBezTo>
                    <a:pt x="184" y="76"/>
                    <a:pt x="180" y="62"/>
                    <a:pt x="173" y="49"/>
                  </a:cubicBezTo>
                  <a:cubicBezTo>
                    <a:pt x="172" y="49"/>
                    <a:pt x="172" y="49"/>
                    <a:pt x="171" y="49"/>
                  </a:cubicBezTo>
                  <a:cubicBezTo>
                    <a:pt x="170" y="49"/>
                    <a:pt x="170" y="49"/>
                    <a:pt x="170" y="49"/>
                  </a:cubicBezTo>
                  <a:cubicBezTo>
                    <a:pt x="158" y="48"/>
                    <a:pt x="158" y="48"/>
                    <a:pt x="158" y="48"/>
                  </a:cubicBezTo>
                  <a:cubicBezTo>
                    <a:pt x="149" y="56"/>
                    <a:pt x="149" y="56"/>
                    <a:pt x="149" y="56"/>
                  </a:cubicBezTo>
                  <a:cubicBezTo>
                    <a:pt x="156" y="67"/>
                    <a:pt x="160" y="79"/>
                    <a:pt x="160" y="92"/>
                  </a:cubicBezTo>
                  <a:cubicBezTo>
                    <a:pt x="160" y="129"/>
                    <a:pt x="129" y="160"/>
                    <a:pt x="92" y="160"/>
                  </a:cubicBezTo>
                  <a:cubicBezTo>
                    <a:pt x="55" y="160"/>
                    <a:pt x="24" y="129"/>
                    <a:pt x="24" y="92"/>
                  </a:cubicBezTo>
                  <a:cubicBezTo>
                    <a:pt x="24" y="55"/>
                    <a:pt x="55" y="24"/>
                    <a:pt x="92" y="24"/>
                  </a:cubicBezTo>
                  <a:cubicBezTo>
                    <a:pt x="105" y="24"/>
                    <a:pt x="117" y="28"/>
                    <a:pt x="128" y="35"/>
                  </a:cubicBezTo>
                  <a:cubicBezTo>
                    <a:pt x="135" y="27"/>
                    <a:pt x="135" y="27"/>
                    <a:pt x="135" y="27"/>
                  </a:cubicBezTo>
                  <a:cubicBezTo>
                    <a:pt x="134" y="14"/>
                    <a:pt x="134" y="14"/>
                    <a:pt x="134" y="14"/>
                  </a:cubicBezTo>
                  <a:cubicBezTo>
                    <a:pt x="134" y="12"/>
                    <a:pt x="134" y="11"/>
                    <a:pt x="134" y="10"/>
                  </a:cubicBezTo>
                  <a:cubicBezTo>
                    <a:pt x="122" y="4"/>
                    <a:pt x="107" y="0"/>
                    <a:pt x="92" y="0"/>
                  </a:cubicBezTo>
                  <a:cubicBezTo>
                    <a:pt x="41" y="0"/>
                    <a:pt x="0" y="41"/>
                    <a:pt x="0" y="92"/>
                  </a:cubicBezTo>
                  <a:cubicBezTo>
                    <a:pt x="0" y="143"/>
                    <a:pt x="41" y="184"/>
                    <a:pt x="92" y="184"/>
                  </a:cubicBezTo>
                  <a:close/>
                </a:path>
                <a:path h="184" w="184">
                  <a:moveTo>
                    <a:pt x="92" y="184"/>
                  </a:moveTo>
                  <a:cubicBezTo>
                    <a:pt x="92" y="184"/>
                    <a:pt x="92" y="184"/>
                    <a:pt x="92" y="184"/>
                  </a:cubicBezTo>
                </a:path>
              </a:pathLst>
            </a:custGeom>
            <a:solidFill>
              <a:srgbClr val="FFFFFF">
                <a:alpha val="100000"/>
              </a:srgbClr>
            </a:solidFill>
            <a:ln/>
          </p:spPr>
        </p:sp>
        <p:sp>
          <p:nvSpPr>
            <p:cNvPr name="Freeform 13" id="13"/>
            <p:cNvSpPr/>
            <p:nvPr/>
          </p:nvSpPr>
          <p:spPr>
            <a:xfrm rot="0">
              <a:off x="860067" y="3841654"/>
              <a:ext cx="139065" cy="139065"/>
            </a:xfrm>
            <a:custGeom>
              <a:avLst/>
              <a:gdLst/>
              <a:ahLst/>
              <a:cxnLst/>
              <a:rect r="r" b="b" t="t" l="l"/>
              <a:pathLst>
                <a:path h="90" w="90">
                  <a:moveTo>
                    <a:pt x="45" y="21"/>
                  </a:moveTo>
                  <a:cubicBezTo>
                    <a:pt x="46" y="21"/>
                    <a:pt x="46" y="21"/>
                    <a:pt x="47" y="21"/>
                  </a:cubicBezTo>
                  <a:cubicBezTo>
                    <a:pt x="64" y="4"/>
                    <a:pt x="64" y="4"/>
                    <a:pt x="64" y="4"/>
                  </a:cubicBezTo>
                  <a:cubicBezTo>
                    <a:pt x="64" y="4"/>
                    <a:pt x="64" y="4"/>
                    <a:pt x="64" y="4"/>
                  </a:cubicBezTo>
                  <a:cubicBezTo>
                    <a:pt x="58" y="1"/>
                    <a:pt x="52" y="0"/>
                    <a:pt x="45" y="0"/>
                  </a:cubicBezTo>
                  <a:cubicBezTo>
                    <a:pt x="20" y="0"/>
                    <a:pt x="0" y="20"/>
                    <a:pt x="0" y="45"/>
                  </a:cubicBezTo>
                  <a:cubicBezTo>
                    <a:pt x="0" y="70"/>
                    <a:pt x="20" y="90"/>
                    <a:pt x="45" y="90"/>
                  </a:cubicBezTo>
                  <a:cubicBezTo>
                    <a:pt x="70" y="90"/>
                    <a:pt x="90" y="70"/>
                    <a:pt x="90" y="45"/>
                  </a:cubicBezTo>
                  <a:cubicBezTo>
                    <a:pt x="90" y="38"/>
                    <a:pt x="89" y="32"/>
                    <a:pt x="86" y="26"/>
                  </a:cubicBezTo>
                  <a:cubicBezTo>
                    <a:pt x="86" y="26"/>
                    <a:pt x="86" y="26"/>
                    <a:pt x="86" y="26"/>
                  </a:cubicBezTo>
                  <a:cubicBezTo>
                    <a:pt x="69" y="43"/>
                    <a:pt x="69" y="43"/>
                    <a:pt x="69" y="43"/>
                  </a:cubicBezTo>
                  <a:cubicBezTo>
                    <a:pt x="69" y="44"/>
                    <a:pt x="69" y="44"/>
                    <a:pt x="69" y="45"/>
                  </a:cubicBezTo>
                  <a:cubicBezTo>
                    <a:pt x="69" y="58"/>
                    <a:pt x="58" y="69"/>
                    <a:pt x="45" y="69"/>
                  </a:cubicBezTo>
                  <a:cubicBezTo>
                    <a:pt x="32" y="69"/>
                    <a:pt x="21" y="58"/>
                    <a:pt x="21" y="45"/>
                  </a:cubicBezTo>
                  <a:cubicBezTo>
                    <a:pt x="21" y="32"/>
                    <a:pt x="32" y="21"/>
                    <a:pt x="45" y="21"/>
                  </a:cubicBezTo>
                  <a:close/>
                </a:path>
                <a:path h="90" w="90">
                  <a:moveTo>
                    <a:pt x="45" y="21"/>
                  </a:moveTo>
                  <a:cubicBezTo>
                    <a:pt x="45" y="21"/>
                    <a:pt x="45" y="21"/>
                    <a:pt x="45" y="21"/>
                  </a:cubicBezTo>
                </a:path>
              </a:pathLst>
            </a:custGeom>
            <a:solidFill>
              <a:srgbClr val="FFFFFF">
                <a:alpha val="100000"/>
              </a:srgbClr>
            </a:solidFill>
            <a:ln/>
          </p:spPr>
        </p:sp>
        <p:sp>
          <p:nvSpPr>
            <p:cNvPr name="Freeform 14" id="14"/>
            <p:cNvSpPr/>
            <p:nvPr/>
          </p:nvSpPr>
          <p:spPr>
            <a:xfrm rot="0">
              <a:off x="943410" y="3739737"/>
              <a:ext cx="157544" cy="157544"/>
            </a:xfrm>
            <a:custGeom>
              <a:avLst/>
              <a:gdLst/>
              <a:ahLst/>
              <a:cxnLst/>
              <a:rect r="r" b="b" t="t" l="l"/>
              <a:pathLst>
                <a:path h="102" w="102">
                  <a:moveTo>
                    <a:pt x="86" y="28"/>
                  </a:moveTo>
                  <a:cubicBezTo>
                    <a:pt x="91" y="23"/>
                    <a:pt x="91" y="23"/>
                    <a:pt x="91" y="23"/>
                  </a:cubicBezTo>
                  <a:cubicBezTo>
                    <a:pt x="93" y="20"/>
                    <a:pt x="93" y="17"/>
                    <a:pt x="91" y="14"/>
                  </a:cubicBezTo>
                  <a:cubicBezTo>
                    <a:pt x="87" y="11"/>
                    <a:pt x="87" y="11"/>
                    <a:pt x="87" y="11"/>
                  </a:cubicBezTo>
                  <a:cubicBezTo>
                    <a:pt x="86" y="10"/>
                    <a:pt x="85" y="9"/>
                    <a:pt x="83" y="9"/>
                  </a:cubicBezTo>
                  <a:cubicBezTo>
                    <a:pt x="82" y="9"/>
                    <a:pt x="80" y="10"/>
                    <a:pt x="79" y="11"/>
                  </a:cubicBezTo>
                  <a:cubicBezTo>
                    <a:pt x="74" y="17"/>
                    <a:pt x="74" y="17"/>
                    <a:pt x="74" y="17"/>
                  </a:cubicBezTo>
                  <a:cubicBezTo>
                    <a:pt x="72" y="2"/>
                    <a:pt x="72" y="2"/>
                    <a:pt x="72" y="2"/>
                  </a:cubicBezTo>
                  <a:cubicBezTo>
                    <a:pt x="72" y="0"/>
                    <a:pt x="71" y="0"/>
                    <a:pt x="70" y="0"/>
                  </a:cubicBezTo>
                  <a:cubicBezTo>
                    <a:pt x="70" y="0"/>
                    <a:pt x="69" y="0"/>
                    <a:pt x="69" y="0"/>
                  </a:cubicBezTo>
                  <a:cubicBezTo>
                    <a:pt x="47" y="23"/>
                    <a:pt x="47" y="23"/>
                    <a:pt x="47" y="23"/>
                  </a:cubicBezTo>
                  <a:cubicBezTo>
                    <a:pt x="45" y="25"/>
                    <a:pt x="44" y="28"/>
                    <a:pt x="44" y="30"/>
                  </a:cubicBezTo>
                  <a:cubicBezTo>
                    <a:pt x="44" y="31"/>
                    <a:pt x="44" y="31"/>
                    <a:pt x="44" y="31"/>
                  </a:cubicBezTo>
                  <a:cubicBezTo>
                    <a:pt x="45" y="45"/>
                    <a:pt x="45" y="45"/>
                    <a:pt x="45" y="45"/>
                  </a:cubicBezTo>
                  <a:cubicBezTo>
                    <a:pt x="37" y="53"/>
                    <a:pt x="37" y="53"/>
                    <a:pt x="37" y="53"/>
                  </a:cubicBezTo>
                  <a:cubicBezTo>
                    <a:pt x="22" y="68"/>
                    <a:pt x="22" y="68"/>
                    <a:pt x="22" y="68"/>
                  </a:cubicBezTo>
                  <a:cubicBezTo>
                    <a:pt x="22" y="68"/>
                    <a:pt x="22" y="68"/>
                    <a:pt x="22" y="68"/>
                  </a:cubicBezTo>
                  <a:cubicBezTo>
                    <a:pt x="8" y="82"/>
                    <a:pt x="8" y="82"/>
                    <a:pt x="8" y="82"/>
                  </a:cubicBezTo>
                  <a:cubicBezTo>
                    <a:pt x="2" y="89"/>
                    <a:pt x="2" y="89"/>
                    <a:pt x="2" y="89"/>
                  </a:cubicBezTo>
                  <a:cubicBezTo>
                    <a:pt x="1" y="90"/>
                    <a:pt x="0" y="91"/>
                    <a:pt x="0" y="92"/>
                  </a:cubicBezTo>
                  <a:cubicBezTo>
                    <a:pt x="0" y="97"/>
                    <a:pt x="0" y="97"/>
                    <a:pt x="0" y="97"/>
                  </a:cubicBezTo>
                  <a:cubicBezTo>
                    <a:pt x="0" y="100"/>
                    <a:pt x="2" y="102"/>
                    <a:pt x="5" y="102"/>
                  </a:cubicBezTo>
                  <a:cubicBezTo>
                    <a:pt x="5" y="102"/>
                    <a:pt x="5" y="102"/>
                    <a:pt x="5" y="102"/>
                  </a:cubicBezTo>
                  <a:cubicBezTo>
                    <a:pt x="10" y="102"/>
                    <a:pt x="10" y="102"/>
                    <a:pt x="10" y="102"/>
                  </a:cubicBezTo>
                  <a:cubicBezTo>
                    <a:pt x="11" y="102"/>
                    <a:pt x="12" y="101"/>
                    <a:pt x="13" y="100"/>
                  </a:cubicBezTo>
                  <a:cubicBezTo>
                    <a:pt x="57" y="56"/>
                    <a:pt x="57" y="56"/>
                    <a:pt x="57" y="56"/>
                  </a:cubicBezTo>
                  <a:cubicBezTo>
                    <a:pt x="70" y="57"/>
                    <a:pt x="70" y="57"/>
                    <a:pt x="70" y="57"/>
                  </a:cubicBezTo>
                  <a:cubicBezTo>
                    <a:pt x="71" y="57"/>
                    <a:pt x="71" y="57"/>
                    <a:pt x="71" y="57"/>
                  </a:cubicBezTo>
                  <a:cubicBezTo>
                    <a:pt x="71" y="57"/>
                    <a:pt x="71" y="57"/>
                    <a:pt x="71" y="57"/>
                  </a:cubicBezTo>
                  <a:cubicBezTo>
                    <a:pt x="74" y="57"/>
                    <a:pt x="77" y="56"/>
                    <a:pt x="78" y="54"/>
                  </a:cubicBezTo>
                  <a:cubicBezTo>
                    <a:pt x="101" y="32"/>
                    <a:pt x="101" y="32"/>
                    <a:pt x="101" y="32"/>
                  </a:cubicBezTo>
                  <a:cubicBezTo>
                    <a:pt x="102" y="31"/>
                    <a:pt x="101" y="29"/>
                    <a:pt x="100" y="29"/>
                  </a:cubicBezTo>
                  <a:lnTo>
                    <a:pt x="86" y="28"/>
                  </a:lnTo>
                  <a:close/>
                </a:path>
                <a:path h="102" w="102">
                  <a:moveTo>
                    <a:pt x="86" y="28"/>
                  </a:moveTo>
                  <a:cubicBezTo>
                    <a:pt x="86" y="28"/>
                    <a:pt x="86" y="28"/>
                    <a:pt x="86" y="28"/>
                  </a:cubicBezTo>
                </a:path>
              </a:pathLst>
            </a:custGeom>
            <a:solidFill>
              <a:srgbClr val="FFFFFF">
                <a:alpha val="100000"/>
              </a:srgbClr>
            </a:solidFill>
            <a:ln/>
          </p:spPr>
        </p:sp>
      </p:grpSp>
      <p:pic>
        <p:nvPicPr>
          <p:cNvPr name="Picture 15" id="15"/>
          <p:cNvPicPr>
            <a:picLocks noChangeAspect="true"/>
          </p:cNvPicPr>
          <p:nvPr/>
        </p:nvPicPr>
        <p:blipFill>
          <a:blip r:embed="rId3">
            <a:alphaModFix amt="100000"/>
          </a:blip>
          <a:srcRect l="32308" r="32308"/>
          <a:stretch>
            <a:fillRect/>
          </a:stretch>
        </p:blipFill>
        <p:spPr>
          <a:xfrm rot="0">
            <a:off x="9113195" y="1518646"/>
            <a:ext cx="2479016" cy="4586129"/>
          </a:xfrm>
          <a:prstGeom prst="rect">
            <a:avLst/>
          </a:prstGeom>
        </p:spPr>
      </p:pic>
      <p:sp>
        <p:nvSpPr>
          <p:cNvPr name="Freeform 16" id="16"/>
          <p:cNvSpPr/>
          <p:nvPr/>
        </p:nvSpPr>
        <p:spPr>
          <a:xfrm rot="0">
            <a:off x="789992" y="5321840"/>
            <a:ext cx="296138" cy="296138"/>
          </a:xfrm>
          <a:custGeom>
            <a:avLst/>
            <a:gdLst/>
            <a:ahLst/>
            <a:cxnLst/>
            <a:rect r="r" b="b" t="t" l="l"/>
            <a:pathLst>
              <a:path h="304800" w="304800">
                <a:moveTo>
                  <a:pt x="0" y="209550"/>
                </a:moveTo>
                <a:lnTo>
                  <a:pt x="152410" y="247650"/>
                </a:lnTo>
                <a:lnTo>
                  <a:pt x="304800" y="209550"/>
                </a:lnTo>
                <a:lnTo>
                  <a:pt x="304800" y="247650"/>
                </a:lnTo>
                <a:lnTo>
                  <a:pt x="152410" y="285750"/>
                </a:lnTo>
                <a:lnTo>
                  <a:pt x="0" y="247650"/>
                </a:lnTo>
                <a:close/>
              </a:path>
              <a:path h="304800" w="304800">
                <a:moveTo>
                  <a:pt x="0" y="133350"/>
                </a:moveTo>
                <a:lnTo>
                  <a:pt x="152410" y="171450"/>
                </a:lnTo>
                <a:lnTo>
                  <a:pt x="304800" y="133350"/>
                </a:lnTo>
                <a:lnTo>
                  <a:pt x="304800" y="171450"/>
                </a:lnTo>
                <a:lnTo>
                  <a:pt x="152410" y="209550"/>
                </a:lnTo>
                <a:lnTo>
                  <a:pt x="0" y="171450"/>
                </a:lnTo>
                <a:close/>
              </a:path>
              <a:path h="304800" w="304800">
                <a:moveTo>
                  <a:pt x="0" y="57150"/>
                </a:moveTo>
                <a:lnTo>
                  <a:pt x="152410" y="19050"/>
                </a:lnTo>
                <a:lnTo>
                  <a:pt x="304800" y="57150"/>
                </a:lnTo>
                <a:lnTo>
                  <a:pt x="304800" y="95250"/>
                </a:lnTo>
                <a:lnTo>
                  <a:pt x="152410" y="133350"/>
                </a:lnTo>
                <a:lnTo>
                  <a:pt x="0" y="95250"/>
                </a:lnTo>
              </a:path>
            </a:pathLst>
          </a:custGeom>
          <a:solidFill>
            <a:srgbClr val="FFFFFF">
              <a:alpha val="100000"/>
            </a:srgbClr>
          </a:solidFill>
          <a:ln/>
        </p:spPr>
      </p:sp>
      <p:sp>
        <p:nvSpPr>
          <p:cNvPr name="AutoShape 17" id="17"/>
          <p:cNvSpPr/>
          <p:nvPr/>
        </p:nvSpPr>
        <p:spPr>
          <a:xfrm rot="0">
            <a:off x="2538370" y="4778628"/>
            <a:ext cx="6360812" cy="1388488"/>
          </a:xfrm>
          <a:prstGeom prst="roundRect">
            <a:avLst>
              <a:gd fmla="val 16667" name="adj"/>
            </a:avLst>
          </a:prstGeom>
          <a:solidFill>
            <a:schemeClr val="lt2">
              <a:alpha val="100000"/>
            </a:schemeClr>
          </a:solidFill>
          <a:ln/>
        </p:spPr>
      </p:sp>
      <p:sp>
        <p:nvSpPr>
          <p:cNvPr name="AutoShape 18" id="18"/>
          <p:cNvSpPr/>
          <p:nvPr/>
        </p:nvSpPr>
        <p:spPr>
          <a:xfrm rot="0">
            <a:off x="2025135" y="3202417"/>
            <a:ext cx="6666876" cy="1388488"/>
          </a:xfrm>
          <a:prstGeom prst="roundRect">
            <a:avLst>
              <a:gd fmla="val 16667" name="adj"/>
            </a:avLst>
          </a:prstGeom>
          <a:solidFill>
            <a:schemeClr val="lt2">
              <a:alpha val="100000"/>
            </a:schemeClr>
          </a:solidFill>
          <a:ln/>
        </p:spPr>
      </p:sp>
      <p:sp>
        <p:nvSpPr>
          <p:cNvPr name="AutoShape 19" id="19"/>
          <p:cNvSpPr/>
          <p:nvPr/>
        </p:nvSpPr>
        <p:spPr>
          <a:xfrm rot="0">
            <a:off x="2538370" y="1604473"/>
            <a:ext cx="6360812" cy="1388488"/>
          </a:xfrm>
          <a:prstGeom prst="roundRect">
            <a:avLst>
              <a:gd fmla="val 16667" name="adj"/>
            </a:avLst>
          </a:prstGeom>
          <a:solidFill>
            <a:schemeClr val="lt2">
              <a:alpha val="100000"/>
            </a:schemeClr>
          </a:solidFill>
          <a:ln/>
        </p:spPr>
      </p:sp>
      <p:sp>
        <p:nvSpPr>
          <p:cNvPr name="AutoShape 20" id="20"/>
          <p:cNvSpPr/>
          <p:nvPr/>
        </p:nvSpPr>
        <p:spPr>
          <a:xfrm rot="0">
            <a:off x="2712351" y="2120937"/>
            <a:ext cx="6067067" cy="716727"/>
          </a:xfrm>
          <a:prstGeom prst="rect">
            <a:avLst/>
          </a:prstGeom>
          <a:noFill/>
          <a:ln/>
        </p:spPr>
        <p:txBody>
          <a:bodyPr anchor="t" rtlCol="false" tIns="68770" lIns="68770" bIns="68770" rIns="34385" anchorCtr="true" vert="horz" wrap="square">
            <a:noAutofit/>
          </a:bodyPr>
          <a:lstStyle/>
          <a:p>
            <a:pPr algn="l">
              <a:lnSpc>
                <a:spcPct val="140000"/>
              </a:lnSpc>
              <a:spcBef>
                <a:spcPts val="270"/>
              </a:spcBef>
              <a:defRPr/>
            </a:pPr>
            <a:r>
              <a:rPr lang="en-US" sz="2000">
                <a:solidFill>
                  <a:schemeClr val="dk1">
                    <a:alpha val="100000"/>
                  </a:schemeClr>
                </a:solidFill>
                <a:latin typeface="Noto Sans SC"/>
                <a:ea typeface="Noto Sans SC"/>
                <a:cs typeface="Noto Sans SC"/>
              </a:rPr>
              <a:t>Directs incoming requests evenly among backend EC2 instances, ensuring balanced workloads.</a:t>
            </a:r>
            <a:endParaRPr lang="en-US" sz="1100"/>
          </a:p>
        </p:txBody>
      </p:sp>
      <p:sp>
        <p:nvSpPr>
          <p:cNvPr name="TextBox 21" id="21"/>
          <p:cNvSpPr txBox="true"/>
          <p:nvPr/>
        </p:nvSpPr>
        <p:spPr>
          <a:xfrm rot="0">
            <a:off x="2712351" y="1651578"/>
            <a:ext cx="3577915" cy="485775"/>
          </a:xfrm>
          <a:prstGeom prst="rect">
            <a:avLst/>
          </a:prstGeom>
          <a:ln/>
        </p:spPr>
        <p:txBody>
          <a:bodyPr anchor="t" rtlCol="false" lIns="95250" rIns="47625" tIns="95250" bIns="95250" anchorCtr="false" vert="horz" wrap="square">
            <a:noAutofit/>
          </a:bodyPr>
          <a:lstStyle/>
          <a:p>
            <a:pPr algn="l">
              <a:lnSpc>
                <a:spcPct val="120000"/>
              </a:lnSpc>
              <a:spcBef>
                <a:spcPts val="375"/>
              </a:spcBef>
            </a:pPr>
            <a:r>
              <a:rPr lang="en-US" b="true" sz="2000">
                <a:solidFill>
                  <a:schemeClr val="accent1">
                    <a:alpha val="100000"/>
                  </a:schemeClr>
                </a:solidFill>
                <a:latin typeface="Noto Sans SC"/>
                <a:ea typeface="Noto Sans SC"/>
                <a:cs typeface="Noto Sans SC"/>
              </a:rPr>
              <a:t>Traffic distribution</a:t>
            </a:r>
          </a:p>
        </p:txBody>
      </p:sp>
      <p:sp>
        <p:nvSpPr>
          <p:cNvPr name="AutoShape 22" id="22"/>
          <p:cNvSpPr/>
          <p:nvPr/>
        </p:nvSpPr>
        <p:spPr>
          <a:xfrm rot="0">
            <a:off x="2305573" y="3715263"/>
            <a:ext cx="6086117" cy="716727"/>
          </a:xfrm>
          <a:prstGeom prst="rect">
            <a:avLst/>
          </a:prstGeom>
          <a:noFill/>
          <a:ln/>
        </p:spPr>
        <p:txBody>
          <a:bodyPr anchor="t" rtlCol="false" tIns="68770" lIns="68770" bIns="68770" rIns="34385" anchorCtr="true" vert="horz" wrap="square">
            <a:noAutofit/>
          </a:bodyPr>
          <a:lstStyle/>
          <a:p>
            <a:pPr algn="l">
              <a:lnSpc>
                <a:spcPct val="140000"/>
              </a:lnSpc>
              <a:spcBef>
                <a:spcPts val="270"/>
              </a:spcBef>
              <a:defRPr/>
            </a:pPr>
            <a:r>
              <a:rPr lang="en-US" sz="2000">
                <a:solidFill>
                  <a:schemeClr val="dk1">
                    <a:alpha val="100000"/>
                  </a:schemeClr>
                </a:solidFill>
                <a:latin typeface="Noto Sans SC"/>
                <a:ea typeface="Noto Sans SC"/>
                <a:cs typeface="Noto Sans SC"/>
              </a:rPr>
              <a:t>Works in tandem with Auto Scaling to handle traffic spikes and maintain performance.</a:t>
            </a:r>
            <a:endParaRPr lang="en-US" sz="1100"/>
          </a:p>
        </p:txBody>
      </p:sp>
      <p:sp>
        <p:nvSpPr>
          <p:cNvPr name="TextBox 23" id="23"/>
          <p:cNvSpPr txBox="true"/>
          <p:nvPr/>
        </p:nvSpPr>
        <p:spPr>
          <a:xfrm rot="0">
            <a:off x="2305573" y="3270403"/>
            <a:ext cx="3577915" cy="485775"/>
          </a:xfrm>
          <a:prstGeom prst="rect">
            <a:avLst/>
          </a:prstGeom>
          <a:ln/>
        </p:spPr>
        <p:txBody>
          <a:bodyPr anchor="t" rtlCol="false" lIns="95250" rIns="47625" tIns="95250" bIns="95250" anchorCtr="false" vert="horz" wrap="square">
            <a:noAutofit/>
          </a:bodyPr>
          <a:lstStyle/>
          <a:p>
            <a:pPr algn="l">
              <a:lnSpc>
                <a:spcPct val="120000"/>
              </a:lnSpc>
              <a:spcBef>
                <a:spcPts val="375"/>
              </a:spcBef>
            </a:pPr>
            <a:r>
              <a:rPr lang="en-US" b="true" sz="2000">
                <a:solidFill>
                  <a:schemeClr val="accent1">
                    <a:alpha val="100000"/>
                  </a:schemeClr>
                </a:solidFill>
                <a:latin typeface="Noto Sans SC"/>
                <a:ea typeface="Noto Sans SC"/>
                <a:cs typeface="Noto Sans SC"/>
              </a:rPr>
              <a:t>Auto-scaling integration</a:t>
            </a:r>
          </a:p>
        </p:txBody>
      </p:sp>
      <p:sp>
        <p:nvSpPr>
          <p:cNvPr name="AutoShape 24" id="24"/>
          <p:cNvSpPr/>
          <p:nvPr/>
        </p:nvSpPr>
        <p:spPr>
          <a:xfrm rot="0">
            <a:off x="2712351" y="5261145"/>
            <a:ext cx="6067067" cy="716727"/>
          </a:xfrm>
          <a:prstGeom prst="rect">
            <a:avLst/>
          </a:prstGeom>
          <a:noFill/>
          <a:ln/>
        </p:spPr>
        <p:txBody>
          <a:bodyPr anchor="t" rtlCol="false" tIns="68770" lIns="68770" bIns="68770" rIns="34385" anchorCtr="true" vert="horz" wrap="square">
            <a:noAutofit/>
          </a:bodyPr>
          <a:lstStyle/>
          <a:p>
            <a:pPr algn="l">
              <a:lnSpc>
                <a:spcPct val="140000"/>
              </a:lnSpc>
              <a:spcBef>
                <a:spcPts val="270"/>
              </a:spcBef>
              <a:defRPr/>
            </a:pPr>
            <a:r>
              <a:rPr lang="en-US" sz="2000">
                <a:solidFill>
                  <a:schemeClr val="dk1">
                    <a:alpha val="100000"/>
                  </a:schemeClr>
                </a:solidFill>
                <a:latin typeface="Noto Sans SC"/>
                <a:ea typeface="Noto Sans SC"/>
                <a:cs typeface="Noto Sans SC"/>
              </a:rPr>
              <a:t>Operates across multiple availability zones (AZs), ensuring high availability and minimizing failures.</a:t>
            </a:r>
            <a:endParaRPr lang="en-US" sz="1100"/>
          </a:p>
        </p:txBody>
      </p:sp>
      <p:sp>
        <p:nvSpPr>
          <p:cNvPr name="TextBox 25" id="25"/>
          <p:cNvSpPr txBox="true"/>
          <p:nvPr/>
        </p:nvSpPr>
        <p:spPr>
          <a:xfrm rot="0">
            <a:off x="2712351" y="4848175"/>
            <a:ext cx="3604529" cy="485775"/>
          </a:xfrm>
          <a:prstGeom prst="rect">
            <a:avLst/>
          </a:prstGeom>
          <a:ln/>
        </p:spPr>
        <p:txBody>
          <a:bodyPr anchor="t" rtlCol="false" lIns="95250" rIns="47625" tIns="95250" bIns="95250" anchorCtr="false" vert="horz" wrap="square">
            <a:noAutofit/>
          </a:bodyPr>
          <a:lstStyle/>
          <a:p>
            <a:pPr algn="l">
              <a:lnSpc>
                <a:spcPct val="120000"/>
              </a:lnSpc>
              <a:spcBef>
                <a:spcPts val="375"/>
              </a:spcBef>
            </a:pPr>
            <a:r>
              <a:rPr lang="en-US" b="true" sz="2000">
                <a:solidFill>
                  <a:schemeClr val="accent1">
                    <a:alpha val="100000"/>
                  </a:schemeClr>
                </a:solidFill>
                <a:latin typeface="Noto Sans SC"/>
                <a:ea typeface="Noto Sans SC"/>
                <a:cs typeface="Noto Sans SC"/>
              </a:rPr>
              <a:t>Fault tolerance</a:t>
            </a:r>
          </a:p>
        </p:txBody>
      </p:sp>
    </p:spTree>
  </p:cSld>
  <p:clrMapOvr>
    <a:masterClrMapping/>
  </p:clrMapOvr>
  <p:transition spd="slow">
    <p:push/>
  </p:transition>
</p:sld>
</file>

<file path=ppt/slides/slide12.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3">
            <a:alphaModFix amt="100000"/>
          </a:blip>
          <a:srcRect l="28429" r="28429"/>
          <a:stretch>
            <a:fillRect/>
          </a:stretch>
        </p:blipFill>
        <p:spPr>
          <a:xfrm rot="0">
            <a:off x="622446" y="1487175"/>
            <a:ext cx="2817673" cy="4637054"/>
          </a:xfrm>
          <a:prstGeom prst="rect">
            <a:avLst/>
          </a:prstGeom>
        </p:spPr>
      </p:pic>
      <p:sp>
        <p:nvSpPr>
          <p:cNvPr name="TextBox 3" id="3"/>
          <p:cNvSpPr txBox="true"/>
          <p:nvPr/>
        </p:nvSpPr>
        <p:spPr>
          <a:xfrm rot="0">
            <a:off x="476023" y="265328"/>
            <a:ext cx="11239500" cy="942975"/>
          </a:xfrm>
          <a:prstGeom prst="rect">
            <a:avLst/>
          </a:prstGeom>
          <a:ln/>
        </p:spPr>
        <p:txBody>
          <a:bodyPr anchor="t" rtlCol="false" lIns="123825" rIns="57150" tIns="123825" bIns="123825" anchorCtr="false" vert="horz" wrap="square">
            <a:spAutoFit/>
          </a:bodyPr>
          <a:lstStyle/>
          <a:p>
            <a:pPr>
              <a:lnSpc>
                <a:spcPct val="140000"/>
              </a:lnSpc>
            </a:pPr>
            <a:r>
              <a:rPr lang="en-US" b="true" sz="3000">
                <a:solidFill>
                  <a:schemeClr val="dk2">
                    <a:alpha val="100000"/>
                  </a:schemeClr>
                </a:solidFill>
                <a:latin typeface="Noto Sans SC"/>
                <a:ea typeface="Noto Sans SC"/>
                <a:cs typeface="Noto Sans SC"/>
              </a:rPr>
              <a:t>Backend Compute</a:t>
            </a:r>
          </a:p>
        </p:txBody>
      </p:sp>
      <p:cxnSp>
        <p:nvCxnSpPr>
          <p:cNvPr name="Connector 4" id="4"/>
          <p:cNvCxnSpPr/>
          <p:nvPr/>
        </p:nvCxnSpPr>
        <p:spPr>
          <a:xfrm>
            <a:off x="3939321" y="1483603"/>
            <a:ext cx="0" cy="4629523"/>
          </a:xfrm>
          <a:prstGeom prst="line">
            <a:avLst/>
          </a:prstGeom>
          <a:ln w="19050">
            <a:solidFill>
              <a:schemeClr val="accent1"/>
            </a:solidFill>
            <a:prstDash val="dash"/>
            <a:headEnd type="none"/>
            <a:tailEnd type="none"/>
          </a:ln>
        </p:spPr>
        <p:style>
          <a:lnRef idx="0">
            <a:schemeClr val="accent1"/>
          </a:lnRef>
          <a:fillRef idx="1">
            <a:schemeClr val="accent1"/>
          </a:fillRef>
          <a:effectRef idx="0">
            <a:schemeClr val="accent1"/>
          </a:effectRef>
          <a:fontRef idx="minor">
            <a:schemeClr val="lt1"/>
          </a:fontRef>
        </p:style>
      </p:cxnSp>
      <p:sp>
        <p:nvSpPr>
          <p:cNvPr name="AutoShape 5" id="5"/>
          <p:cNvSpPr/>
          <p:nvPr/>
        </p:nvSpPr>
        <p:spPr>
          <a:xfrm rot="0">
            <a:off x="3782159" y="1586749"/>
            <a:ext cx="314325" cy="314325"/>
          </a:xfrm>
          <a:prstGeom prst="ellipse">
            <a:avLst/>
          </a:prstGeom>
          <a:solidFill>
            <a:schemeClr val="accent1">
              <a:alpha val="20000"/>
            </a:schemeClr>
          </a:solidFill>
          <a:ln/>
        </p:spPr>
      </p:sp>
      <p:sp>
        <p:nvSpPr>
          <p:cNvPr name="AutoShape 6" id="6"/>
          <p:cNvSpPr/>
          <p:nvPr/>
        </p:nvSpPr>
        <p:spPr>
          <a:xfrm rot="0">
            <a:off x="3834546" y="1639137"/>
            <a:ext cx="209550" cy="209550"/>
          </a:xfrm>
          <a:prstGeom prst="ellipse">
            <a:avLst/>
          </a:prstGeom>
          <a:solidFill>
            <a:schemeClr val="accent1">
              <a:alpha val="100000"/>
            </a:schemeClr>
          </a:solidFill>
          <a:ln/>
        </p:spPr>
      </p:sp>
      <p:sp>
        <p:nvSpPr>
          <p:cNvPr name="TextBox 7" id="7"/>
          <p:cNvSpPr txBox="true"/>
          <p:nvPr/>
        </p:nvSpPr>
        <p:spPr>
          <a:xfrm rot="0">
            <a:off x="4186783" y="1901074"/>
            <a:ext cx="7494623" cy="1045357"/>
          </a:xfrm>
          <a:prstGeom prst="rect">
            <a:avLst/>
          </a:prstGeom>
          <a:ln/>
        </p:spPr>
        <p:txBody>
          <a:bodyPr anchor="t" rtlCol="false" lIns="123825" rIns="57150" tIns="123825" bIns="123825" anchorCtr="false" vert="horz" wrap="square">
            <a:noAutofit/>
          </a:bodyPr>
          <a:lstStyle/>
          <a:p>
            <a:pPr>
              <a:lnSpc>
                <a:spcPct val="140000"/>
              </a:lnSpc>
            </a:pPr>
            <a:r>
              <a:rPr lang="en-US" sz="2000">
                <a:solidFill>
                  <a:schemeClr val="dk1">
                    <a:alpha val="100000"/>
                  </a:schemeClr>
                </a:solidFill>
                <a:latin typeface="Noto Sans SC"/>
                <a:ea typeface="Noto Sans SC"/>
                <a:cs typeface="Noto Sans SC"/>
              </a:rPr>
              <a:t>Executes primary dynamic tasks such as managing user sessions and processing checkout workflows effectively.</a:t>
            </a:r>
          </a:p>
        </p:txBody>
      </p:sp>
      <p:sp>
        <p:nvSpPr>
          <p:cNvPr name="TextBox 8" id="8"/>
          <p:cNvSpPr txBox="true"/>
          <p:nvPr/>
        </p:nvSpPr>
        <p:spPr>
          <a:xfrm rot="0">
            <a:off x="4186783" y="1312527"/>
            <a:ext cx="6886575" cy="765904"/>
          </a:xfrm>
          <a:prstGeom prst="rect">
            <a:avLst/>
          </a:prstGeom>
          <a:ln/>
        </p:spPr>
        <p:txBody>
          <a:bodyPr anchor="b" rtlCol="false" lIns="123825" rIns="57150" tIns="123825" bIns="123825" anchorCtr="false" vert="horz" wrap="square">
            <a:noAutofit/>
          </a:bodyPr>
          <a:lstStyle/>
          <a:p>
            <a:pPr>
              <a:lnSpc>
                <a:spcPct val="140000"/>
              </a:lnSpc>
            </a:pPr>
            <a:r>
              <a:rPr lang="en-US" b="true" sz="2400">
                <a:solidFill>
                  <a:schemeClr val="accent1">
                    <a:alpha val="100000"/>
                  </a:schemeClr>
                </a:solidFill>
                <a:latin typeface="Noto Sans SC"/>
                <a:ea typeface="Noto Sans SC"/>
                <a:cs typeface="Noto Sans SC"/>
              </a:rPr>
              <a:t>EC2 for main application</a:t>
            </a:r>
          </a:p>
        </p:txBody>
      </p:sp>
      <p:sp>
        <p:nvSpPr>
          <p:cNvPr name="TextBox 9" id="9"/>
          <p:cNvSpPr txBox="true"/>
          <p:nvPr/>
        </p:nvSpPr>
        <p:spPr>
          <a:xfrm rot="0">
            <a:off x="4186783" y="3483832"/>
            <a:ext cx="7494623" cy="1102160"/>
          </a:xfrm>
          <a:prstGeom prst="rect">
            <a:avLst/>
          </a:prstGeom>
          <a:ln/>
        </p:spPr>
        <p:txBody>
          <a:bodyPr anchor="t" rtlCol="false" lIns="123825" rIns="57150" tIns="123825" bIns="123825" anchorCtr="false" vert="horz" wrap="square">
            <a:noAutofit/>
          </a:bodyPr>
          <a:lstStyle/>
          <a:p>
            <a:pPr>
              <a:lnSpc>
                <a:spcPct val="140000"/>
              </a:lnSpc>
            </a:pPr>
            <a:r>
              <a:rPr lang="en-US" sz="2000">
                <a:solidFill>
                  <a:schemeClr val="dk1">
                    <a:alpha val="100000"/>
                  </a:schemeClr>
                </a:solidFill>
                <a:latin typeface="Noto Sans SC"/>
                <a:ea typeface="Noto Sans SC"/>
                <a:cs typeface="Noto Sans SC"/>
              </a:rPr>
              <a:t>Performs on-demand image/video processing and thumbnail generation of 3D models, reducing server load.</a:t>
            </a:r>
          </a:p>
        </p:txBody>
      </p:sp>
      <p:sp>
        <p:nvSpPr>
          <p:cNvPr name="TextBox 10" id="10"/>
          <p:cNvSpPr txBox="true"/>
          <p:nvPr/>
        </p:nvSpPr>
        <p:spPr>
          <a:xfrm rot="0">
            <a:off x="4186783" y="3000522"/>
            <a:ext cx="6886575" cy="765904"/>
          </a:xfrm>
          <a:prstGeom prst="rect">
            <a:avLst/>
          </a:prstGeom>
          <a:ln/>
        </p:spPr>
        <p:txBody>
          <a:bodyPr anchor="b" rtlCol="false" lIns="123825" rIns="57150" tIns="123825" bIns="123825" anchorCtr="false" vert="horz" wrap="square">
            <a:noAutofit/>
          </a:bodyPr>
          <a:lstStyle/>
          <a:p>
            <a:pPr>
              <a:lnSpc>
                <a:spcPct val="140000"/>
              </a:lnSpc>
            </a:pPr>
            <a:r>
              <a:rPr lang="en-US" b="true" sz="2400">
                <a:solidFill>
                  <a:schemeClr val="accent1">
                    <a:alpha val="100000"/>
                  </a:schemeClr>
                </a:solidFill>
                <a:latin typeface="Noto Sans SC"/>
                <a:ea typeface="Noto Sans SC"/>
                <a:cs typeface="Noto Sans SC"/>
              </a:rPr>
              <a:t>AWS Lambda for serverless tasks</a:t>
            </a:r>
          </a:p>
        </p:txBody>
      </p:sp>
      <p:sp>
        <p:nvSpPr>
          <p:cNvPr name="TextBox 11" id="11"/>
          <p:cNvSpPr txBox="true"/>
          <p:nvPr/>
        </p:nvSpPr>
        <p:spPr>
          <a:xfrm rot="0">
            <a:off x="4186783" y="5151401"/>
            <a:ext cx="7494623" cy="1102160"/>
          </a:xfrm>
          <a:prstGeom prst="rect">
            <a:avLst/>
          </a:prstGeom>
          <a:ln/>
        </p:spPr>
        <p:txBody>
          <a:bodyPr anchor="t" rtlCol="false" lIns="123825" rIns="57150" tIns="123825" bIns="123825" anchorCtr="false" vert="horz" wrap="square">
            <a:noAutofit/>
          </a:bodyPr>
          <a:lstStyle/>
          <a:p>
            <a:pPr>
              <a:lnSpc>
                <a:spcPct val="140000"/>
              </a:lnSpc>
            </a:pPr>
            <a:r>
              <a:rPr lang="en-US" sz="2000">
                <a:solidFill>
                  <a:schemeClr val="dk1">
                    <a:alpha val="100000"/>
                  </a:schemeClr>
                </a:solidFill>
                <a:latin typeface="Noto Sans SC"/>
                <a:ea typeface="Noto Sans SC"/>
                <a:cs typeface="Noto Sans SC"/>
              </a:rPr>
              <a:t>Employs serverless processing for smaller, time-sensitive tasks, ensuring efficient resource usage.</a:t>
            </a:r>
          </a:p>
        </p:txBody>
      </p:sp>
      <p:sp>
        <p:nvSpPr>
          <p:cNvPr name="TextBox 12" id="12"/>
          <p:cNvSpPr txBox="true"/>
          <p:nvPr/>
        </p:nvSpPr>
        <p:spPr>
          <a:xfrm rot="0">
            <a:off x="4186783" y="4658564"/>
            <a:ext cx="6886575" cy="765904"/>
          </a:xfrm>
          <a:prstGeom prst="rect">
            <a:avLst/>
          </a:prstGeom>
          <a:ln/>
        </p:spPr>
        <p:txBody>
          <a:bodyPr anchor="b" rtlCol="false" lIns="123825" rIns="57150" tIns="123825" bIns="123825" anchorCtr="false" vert="horz" wrap="square">
            <a:noAutofit/>
          </a:bodyPr>
          <a:lstStyle/>
          <a:p>
            <a:pPr>
              <a:lnSpc>
                <a:spcPct val="140000"/>
              </a:lnSpc>
            </a:pPr>
            <a:r>
              <a:rPr lang="en-US" b="true" sz="2400">
                <a:solidFill>
                  <a:schemeClr val="accent1">
                    <a:alpha val="100000"/>
                  </a:schemeClr>
                </a:solidFill>
                <a:latin typeface="Noto Sans SC"/>
                <a:ea typeface="Noto Sans SC"/>
                <a:cs typeface="Noto Sans SC"/>
              </a:rPr>
              <a:t>Event-driven computations</a:t>
            </a:r>
          </a:p>
        </p:txBody>
      </p:sp>
      <p:sp>
        <p:nvSpPr>
          <p:cNvPr name="AutoShape 13" id="13"/>
          <p:cNvSpPr/>
          <p:nvPr/>
        </p:nvSpPr>
        <p:spPr>
          <a:xfrm rot="0">
            <a:off x="3782159" y="3226311"/>
            <a:ext cx="314325" cy="314325"/>
          </a:xfrm>
          <a:prstGeom prst="ellipse">
            <a:avLst/>
          </a:prstGeom>
          <a:solidFill>
            <a:schemeClr val="accent1">
              <a:alpha val="20000"/>
            </a:schemeClr>
          </a:solidFill>
          <a:ln/>
        </p:spPr>
      </p:sp>
      <p:sp>
        <p:nvSpPr>
          <p:cNvPr name="AutoShape 14" id="14"/>
          <p:cNvSpPr/>
          <p:nvPr/>
        </p:nvSpPr>
        <p:spPr>
          <a:xfrm rot="0">
            <a:off x="3834546" y="3278698"/>
            <a:ext cx="209550" cy="209550"/>
          </a:xfrm>
          <a:prstGeom prst="ellipse">
            <a:avLst/>
          </a:prstGeom>
          <a:solidFill>
            <a:schemeClr val="accent1">
              <a:alpha val="100000"/>
            </a:schemeClr>
          </a:solidFill>
          <a:ln/>
        </p:spPr>
      </p:sp>
      <p:sp>
        <p:nvSpPr>
          <p:cNvPr name="AutoShape 15" id="15"/>
          <p:cNvSpPr/>
          <p:nvPr/>
        </p:nvSpPr>
        <p:spPr>
          <a:xfrm rot="0">
            <a:off x="3782159" y="4893879"/>
            <a:ext cx="314325" cy="314325"/>
          </a:xfrm>
          <a:prstGeom prst="ellipse">
            <a:avLst/>
          </a:prstGeom>
          <a:solidFill>
            <a:schemeClr val="accent1">
              <a:alpha val="20000"/>
            </a:schemeClr>
          </a:solidFill>
          <a:ln/>
        </p:spPr>
      </p:sp>
      <p:sp>
        <p:nvSpPr>
          <p:cNvPr name="AutoShape 16" id="16"/>
          <p:cNvSpPr/>
          <p:nvPr/>
        </p:nvSpPr>
        <p:spPr>
          <a:xfrm rot="0">
            <a:off x="3834546" y="4946267"/>
            <a:ext cx="209550" cy="209550"/>
          </a:xfrm>
          <a:prstGeom prst="ellipse">
            <a:avLst/>
          </a:prstGeom>
          <a:solidFill>
            <a:schemeClr val="accent1">
              <a:alpha val="100000"/>
            </a:schemeClr>
          </a:solidFill>
          <a:ln/>
        </p:spPr>
      </p:sp>
      <p:sp>
        <p:nvSpPr>
          <p:cNvPr name="TextBox 17" id="17"/>
          <p:cNvSpPr txBox="true"/>
          <p:nvPr/>
        </p:nvSpPr>
        <p:spPr>
          <a:xfrm rot="0">
            <a:off x="251999" y="2808120"/>
            <a:ext cx="1428750" cy="1428750"/>
          </a:xfrm>
          <a:prstGeom prst="rect">
            <a:avLst/>
          </a:prstGeom>
        </p:spPr>
        <p:txBody>
          <a:bodyPr anchor="t" rtlCol="false" lIns="91440" rIns="91440" tIns="45720" bIns="45720" anchorCtr="false" vert="horz" wrap="square">
            <a:spAutoFit/>
          </a:bodyPr>
          <a:lstStyle/>
          <a:p>
            <a:pPr>
              <a:lnSpc>
                <a:spcPct val="100000"/>
              </a:lnSpc>
              <a:spcBef>
                <a:spcPts val="375"/>
              </a:spcBef>
            </a:pPr>
            <a:r>
              <a:rPr lang="en-US" sz="900">
                <a:solidFill>
                  <a:srgbClr val="1F1F1F">
                    <a:alpha val="100000"/>
                  </a:srgbClr>
                </a:solidFill>
                <a:latin typeface="Noto Sans SC"/>
                <a:ea typeface="Noto Sans SC"/>
                <a:cs typeface="Noto Sans SC"/>
              </a:rPr>
              <a:t/>
            </a:r>
          </a:p>
        </p:txBody>
      </p:sp>
    </p:spTree>
  </p:cSld>
  <p:clrMapOvr>
    <a:masterClrMapping/>
  </p:clrMapOvr>
  <p:transition spd="slow">
    <p:push/>
  </p:transition>
</p:sld>
</file>

<file path=ppt/slides/slide13.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AutoShape 2" id="2"/>
          <p:cNvSpPr/>
          <p:nvPr/>
        </p:nvSpPr>
        <p:spPr>
          <a:xfrm rot="0">
            <a:off x="1540645" y="1641772"/>
            <a:ext cx="1049655" cy="979170"/>
          </a:xfrm>
          <a:prstGeom prst="downArrow">
            <a:avLst/>
          </a:prstGeom>
          <a:solidFill>
            <a:schemeClr val="accent1">
              <a:alpha val="100000"/>
            </a:schemeClr>
          </a:solidFill>
          <a:ln/>
        </p:spPr>
      </p:sp>
      <p:sp>
        <p:nvSpPr>
          <p:cNvPr name="TextBox 3" id="3"/>
          <p:cNvSpPr txBox="true"/>
          <p:nvPr/>
        </p:nvSpPr>
        <p:spPr>
          <a:xfrm rot="0">
            <a:off x="1707332" y="1785885"/>
            <a:ext cx="716280" cy="691515"/>
          </a:xfrm>
          <a:prstGeom prst="rect">
            <a:avLst/>
          </a:prstGeom>
          <a:noFill/>
          <a:ln/>
        </p:spPr>
        <p:txBody>
          <a:bodyPr anchor="ctr" rtlCol="false" lIns="91440" rIns="91440" tIns="45720" bIns="45720" anchorCtr="false" vert="horz" wrap="square">
            <a:spAutoFit/>
          </a:bodyPr>
          <a:lstStyle/>
          <a:p>
            <a:pPr algn="ctr">
              <a:lnSpc>
                <a:spcPct val="130000"/>
              </a:lnSpc>
            </a:pPr>
            <a:r>
              <a:rPr lang="en-US" sz="2025">
                <a:solidFill>
                  <a:srgbClr val="FFFDFD">
                    <a:alpha val="100000"/>
                  </a:srgbClr>
                </a:solidFill>
                <a:latin typeface="Noto Sans SC"/>
                <a:ea typeface="Noto Sans SC"/>
                <a:cs typeface="Noto Sans SC"/>
              </a:rPr>
              <a:t>01</a:t>
            </a:r>
          </a:p>
          <a:p>
            <a:pPr algn="ctr">
              <a:lnSpc>
                <a:spcPct val="130000"/>
              </a:lnSpc>
            </a:pPr>
          </a:p>
        </p:txBody>
      </p:sp>
      <p:sp>
        <p:nvSpPr>
          <p:cNvPr name="TextBox 4" id="4"/>
          <p:cNvSpPr txBox="true"/>
          <p:nvPr/>
        </p:nvSpPr>
        <p:spPr>
          <a:xfrm rot="0">
            <a:off x="2815769" y="1445091"/>
            <a:ext cx="7852817" cy="618651"/>
          </a:xfrm>
          <a:prstGeom prst="rect">
            <a:avLst/>
          </a:prstGeom>
          <a:ln/>
        </p:spPr>
        <p:txBody>
          <a:bodyPr anchor="b" rtlCol="false" lIns="66008" rIns="66008" tIns="33052" bIns="33052" anchorCtr="false" vert="horz" wrap="square">
            <a:noAutofit/>
          </a:bodyPr>
          <a:lstStyle/>
          <a:p>
            <a:pPr algn="l">
              <a:lnSpc>
                <a:spcPct val="120000"/>
              </a:lnSpc>
            </a:pPr>
            <a:r>
              <a:rPr lang="en-US" b="true" sz="2400">
                <a:solidFill>
                  <a:schemeClr val="accent1">
                    <a:alpha val="100000"/>
                  </a:schemeClr>
                </a:solidFill>
                <a:latin typeface="Noto Sans SC"/>
                <a:ea typeface="Noto Sans SC"/>
                <a:cs typeface="Noto Sans SC"/>
              </a:rPr>
              <a:t>Transactional storage with RDS</a:t>
            </a:r>
          </a:p>
        </p:txBody>
      </p:sp>
      <p:sp>
        <p:nvSpPr>
          <p:cNvPr name="TextBox 5" id="5"/>
          <p:cNvSpPr txBox="true"/>
          <p:nvPr/>
        </p:nvSpPr>
        <p:spPr>
          <a:xfrm rot="0">
            <a:off x="2815769" y="2040792"/>
            <a:ext cx="7869353" cy="902129"/>
          </a:xfrm>
          <a:prstGeom prst="rect">
            <a:avLst/>
          </a:prstGeom>
          <a:ln/>
        </p:spPr>
        <p:txBody>
          <a:bodyPr anchor="t" rtlCol="false" lIns="66008" rIns="66008" tIns="33052" bIns="33052"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Relational databases like MySQL or PostgreSQL store critical data such as orders and payment history securely and reliably.</a:t>
            </a:r>
          </a:p>
        </p:txBody>
      </p:sp>
      <p:sp>
        <p:nvSpPr>
          <p:cNvPr name="TextBox 6" id="6"/>
          <p:cNvSpPr txBox="true"/>
          <p:nvPr/>
        </p:nvSpPr>
        <p:spPr>
          <a:xfrm rot="0">
            <a:off x="2815769" y="3143851"/>
            <a:ext cx="7852817" cy="563658"/>
          </a:xfrm>
          <a:prstGeom prst="rect">
            <a:avLst/>
          </a:prstGeom>
          <a:ln/>
        </p:spPr>
        <p:txBody>
          <a:bodyPr anchor="b" rtlCol="false" lIns="66008" rIns="66008" tIns="33052" bIns="33052" anchorCtr="false" vert="horz" wrap="square">
            <a:noAutofit/>
          </a:bodyPr>
          <a:lstStyle/>
          <a:p>
            <a:pPr algn="l">
              <a:lnSpc>
                <a:spcPct val="120000"/>
              </a:lnSpc>
            </a:pPr>
            <a:r>
              <a:rPr lang="en-US" b="true" sz="2400">
                <a:solidFill>
                  <a:schemeClr val="accent1">
                    <a:alpha val="100000"/>
                  </a:schemeClr>
                </a:solidFill>
                <a:latin typeface="Noto Sans SC"/>
                <a:ea typeface="Noto Sans SC"/>
                <a:cs typeface="Noto Sans SC"/>
              </a:rPr>
              <a:t>Fast catalog access with DynamoDB</a:t>
            </a:r>
          </a:p>
        </p:txBody>
      </p:sp>
      <p:sp>
        <p:nvSpPr>
          <p:cNvPr name="TextBox 7" id="7"/>
          <p:cNvSpPr txBox="true"/>
          <p:nvPr/>
        </p:nvSpPr>
        <p:spPr>
          <a:xfrm rot="0">
            <a:off x="2815769" y="3684559"/>
            <a:ext cx="7869555" cy="902129"/>
          </a:xfrm>
          <a:prstGeom prst="rect">
            <a:avLst/>
          </a:prstGeom>
          <a:ln/>
        </p:spPr>
        <p:txBody>
          <a:bodyPr anchor="t" rtlCol="false" lIns="66008" rIns="66008" tIns="33052" bIns="33052"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Utilized to store product metadata and interaction data, enabling low-latency and scalable access.</a:t>
            </a:r>
          </a:p>
        </p:txBody>
      </p:sp>
      <p:sp>
        <p:nvSpPr>
          <p:cNvPr name="TextBox 8" id="8"/>
          <p:cNvSpPr txBox="true"/>
          <p:nvPr/>
        </p:nvSpPr>
        <p:spPr>
          <a:xfrm rot="0">
            <a:off x="2799031" y="4717412"/>
            <a:ext cx="7869555" cy="691975"/>
          </a:xfrm>
          <a:prstGeom prst="rect">
            <a:avLst/>
          </a:prstGeom>
          <a:ln/>
        </p:spPr>
        <p:txBody>
          <a:bodyPr anchor="b" rtlCol="false" lIns="66008" rIns="66008" tIns="33052" bIns="33052" anchorCtr="false" vert="horz" wrap="square">
            <a:noAutofit/>
          </a:bodyPr>
          <a:lstStyle/>
          <a:p>
            <a:pPr algn="l">
              <a:lnSpc>
                <a:spcPct val="120000"/>
              </a:lnSpc>
            </a:pPr>
            <a:r>
              <a:rPr lang="en-US" b="true" sz="2400">
                <a:solidFill>
                  <a:schemeClr val="accent1">
                    <a:alpha val="100000"/>
                  </a:schemeClr>
                </a:solidFill>
                <a:latin typeface="Noto Sans SC"/>
                <a:ea typeface="Noto Sans SC"/>
                <a:cs typeface="Noto Sans SC"/>
              </a:rPr>
              <a:t>Scalability and fault tolerance</a:t>
            </a:r>
          </a:p>
        </p:txBody>
      </p:sp>
      <p:sp>
        <p:nvSpPr>
          <p:cNvPr name="TextBox 9" id="9"/>
          <p:cNvSpPr txBox="true"/>
          <p:nvPr/>
        </p:nvSpPr>
        <p:spPr>
          <a:xfrm rot="0">
            <a:off x="2799031" y="5386437"/>
            <a:ext cx="7869555" cy="902129"/>
          </a:xfrm>
          <a:prstGeom prst="rect">
            <a:avLst/>
          </a:prstGeom>
          <a:ln/>
        </p:spPr>
        <p:txBody>
          <a:bodyPr anchor="t" rtlCol="false" lIns="66008" rIns="66008" tIns="33052" bIns="33052"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Databases are configured for Multi-AZ deployments and automated backups to minimize data loss risks.</a:t>
            </a:r>
          </a:p>
        </p:txBody>
      </p:sp>
      <p:sp>
        <p:nvSpPr>
          <p:cNvPr name="TextBox 10" id="10"/>
          <p:cNvSpPr txBox="true"/>
          <p:nvPr/>
        </p:nvSpPr>
        <p:spPr>
          <a:xfrm rot="0">
            <a:off x="476023" y="265328"/>
            <a:ext cx="11239500" cy="914400"/>
          </a:xfrm>
          <a:prstGeom prst="rect">
            <a:avLst/>
          </a:prstGeom>
          <a:ln/>
        </p:spPr>
        <p:txBody>
          <a:bodyPr anchor="ctr" rtlCol="false" lIns="123825" rIns="57150" tIns="123825" bIns="123825" anchorCtr="false" vert="horz" wrap="square">
            <a:noAutofit/>
          </a:bodyPr>
          <a:lstStyle/>
          <a:p>
            <a:pPr>
              <a:lnSpc>
                <a:spcPct val="140000"/>
              </a:lnSpc>
            </a:pPr>
            <a:r>
              <a:rPr lang="en-US" b="true" sz="3000">
                <a:solidFill>
                  <a:schemeClr val="dk2">
                    <a:alpha val="100000"/>
                  </a:schemeClr>
                </a:solidFill>
                <a:latin typeface="Noto Sans SC"/>
                <a:ea typeface="Noto Sans SC"/>
                <a:cs typeface="Noto Sans SC"/>
              </a:rPr>
              <a:t>Databases</a:t>
            </a:r>
          </a:p>
        </p:txBody>
      </p:sp>
      <p:sp>
        <p:nvSpPr>
          <p:cNvPr name="AutoShape 11" id="11"/>
          <p:cNvSpPr/>
          <p:nvPr/>
        </p:nvSpPr>
        <p:spPr>
          <a:xfrm rot="0">
            <a:off x="1540645" y="3341211"/>
            <a:ext cx="1049655" cy="979170"/>
          </a:xfrm>
          <a:prstGeom prst="downArrow">
            <a:avLst/>
          </a:prstGeom>
          <a:solidFill>
            <a:schemeClr val="accent1">
              <a:alpha val="100000"/>
            </a:schemeClr>
          </a:solidFill>
          <a:ln/>
        </p:spPr>
      </p:sp>
      <p:sp>
        <p:nvSpPr>
          <p:cNvPr name="TextBox 12" id="12"/>
          <p:cNvSpPr txBox="true"/>
          <p:nvPr/>
        </p:nvSpPr>
        <p:spPr>
          <a:xfrm rot="0">
            <a:off x="1707332" y="3485324"/>
            <a:ext cx="716280" cy="691515"/>
          </a:xfrm>
          <a:prstGeom prst="rect">
            <a:avLst/>
          </a:prstGeom>
          <a:noFill/>
          <a:ln/>
        </p:spPr>
        <p:txBody>
          <a:bodyPr anchor="ctr" rtlCol="false" lIns="91440" rIns="91440" tIns="45720" bIns="45720" anchorCtr="false" vert="horz" wrap="square">
            <a:spAutoFit/>
          </a:bodyPr>
          <a:lstStyle/>
          <a:p>
            <a:pPr algn="ctr">
              <a:lnSpc>
                <a:spcPct val="130000"/>
              </a:lnSpc>
            </a:pPr>
            <a:r>
              <a:rPr lang="en-US" sz="2025">
                <a:solidFill>
                  <a:srgbClr val="FFFDFD">
                    <a:alpha val="100000"/>
                  </a:srgbClr>
                </a:solidFill>
                <a:latin typeface="Noto Sans SC"/>
                <a:ea typeface="Noto Sans SC"/>
                <a:cs typeface="Noto Sans SC"/>
              </a:rPr>
              <a:t>02</a:t>
            </a:r>
          </a:p>
          <a:p>
            <a:pPr algn="ctr">
              <a:lnSpc>
                <a:spcPct val="130000"/>
              </a:lnSpc>
            </a:pPr>
          </a:p>
        </p:txBody>
      </p:sp>
      <p:sp>
        <p:nvSpPr>
          <p:cNvPr name="AutoShape 13" id="13"/>
          <p:cNvSpPr/>
          <p:nvPr/>
        </p:nvSpPr>
        <p:spPr>
          <a:xfrm rot="0">
            <a:off x="1540645" y="5027093"/>
            <a:ext cx="1049655" cy="979170"/>
          </a:xfrm>
          <a:prstGeom prst="downArrow">
            <a:avLst/>
          </a:prstGeom>
          <a:solidFill>
            <a:schemeClr val="accent1">
              <a:alpha val="100000"/>
            </a:schemeClr>
          </a:solidFill>
          <a:ln/>
        </p:spPr>
      </p:sp>
      <p:sp>
        <p:nvSpPr>
          <p:cNvPr name="TextBox 14" id="14"/>
          <p:cNvSpPr txBox="true"/>
          <p:nvPr/>
        </p:nvSpPr>
        <p:spPr>
          <a:xfrm rot="0">
            <a:off x="1707332" y="5171206"/>
            <a:ext cx="716280" cy="691515"/>
          </a:xfrm>
          <a:prstGeom prst="rect">
            <a:avLst/>
          </a:prstGeom>
          <a:noFill/>
          <a:ln/>
        </p:spPr>
        <p:txBody>
          <a:bodyPr anchor="ctr" rtlCol="false" lIns="91440" rIns="91440" tIns="45720" bIns="45720" anchorCtr="false" vert="horz" wrap="square">
            <a:spAutoFit/>
          </a:bodyPr>
          <a:lstStyle/>
          <a:p>
            <a:pPr algn="ctr">
              <a:lnSpc>
                <a:spcPct val="130000"/>
              </a:lnSpc>
            </a:pPr>
            <a:r>
              <a:rPr lang="en-US" sz="2025">
                <a:solidFill>
                  <a:srgbClr val="FFFDFD">
                    <a:alpha val="100000"/>
                  </a:srgbClr>
                </a:solidFill>
                <a:latin typeface="Noto Sans SC"/>
                <a:ea typeface="Noto Sans SC"/>
                <a:cs typeface="Noto Sans SC"/>
              </a:rPr>
              <a:t>03</a:t>
            </a:r>
          </a:p>
          <a:p>
            <a:pPr algn="ctr">
              <a:lnSpc>
                <a:spcPct val="130000"/>
              </a:lnSpc>
            </a:pPr>
          </a:p>
        </p:txBody>
      </p:sp>
    </p:spTree>
  </p:cSld>
  <p:clrMapOvr>
    <a:masterClrMapping/>
  </p:clrMapOvr>
  <p:transition spd="slow">
    <p:push/>
  </p:transition>
</p:sld>
</file>

<file path=ppt/slides/slide14.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AutoShape 2" id="2"/>
          <p:cNvSpPr/>
          <p:nvPr/>
        </p:nvSpPr>
        <p:spPr>
          <a:xfrm rot="0">
            <a:off x="1540645" y="1641772"/>
            <a:ext cx="1049655" cy="979170"/>
          </a:xfrm>
          <a:prstGeom prst="downArrow">
            <a:avLst/>
          </a:prstGeom>
          <a:solidFill>
            <a:schemeClr val="accent1">
              <a:alpha val="100000"/>
            </a:schemeClr>
          </a:solidFill>
          <a:ln/>
        </p:spPr>
      </p:sp>
      <p:sp>
        <p:nvSpPr>
          <p:cNvPr name="TextBox 3" id="3"/>
          <p:cNvSpPr txBox="true"/>
          <p:nvPr/>
        </p:nvSpPr>
        <p:spPr>
          <a:xfrm rot="0">
            <a:off x="1707332" y="1785885"/>
            <a:ext cx="716280" cy="691515"/>
          </a:xfrm>
          <a:prstGeom prst="rect">
            <a:avLst/>
          </a:prstGeom>
          <a:noFill/>
          <a:ln/>
        </p:spPr>
        <p:txBody>
          <a:bodyPr anchor="ctr" rtlCol="false" lIns="91440" rIns="91440" tIns="45720" bIns="45720" anchorCtr="false" vert="horz" wrap="square">
            <a:spAutoFit/>
          </a:bodyPr>
          <a:lstStyle/>
          <a:p>
            <a:pPr algn="ctr">
              <a:lnSpc>
                <a:spcPct val="130000"/>
              </a:lnSpc>
            </a:pPr>
            <a:r>
              <a:rPr lang="en-US" sz="2025">
                <a:solidFill>
                  <a:srgbClr val="FFFDFD">
                    <a:alpha val="100000"/>
                  </a:srgbClr>
                </a:solidFill>
                <a:latin typeface="Noto Sans SC"/>
                <a:ea typeface="Noto Sans SC"/>
                <a:cs typeface="Noto Sans SC"/>
              </a:rPr>
              <a:t>01</a:t>
            </a:r>
          </a:p>
          <a:p>
            <a:pPr algn="ctr">
              <a:lnSpc>
                <a:spcPct val="130000"/>
              </a:lnSpc>
            </a:pPr>
          </a:p>
        </p:txBody>
      </p:sp>
      <p:sp>
        <p:nvSpPr>
          <p:cNvPr name="TextBox 4" id="4"/>
          <p:cNvSpPr txBox="true"/>
          <p:nvPr/>
        </p:nvSpPr>
        <p:spPr>
          <a:xfrm rot="0">
            <a:off x="2815769" y="1445091"/>
            <a:ext cx="7852817" cy="618651"/>
          </a:xfrm>
          <a:prstGeom prst="rect">
            <a:avLst/>
          </a:prstGeom>
          <a:ln/>
        </p:spPr>
        <p:txBody>
          <a:bodyPr anchor="b" rtlCol="false" lIns="66008" rIns="66008" tIns="33052" bIns="33052" anchorCtr="false" vert="horz" wrap="square">
            <a:noAutofit/>
          </a:bodyPr>
          <a:lstStyle/>
          <a:p>
            <a:pPr algn="l">
              <a:lnSpc>
                <a:spcPct val="120000"/>
              </a:lnSpc>
            </a:pPr>
            <a:r>
              <a:rPr lang="en-US" b="true" sz="2400">
                <a:solidFill>
                  <a:schemeClr val="accent1">
                    <a:alpha val="100000"/>
                  </a:schemeClr>
                </a:solidFill>
                <a:latin typeface="Noto Sans SC"/>
                <a:ea typeface="Noto Sans SC"/>
                <a:cs typeface="Noto Sans SC"/>
              </a:rPr>
              <a:t>Performance monitoring with CloudWatch</a:t>
            </a:r>
          </a:p>
        </p:txBody>
      </p:sp>
      <p:sp>
        <p:nvSpPr>
          <p:cNvPr name="TextBox 5" id="5"/>
          <p:cNvSpPr txBox="true"/>
          <p:nvPr/>
        </p:nvSpPr>
        <p:spPr>
          <a:xfrm rot="0">
            <a:off x="2815769" y="2040792"/>
            <a:ext cx="7869353" cy="902129"/>
          </a:xfrm>
          <a:prstGeom prst="rect">
            <a:avLst/>
          </a:prstGeom>
          <a:ln/>
        </p:spPr>
        <p:txBody>
          <a:bodyPr anchor="t" rtlCol="false" lIns="66008" rIns="66008" tIns="33052" bIns="33052"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Tracks metrics such as application latency and error rates while triggering alerts for irregularities.</a:t>
            </a:r>
          </a:p>
        </p:txBody>
      </p:sp>
      <p:sp>
        <p:nvSpPr>
          <p:cNvPr name="TextBox 6" id="6"/>
          <p:cNvSpPr txBox="true"/>
          <p:nvPr/>
        </p:nvSpPr>
        <p:spPr>
          <a:xfrm rot="0">
            <a:off x="2815769" y="3143851"/>
            <a:ext cx="7852817" cy="563658"/>
          </a:xfrm>
          <a:prstGeom prst="rect">
            <a:avLst/>
          </a:prstGeom>
          <a:ln/>
        </p:spPr>
        <p:txBody>
          <a:bodyPr anchor="b" rtlCol="false" lIns="66008" rIns="66008" tIns="33052" bIns="33052" anchorCtr="false" vert="horz" wrap="square">
            <a:noAutofit/>
          </a:bodyPr>
          <a:lstStyle/>
          <a:p>
            <a:pPr algn="l">
              <a:lnSpc>
                <a:spcPct val="120000"/>
              </a:lnSpc>
            </a:pPr>
            <a:r>
              <a:rPr lang="en-US" b="true" sz="2400">
                <a:solidFill>
                  <a:schemeClr val="accent1">
                    <a:alpha val="100000"/>
                  </a:schemeClr>
                </a:solidFill>
                <a:latin typeface="Noto Sans SC"/>
                <a:ea typeface="Noto Sans SC"/>
                <a:cs typeface="Noto Sans SC"/>
              </a:rPr>
              <a:t>Continuous optimization with Trusted Advisor</a:t>
            </a:r>
          </a:p>
        </p:txBody>
      </p:sp>
      <p:sp>
        <p:nvSpPr>
          <p:cNvPr name="TextBox 7" id="7"/>
          <p:cNvSpPr txBox="true"/>
          <p:nvPr/>
        </p:nvSpPr>
        <p:spPr>
          <a:xfrm rot="0">
            <a:off x="2815769" y="3684559"/>
            <a:ext cx="7869555" cy="902129"/>
          </a:xfrm>
          <a:prstGeom prst="rect">
            <a:avLst/>
          </a:prstGeom>
          <a:ln/>
        </p:spPr>
        <p:txBody>
          <a:bodyPr anchor="t" rtlCol="false" lIns="66008" rIns="66008" tIns="33052" bIns="33052"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Highlights inefficiencies in cost, performance, and security for constant improvement.</a:t>
            </a:r>
          </a:p>
        </p:txBody>
      </p:sp>
      <p:sp>
        <p:nvSpPr>
          <p:cNvPr name="TextBox 8" id="8"/>
          <p:cNvSpPr txBox="true"/>
          <p:nvPr/>
        </p:nvSpPr>
        <p:spPr>
          <a:xfrm rot="0">
            <a:off x="2799031" y="4717412"/>
            <a:ext cx="7869555" cy="691975"/>
          </a:xfrm>
          <a:prstGeom prst="rect">
            <a:avLst/>
          </a:prstGeom>
          <a:ln/>
        </p:spPr>
        <p:txBody>
          <a:bodyPr anchor="b" rtlCol="false" lIns="66008" rIns="66008" tIns="33052" bIns="33052" anchorCtr="false" vert="horz" wrap="square">
            <a:noAutofit/>
          </a:bodyPr>
          <a:lstStyle/>
          <a:p>
            <a:pPr algn="l">
              <a:lnSpc>
                <a:spcPct val="120000"/>
              </a:lnSpc>
            </a:pPr>
            <a:r>
              <a:rPr lang="en-US" b="true" sz="2400">
                <a:solidFill>
                  <a:schemeClr val="accent1">
                    <a:alpha val="100000"/>
                  </a:schemeClr>
                </a:solidFill>
                <a:latin typeface="Noto Sans SC"/>
                <a:ea typeface="Noto Sans SC"/>
                <a:cs typeface="Noto Sans SC"/>
              </a:rPr>
              <a:t>Access control with IAM</a:t>
            </a:r>
          </a:p>
        </p:txBody>
      </p:sp>
      <p:sp>
        <p:nvSpPr>
          <p:cNvPr name="TextBox 9" id="9"/>
          <p:cNvSpPr txBox="true"/>
          <p:nvPr/>
        </p:nvSpPr>
        <p:spPr>
          <a:xfrm rot="0">
            <a:off x="2799031" y="5386437"/>
            <a:ext cx="7869555" cy="902129"/>
          </a:xfrm>
          <a:prstGeom prst="rect">
            <a:avLst/>
          </a:prstGeom>
          <a:ln/>
        </p:spPr>
        <p:txBody>
          <a:bodyPr anchor="t" rtlCol="false" lIns="66008" rIns="66008" tIns="33052" bIns="33052"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Defines granular access permissions, ensuring the principle of least privilege is enforced across the platform.</a:t>
            </a:r>
          </a:p>
        </p:txBody>
      </p:sp>
      <p:sp>
        <p:nvSpPr>
          <p:cNvPr name="TextBox 10" id="10"/>
          <p:cNvSpPr txBox="true"/>
          <p:nvPr/>
        </p:nvSpPr>
        <p:spPr>
          <a:xfrm rot="0">
            <a:off x="476023" y="265328"/>
            <a:ext cx="11239500" cy="914400"/>
          </a:xfrm>
          <a:prstGeom prst="rect">
            <a:avLst/>
          </a:prstGeom>
          <a:ln/>
        </p:spPr>
        <p:txBody>
          <a:bodyPr anchor="ctr" rtlCol="false" lIns="123825" rIns="57150" tIns="123825" bIns="123825" anchorCtr="false" vert="horz" wrap="square">
            <a:noAutofit/>
          </a:bodyPr>
          <a:lstStyle/>
          <a:p>
            <a:pPr>
              <a:lnSpc>
                <a:spcPct val="140000"/>
              </a:lnSpc>
            </a:pPr>
            <a:r>
              <a:rPr lang="en-US" b="true" sz="3000">
                <a:solidFill>
                  <a:schemeClr val="dk2">
                    <a:alpha val="100000"/>
                  </a:schemeClr>
                </a:solidFill>
                <a:latin typeface="Noto Sans SC"/>
                <a:ea typeface="Noto Sans SC"/>
                <a:cs typeface="Noto Sans SC"/>
              </a:rPr>
              <a:t>Monitoring &amp; Security</a:t>
            </a:r>
          </a:p>
        </p:txBody>
      </p:sp>
      <p:sp>
        <p:nvSpPr>
          <p:cNvPr name="AutoShape 11" id="11"/>
          <p:cNvSpPr/>
          <p:nvPr/>
        </p:nvSpPr>
        <p:spPr>
          <a:xfrm rot="0">
            <a:off x="1540645" y="3341211"/>
            <a:ext cx="1049655" cy="979170"/>
          </a:xfrm>
          <a:prstGeom prst="downArrow">
            <a:avLst/>
          </a:prstGeom>
          <a:solidFill>
            <a:schemeClr val="accent1">
              <a:alpha val="100000"/>
            </a:schemeClr>
          </a:solidFill>
          <a:ln/>
        </p:spPr>
      </p:sp>
      <p:sp>
        <p:nvSpPr>
          <p:cNvPr name="TextBox 12" id="12"/>
          <p:cNvSpPr txBox="true"/>
          <p:nvPr/>
        </p:nvSpPr>
        <p:spPr>
          <a:xfrm rot="0">
            <a:off x="1707332" y="3485324"/>
            <a:ext cx="716280" cy="691515"/>
          </a:xfrm>
          <a:prstGeom prst="rect">
            <a:avLst/>
          </a:prstGeom>
          <a:noFill/>
          <a:ln/>
        </p:spPr>
        <p:txBody>
          <a:bodyPr anchor="ctr" rtlCol="false" lIns="91440" rIns="91440" tIns="45720" bIns="45720" anchorCtr="false" vert="horz" wrap="square">
            <a:spAutoFit/>
          </a:bodyPr>
          <a:lstStyle/>
          <a:p>
            <a:pPr algn="ctr">
              <a:lnSpc>
                <a:spcPct val="130000"/>
              </a:lnSpc>
            </a:pPr>
            <a:r>
              <a:rPr lang="en-US" sz="2025">
                <a:solidFill>
                  <a:srgbClr val="FFFDFD">
                    <a:alpha val="100000"/>
                  </a:srgbClr>
                </a:solidFill>
                <a:latin typeface="Noto Sans SC"/>
                <a:ea typeface="Noto Sans SC"/>
                <a:cs typeface="Noto Sans SC"/>
              </a:rPr>
              <a:t>02</a:t>
            </a:r>
          </a:p>
          <a:p>
            <a:pPr algn="ctr">
              <a:lnSpc>
                <a:spcPct val="130000"/>
              </a:lnSpc>
            </a:pPr>
          </a:p>
        </p:txBody>
      </p:sp>
      <p:sp>
        <p:nvSpPr>
          <p:cNvPr name="AutoShape 13" id="13"/>
          <p:cNvSpPr/>
          <p:nvPr/>
        </p:nvSpPr>
        <p:spPr>
          <a:xfrm rot="0">
            <a:off x="1540645" y="5027093"/>
            <a:ext cx="1049655" cy="979170"/>
          </a:xfrm>
          <a:prstGeom prst="downArrow">
            <a:avLst/>
          </a:prstGeom>
          <a:solidFill>
            <a:schemeClr val="accent1">
              <a:alpha val="100000"/>
            </a:schemeClr>
          </a:solidFill>
          <a:ln/>
        </p:spPr>
      </p:sp>
      <p:sp>
        <p:nvSpPr>
          <p:cNvPr name="TextBox 14" id="14"/>
          <p:cNvSpPr txBox="true"/>
          <p:nvPr/>
        </p:nvSpPr>
        <p:spPr>
          <a:xfrm rot="0">
            <a:off x="1707332" y="5171206"/>
            <a:ext cx="716280" cy="691515"/>
          </a:xfrm>
          <a:prstGeom prst="rect">
            <a:avLst/>
          </a:prstGeom>
          <a:noFill/>
          <a:ln/>
        </p:spPr>
        <p:txBody>
          <a:bodyPr anchor="ctr" rtlCol="false" lIns="91440" rIns="91440" tIns="45720" bIns="45720" anchorCtr="false" vert="horz" wrap="square">
            <a:spAutoFit/>
          </a:bodyPr>
          <a:lstStyle/>
          <a:p>
            <a:pPr algn="ctr">
              <a:lnSpc>
                <a:spcPct val="130000"/>
              </a:lnSpc>
            </a:pPr>
            <a:r>
              <a:rPr lang="en-US" sz="2025">
                <a:solidFill>
                  <a:srgbClr val="FFFDFD">
                    <a:alpha val="100000"/>
                  </a:srgbClr>
                </a:solidFill>
                <a:latin typeface="Noto Sans SC"/>
                <a:ea typeface="Noto Sans SC"/>
                <a:cs typeface="Noto Sans SC"/>
              </a:rPr>
              <a:t>03</a:t>
            </a:r>
          </a:p>
          <a:p>
            <a:pPr algn="ctr">
              <a:lnSpc>
                <a:spcPct val="130000"/>
              </a:lnSpc>
            </a:pPr>
          </a:p>
        </p:txBody>
      </p:sp>
    </p:spTree>
  </p:cSld>
  <p:clrMapOvr>
    <a:masterClrMapping/>
  </p:clrMapOvr>
  <p:transition spd="slow">
    <p:push/>
  </p:transition>
</p:sld>
</file>

<file path=ppt/slides/slide15.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TextBox 2" id="2"/>
          <p:cNvSpPr txBox="true"/>
          <p:nvPr/>
        </p:nvSpPr>
        <p:spPr>
          <a:xfrm rot="0">
            <a:off x="689593" y="1595455"/>
            <a:ext cx="6734175" cy="771853"/>
          </a:xfrm>
          <a:prstGeom prst="rect">
            <a:avLst/>
          </a:prstGeom>
          <a:ln/>
        </p:spPr>
        <p:txBody>
          <a:bodyPr anchor="b" rtlCol="false" lIns="123825" rIns="57150" tIns="123825" bIns="123825" anchorCtr="false" vert="horz" wrap="square">
            <a:noAutofit/>
          </a:bodyPr>
          <a:lstStyle/>
          <a:p>
            <a:pPr>
              <a:lnSpc>
                <a:spcPct val="120000"/>
              </a:lnSpc>
            </a:pPr>
            <a:r>
              <a:rPr lang="en-US" b="true" sz="2400">
                <a:solidFill>
                  <a:schemeClr val="accent1">
                    <a:alpha val="100000"/>
                  </a:schemeClr>
                </a:solidFill>
                <a:latin typeface="Noto Sans SC"/>
                <a:ea typeface="Noto Sans SC"/>
                <a:cs typeface="Noto Sans SC"/>
              </a:rPr>
              <a:t>Threat prevention with AWS WAF</a:t>
            </a:r>
          </a:p>
        </p:txBody>
      </p:sp>
      <p:sp>
        <p:nvSpPr>
          <p:cNvPr name="TextBox 3" id="3"/>
          <p:cNvSpPr txBox="true"/>
          <p:nvPr/>
        </p:nvSpPr>
        <p:spPr>
          <a:xfrm rot="0">
            <a:off x="689593" y="2246047"/>
            <a:ext cx="6810375" cy="1323975"/>
          </a:xfrm>
          <a:prstGeom prst="rect">
            <a:avLst/>
          </a:prstGeom>
          <a:ln/>
        </p:spPr>
        <p:txBody>
          <a:bodyPr anchor="t" rtlCol="false" lIns="123825" rIns="57150" tIns="123825" bIns="123825" anchorCtr="false" vert="horz" wrap="square">
            <a:noAutofit/>
          </a:bodyPr>
          <a:lstStyle/>
          <a:p>
            <a:pPr>
              <a:lnSpc>
                <a:spcPct val="140000"/>
              </a:lnSpc>
            </a:pPr>
            <a:r>
              <a:rPr lang="en-US" sz="2000">
                <a:solidFill>
                  <a:schemeClr val="dk1">
                    <a:alpha val="100000"/>
                  </a:schemeClr>
                </a:solidFill>
                <a:latin typeface="Noto Sans SC"/>
                <a:ea typeface="Noto Sans SC"/>
                <a:cs typeface="Noto Sans SC"/>
              </a:rPr>
              <a:t>Shields the application from web-based threats like SQL injection and cross-site scripting attacks.</a:t>
            </a:r>
          </a:p>
        </p:txBody>
      </p:sp>
      <p:sp>
        <p:nvSpPr>
          <p:cNvPr name="TextBox 4" id="4"/>
          <p:cNvSpPr txBox="true"/>
          <p:nvPr/>
        </p:nvSpPr>
        <p:spPr>
          <a:xfrm rot="0">
            <a:off x="689593" y="4139505"/>
            <a:ext cx="6734175" cy="759000"/>
          </a:xfrm>
          <a:prstGeom prst="rect">
            <a:avLst/>
          </a:prstGeom>
          <a:ln/>
        </p:spPr>
        <p:txBody>
          <a:bodyPr anchor="b" rtlCol="false" lIns="123825" rIns="57150" tIns="123825" bIns="123825" anchorCtr="false" vert="horz" wrap="square">
            <a:noAutofit/>
          </a:bodyPr>
          <a:lstStyle/>
          <a:p>
            <a:pPr>
              <a:lnSpc>
                <a:spcPct val="120000"/>
              </a:lnSpc>
            </a:pPr>
            <a:r>
              <a:rPr lang="en-US" b="true" sz="2400">
                <a:solidFill>
                  <a:schemeClr val="accent1">
                    <a:alpha val="100000"/>
                  </a:schemeClr>
                </a:solidFill>
                <a:latin typeface="Noto Sans SC"/>
                <a:ea typeface="Noto Sans SC"/>
                <a:cs typeface="Noto Sans SC"/>
              </a:rPr>
              <a:t>Encryption implementation</a:t>
            </a:r>
          </a:p>
        </p:txBody>
      </p:sp>
      <p:sp>
        <p:nvSpPr>
          <p:cNvPr name="TextBox 5" id="5"/>
          <p:cNvSpPr txBox="true"/>
          <p:nvPr/>
        </p:nvSpPr>
        <p:spPr>
          <a:xfrm rot="0">
            <a:off x="689593" y="4798345"/>
            <a:ext cx="6810375" cy="1323975"/>
          </a:xfrm>
          <a:prstGeom prst="rect">
            <a:avLst/>
          </a:prstGeom>
          <a:ln/>
        </p:spPr>
        <p:txBody>
          <a:bodyPr anchor="t" rtlCol="false" lIns="123825" rIns="57150" tIns="123825" bIns="123825" anchorCtr="false" vert="horz" wrap="square">
            <a:noAutofit/>
          </a:bodyPr>
          <a:lstStyle/>
          <a:p>
            <a:pPr>
              <a:lnSpc>
                <a:spcPct val="140000"/>
              </a:lnSpc>
            </a:pPr>
            <a:r>
              <a:rPr lang="en-US" sz="2000">
                <a:solidFill>
                  <a:schemeClr val="dk1">
                    <a:alpha val="100000"/>
                  </a:schemeClr>
                </a:solidFill>
                <a:latin typeface="Noto Sans SC"/>
                <a:ea typeface="Noto Sans SC"/>
                <a:cs typeface="Noto Sans SC"/>
              </a:rPr>
              <a:t>Uses SSL/TLS protocols via CloudFront to ensure secure data transmission between users and the platform.</a:t>
            </a:r>
          </a:p>
        </p:txBody>
      </p:sp>
      <p:cxnSp>
        <p:nvCxnSpPr>
          <p:cNvPr name="Connector 6" id="6"/>
          <p:cNvCxnSpPr/>
          <p:nvPr/>
        </p:nvCxnSpPr>
        <p:spPr>
          <a:xfrm>
            <a:off x="756268" y="6181746"/>
            <a:ext cx="7784538" cy="0"/>
          </a:xfrm>
          <a:prstGeom prst="line">
            <a:avLst/>
          </a:prstGeom>
          <a:ln w="14288">
            <a:solidFill>
              <a:schemeClr val="accent1"/>
            </a:solidFill>
            <a:prstDash val="dash"/>
            <a:headEnd type="none"/>
            <a:tailEnd type="none"/>
          </a:ln>
        </p:spPr>
        <p:style>
          <a:lnRef idx="0">
            <a:schemeClr val="accent1"/>
          </a:lnRef>
          <a:fillRef idx="1">
            <a:schemeClr val="accent1"/>
          </a:fillRef>
          <a:effectRef idx="0">
            <a:schemeClr val="accent1"/>
          </a:effectRef>
          <a:fontRef idx="minor">
            <a:schemeClr val="lt1"/>
          </a:fontRef>
        </p:style>
      </p:cxnSp>
      <p:pic>
        <p:nvPicPr>
          <p:cNvPr name="Picture 7" id="7"/>
          <p:cNvPicPr>
            <a:picLocks noChangeAspect="true"/>
          </p:cNvPicPr>
          <p:nvPr/>
        </p:nvPicPr>
        <p:blipFill>
          <a:blip r:embed="rId3">
            <a:alphaModFix amt="100000"/>
          </a:blip>
          <a:srcRect l="30078" r="30078"/>
          <a:stretch>
            <a:fillRect/>
          </a:stretch>
        </p:blipFill>
        <p:spPr>
          <a:xfrm rot="0">
            <a:off x="7423768" y="120724"/>
            <a:ext cx="4672820" cy="6682279"/>
          </a:xfrm>
          <a:prstGeom prst="rect">
            <a:avLst/>
          </a:prstGeom>
        </p:spPr>
      </p:pic>
      <p:cxnSp>
        <p:nvCxnSpPr>
          <p:cNvPr name="Connector 8" id="8"/>
          <p:cNvCxnSpPr/>
          <p:nvPr/>
        </p:nvCxnSpPr>
        <p:spPr>
          <a:xfrm>
            <a:off x="756268" y="3856089"/>
            <a:ext cx="7083417" cy="0"/>
          </a:xfrm>
          <a:prstGeom prst="line">
            <a:avLst/>
          </a:prstGeom>
          <a:ln w="14288">
            <a:solidFill>
              <a:schemeClr val="accent1"/>
            </a:solidFill>
            <a:prstDash val="dash"/>
            <a:headEnd type="none"/>
            <a:tailEnd type="none"/>
          </a:ln>
        </p:spPr>
        <p:style>
          <a:lnRef idx="0">
            <a:schemeClr val="accent1"/>
          </a:lnRef>
          <a:fillRef idx="1">
            <a:schemeClr val="accent1"/>
          </a:fillRef>
          <a:effectRef idx="0">
            <a:schemeClr val="accent1"/>
          </a:effectRef>
          <a:fontRef idx="minor">
            <a:schemeClr val="lt1"/>
          </a:fontRef>
        </p:style>
      </p:cxnSp>
      <p:sp>
        <p:nvSpPr>
          <p:cNvPr name="TextBox 9" id="9"/>
          <p:cNvSpPr txBox="true"/>
          <p:nvPr/>
        </p:nvSpPr>
        <p:spPr>
          <a:xfrm rot="0">
            <a:off x="476023" y="265328"/>
            <a:ext cx="11239500" cy="914400"/>
          </a:xfrm>
          <a:prstGeom prst="rect">
            <a:avLst/>
          </a:prstGeom>
          <a:ln/>
        </p:spPr>
        <p:txBody>
          <a:bodyPr anchor="t" rtlCol="false" lIns="123825" rIns="57150" tIns="123825" bIns="123825" anchorCtr="false" vert="horz" wrap="square">
            <a:spAutoFit/>
          </a:bodyPr>
          <a:lstStyle/>
          <a:p>
            <a:pPr>
              <a:lnSpc>
                <a:spcPct val="140000"/>
              </a:lnSpc>
            </a:pPr>
            <a:r>
              <a:rPr lang="en-US" b="true" sz="3000">
                <a:solidFill>
                  <a:schemeClr val="dk2">
                    <a:alpha val="100000"/>
                  </a:schemeClr>
                </a:solidFill>
                <a:latin typeface="Noto Sans SC"/>
                <a:ea typeface="Noto Sans SC"/>
                <a:cs typeface="Noto Sans SC"/>
              </a:rPr>
              <a:t>Monitoring &amp; Security</a:t>
            </a:r>
          </a:p>
        </p:txBody>
      </p:sp>
    </p:spTree>
  </p:cSld>
  <p:clrMapOvr>
    <a:masterClrMapping/>
  </p:clrMapOvr>
  <p:transition spd="slow">
    <p:push/>
  </p:transition>
</p:sld>
</file>

<file path=ppt/slides/slide16.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0"/>
          </a:blip>
          <a:srcRect/>
          <a:stretch>
            <a:fillRect b="-3444" t="-3444" l="0" r="0"/>
          </a:stretch>
        </a:blipFill>
      </p:bgPr>
    </p:bg>
    <p:spTree>
      <p:nvGrpSpPr>
        <p:cNvPr id="1" name=""/>
        <p:cNvGrpSpPr/>
        <p:nvPr/>
      </p:nvGrpSpPr>
      <p:grpSpPr>
        <a:xfrm>
          <a:off x="0" y="0"/>
          <a:ext cx="0" cy="0"/>
          <a:chOff x="0" y="0"/>
          <a:chExt cx="0" cy="0"/>
        </a:xfrm>
      </p:grpSpPr>
      <p:sp>
        <p:nvSpPr>
          <p:cNvPr name="TextBox 2" id="2"/>
          <p:cNvSpPr txBox="true"/>
          <p:nvPr/>
        </p:nvSpPr>
        <p:spPr>
          <a:xfrm rot="0">
            <a:off x="10022720" y="2593320"/>
            <a:ext cx="1524655" cy="1842306"/>
          </a:xfrm>
          <a:prstGeom prst="rect">
            <a:avLst/>
          </a:prstGeom>
          <a:ln/>
        </p:spPr>
        <p:txBody>
          <a:bodyPr anchor="b" rtlCol="false" lIns="0" rIns="0" tIns="0" bIns="0" anchorCtr="false" vert="horz" wrap="square">
            <a:normAutofit/>
          </a:bodyPr>
          <a:lstStyle/>
          <a:p>
            <a:pPr algn="r">
              <a:lnSpc>
                <a:spcPct val="120000"/>
              </a:lnSpc>
            </a:pPr>
            <a:r>
              <a:rPr lang="en-US" sz="7200">
                <a:solidFill>
                  <a:srgbClr val="59AE93">
                    <a:alpha val="100000"/>
                  </a:srgbClr>
                </a:solidFill>
                <a:highlight>
                  <a:srgbClr val="000000">
                    <a:alpha val="0"/>
                  </a:srgbClr>
                </a:highlight>
                <a:latin typeface="Noto Sans SC"/>
                <a:ea typeface="Noto Sans SC"/>
                <a:cs typeface="Noto Sans SC"/>
              </a:rPr>
              <a:t>03</a:t>
            </a:r>
          </a:p>
        </p:txBody>
      </p:sp>
      <p:sp>
        <p:nvSpPr>
          <p:cNvPr name="TextBox 3" id="3"/>
          <p:cNvSpPr txBox="true"/>
          <p:nvPr/>
        </p:nvSpPr>
        <p:spPr>
          <a:xfrm rot="0">
            <a:off x="6124575" y="2653796"/>
            <a:ext cx="3926719" cy="1842306"/>
          </a:xfrm>
          <a:prstGeom prst="rect">
            <a:avLst/>
          </a:prstGeom>
          <a:ln/>
        </p:spPr>
        <p:txBody>
          <a:bodyPr anchor="b" rtlCol="false" lIns="114300" rIns="114300" tIns="57150" bIns="57150" anchorCtr="false" vert="horz" wrap="square">
            <a:normAutofit/>
          </a:bodyPr>
          <a:lstStyle/>
          <a:p>
            <a:pPr algn="r">
              <a:lnSpc>
                <a:spcPct val="120000"/>
              </a:lnSpc>
            </a:pPr>
            <a:r>
              <a:rPr lang="en-US" sz="7200">
                <a:solidFill>
                  <a:srgbClr val="59AE93">
                    <a:alpha val="100000"/>
                  </a:srgbClr>
                </a:solidFill>
                <a:highlight>
                  <a:srgbClr val="000000">
                    <a:alpha val="0"/>
                  </a:srgbClr>
                </a:highlight>
                <a:latin typeface="Noto Sans SC"/>
                <a:ea typeface="Noto Sans SC"/>
                <a:cs typeface="Noto Sans SC"/>
              </a:rPr>
              <a:t>PART</a:t>
            </a:r>
          </a:p>
        </p:txBody>
      </p:sp>
      <p:sp>
        <p:nvSpPr>
          <p:cNvPr name="TextBox 4" id="4"/>
          <p:cNvSpPr txBox="true"/>
          <p:nvPr/>
        </p:nvSpPr>
        <p:spPr>
          <a:xfrm rot="0">
            <a:off x="1062567" y="4496102"/>
            <a:ext cx="10484808" cy="1798058"/>
          </a:xfrm>
          <a:prstGeom prst="rect">
            <a:avLst/>
          </a:prstGeom>
          <a:ln/>
        </p:spPr>
        <p:txBody>
          <a:bodyPr anchor="t" rtlCol="false" lIns="114300" rIns="114300" tIns="57150" bIns="57150" anchorCtr="false" vert="horz" wrap="square">
            <a:normAutofit/>
          </a:bodyPr>
          <a:lstStyle/>
          <a:p>
            <a:pPr algn="r">
              <a:lnSpc>
                <a:spcPct val="120000"/>
              </a:lnSpc>
            </a:pPr>
            <a:r>
              <a:rPr lang="en-US" b="true" sz="4500">
                <a:solidFill>
                  <a:srgbClr val="1F1F1F">
                    <a:alpha val="100000"/>
                  </a:srgbClr>
                </a:solidFill>
                <a:latin typeface="Noto Sans SC"/>
                <a:ea typeface="Noto Sans SC"/>
                <a:cs typeface="Noto Sans SC"/>
              </a:rPr>
              <a:t>AWS Service Choices and Rationale</a:t>
            </a:r>
          </a:p>
        </p:txBody>
      </p:sp>
    </p:spTree>
  </p:cSld>
  <p:clrMapOvr>
    <a:masterClrMapping/>
  </p:clrMapOvr>
  <p:transition spd="slow">
    <p:push/>
  </p:transition>
</p:sld>
</file>

<file path=ppt/slides/slide17.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AutoShape 2" id="2"/>
          <p:cNvSpPr/>
          <p:nvPr/>
        </p:nvSpPr>
        <p:spPr>
          <a:xfrm rot="0">
            <a:off x="454963" y="1578150"/>
            <a:ext cx="474399" cy="474399"/>
          </a:xfrm>
          <a:prstGeom prst="ellipse">
            <a:avLst/>
          </a:prstGeom>
          <a:solidFill>
            <a:schemeClr val="accent1">
              <a:alpha val="50000"/>
            </a:schemeClr>
          </a:solidFill>
          <a:ln/>
        </p:spPr>
      </p:sp>
      <p:sp>
        <p:nvSpPr>
          <p:cNvPr name="AutoShape 3" id="3"/>
          <p:cNvSpPr/>
          <p:nvPr/>
        </p:nvSpPr>
        <p:spPr>
          <a:xfrm rot="0">
            <a:off x="517634" y="1647069"/>
            <a:ext cx="334599" cy="334599"/>
          </a:xfrm>
          <a:prstGeom prst="ellipse">
            <a:avLst/>
          </a:prstGeom>
          <a:solidFill>
            <a:schemeClr val="accent1">
              <a:alpha val="100000"/>
            </a:schemeClr>
          </a:solidFill>
          <a:ln/>
        </p:spPr>
      </p:sp>
      <p:cxnSp>
        <p:nvCxnSpPr>
          <p:cNvPr name="Connector 4" id="4"/>
          <p:cNvCxnSpPr/>
          <p:nvPr/>
        </p:nvCxnSpPr>
        <p:spPr>
          <a:xfrm>
            <a:off x="676483" y="1792120"/>
            <a:ext cx="0" cy="4187687"/>
          </a:xfrm>
          <a:prstGeom prst="line">
            <a:avLst/>
          </a:prstGeom>
          <a:ln w="9525">
            <a:solidFill>
              <a:schemeClr val="accent1"/>
            </a:solidFill>
            <a:prstDash val="dash"/>
            <a:headEnd type="none"/>
            <a:tailEnd type="none"/>
          </a:ln>
        </p:spPr>
        <p:style>
          <a:lnRef idx="0">
            <a:schemeClr val="accent1"/>
          </a:lnRef>
          <a:fillRef idx="1">
            <a:schemeClr val="accent1"/>
          </a:fillRef>
          <a:effectRef idx="0">
            <a:schemeClr val="accent1"/>
          </a:effectRef>
          <a:fontRef idx="minor">
            <a:schemeClr val="lt1"/>
          </a:fontRef>
        </p:style>
      </p:cxnSp>
      <p:sp>
        <p:nvSpPr>
          <p:cNvPr name="AutoShape 5" id="5"/>
          <p:cNvSpPr/>
          <p:nvPr/>
        </p:nvSpPr>
        <p:spPr>
          <a:xfrm rot="0">
            <a:off x="3290712" y="1578150"/>
            <a:ext cx="474399" cy="474399"/>
          </a:xfrm>
          <a:prstGeom prst="ellipse">
            <a:avLst/>
          </a:prstGeom>
          <a:solidFill>
            <a:schemeClr val="accent1">
              <a:alpha val="50000"/>
            </a:schemeClr>
          </a:solidFill>
          <a:ln/>
        </p:spPr>
      </p:sp>
      <p:sp>
        <p:nvSpPr>
          <p:cNvPr name="AutoShape 6" id="6"/>
          <p:cNvSpPr/>
          <p:nvPr/>
        </p:nvSpPr>
        <p:spPr>
          <a:xfrm rot="0">
            <a:off x="3353383" y="1647069"/>
            <a:ext cx="334599" cy="334599"/>
          </a:xfrm>
          <a:prstGeom prst="ellipse">
            <a:avLst/>
          </a:prstGeom>
          <a:solidFill>
            <a:schemeClr val="accent1">
              <a:alpha val="100000"/>
            </a:schemeClr>
          </a:solidFill>
          <a:ln/>
        </p:spPr>
      </p:sp>
      <p:cxnSp>
        <p:nvCxnSpPr>
          <p:cNvPr name="Connector 7" id="7"/>
          <p:cNvCxnSpPr/>
          <p:nvPr/>
        </p:nvCxnSpPr>
        <p:spPr>
          <a:xfrm>
            <a:off x="3512232" y="1792120"/>
            <a:ext cx="0" cy="4187687"/>
          </a:xfrm>
          <a:prstGeom prst="line">
            <a:avLst/>
          </a:prstGeom>
          <a:ln w="9525">
            <a:solidFill>
              <a:schemeClr val="accent1"/>
            </a:solidFill>
            <a:prstDash val="dash"/>
            <a:headEnd type="none"/>
            <a:tailEnd type="none"/>
          </a:ln>
        </p:spPr>
        <p:style>
          <a:lnRef idx="0">
            <a:schemeClr val="accent1"/>
          </a:lnRef>
          <a:fillRef idx="1">
            <a:schemeClr val="accent1"/>
          </a:fillRef>
          <a:effectRef idx="0">
            <a:schemeClr val="accent1"/>
          </a:effectRef>
          <a:fontRef idx="minor">
            <a:schemeClr val="lt1"/>
          </a:fontRef>
        </p:style>
      </p:cxnSp>
      <p:sp>
        <p:nvSpPr>
          <p:cNvPr name="TextBox 8" id="8"/>
          <p:cNvSpPr txBox="true"/>
          <p:nvPr/>
        </p:nvSpPr>
        <p:spPr>
          <a:xfrm rot="0">
            <a:off x="3765111" y="2291273"/>
            <a:ext cx="2325536" cy="3533583"/>
          </a:xfrm>
          <a:prstGeom prst="rect">
            <a:avLst/>
          </a:prstGeom>
          <a:ln/>
        </p:spPr>
        <p:txBody>
          <a:bodyPr anchor="t" rtlCol="false" lIns="123825" rIns="57150" tIns="123825" bIns="123825" anchorCtr="false" vert="horz" wrap="square">
            <a:noAutofit/>
          </a:bodyPr>
          <a:lstStyle/>
          <a:p>
            <a:pPr>
              <a:lnSpc>
                <a:spcPct val="140000"/>
              </a:lnSpc>
            </a:pPr>
            <a:r>
              <a:rPr lang="en-US" sz="2000">
                <a:solidFill>
                  <a:schemeClr val="dk1">
                    <a:alpha val="100000"/>
                  </a:schemeClr>
                </a:solidFill>
                <a:latin typeface="Noto Sans SC"/>
                <a:ea typeface="Noto Sans SC"/>
                <a:cs typeface="Noto Sans SC"/>
              </a:rPr>
              <a:t>Using Auto Scaling ensures that additional resources are automatically provisioned during high traffic periods, while scaling down during off-peak hours.</a:t>
            </a:r>
          </a:p>
        </p:txBody>
      </p:sp>
      <p:sp>
        <p:nvSpPr>
          <p:cNvPr name="AutoShape 9" id="9"/>
          <p:cNvSpPr/>
          <p:nvPr/>
        </p:nvSpPr>
        <p:spPr>
          <a:xfrm rot="0">
            <a:off x="6126461" y="1578150"/>
            <a:ext cx="474399" cy="474399"/>
          </a:xfrm>
          <a:prstGeom prst="ellipse">
            <a:avLst/>
          </a:prstGeom>
          <a:solidFill>
            <a:schemeClr val="accent1">
              <a:alpha val="50000"/>
            </a:schemeClr>
          </a:solidFill>
          <a:ln/>
        </p:spPr>
      </p:sp>
      <p:sp>
        <p:nvSpPr>
          <p:cNvPr name="AutoShape 10" id="10"/>
          <p:cNvSpPr/>
          <p:nvPr/>
        </p:nvSpPr>
        <p:spPr>
          <a:xfrm rot="0">
            <a:off x="6189132" y="1647069"/>
            <a:ext cx="334599" cy="334599"/>
          </a:xfrm>
          <a:prstGeom prst="ellipse">
            <a:avLst/>
          </a:prstGeom>
          <a:solidFill>
            <a:schemeClr val="accent1">
              <a:alpha val="100000"/>
            </a:schemeClr>
          </a:solidFill>
          <a:ln/>
        </p:spPr>
      </p:sp>
      <p:cxnSp>
        <p:nvCxnSpPr>
          <p:cNvPr name="Connector 11" id="11"/>
          <p:cNvCxnSpPr/>
          <p:nvPr/>
        </p:nvCxnSpPr>
        <p:spPr>
          <a:xfrm>
            <a:off x="6347981" y="1792120"/>
            <a:ext cx="0" cy="4187687"/>
          </a:xfrm>
          <a:prstGeom prst="line">
            <a:avLst/>
          </a:prstGeom>
          <a:ln w="9525">
            <a:solidFill>
              <a:schemeClr val="accent1"/>
            </a:solidFill>
            <a:prstDash val="dash"/>
            <a:headEnd type="none"/>
            <a:tailEnd type="none"/>
          </a:ln>
        </p:spPr>
        <p:style>
          <a:lnRef idx="0">
            <a:schemeClr val="accent1"/>
          </a:lnRef>
          <a:fillRef idx="1">
            <a:schemeClr val="accent1"/>
          </a:fillRef>
          <a:effectRef idx="0">
            <a:schemeClr val="accent1"/>
          </a:effectRef>
          <a:fontRef idx="minor">
            <a:schemeClr val="lt1"/>
          </a:fontRef>
        </p:style>
      </p:cxnSp>
      <p:sp>
        <p:nvSpPr>
          <p:cNvPr name="AutoShape 12" id="12"/>
          <p:cNvSpPr/>
          <p:nvPr/>
        </p:nvSpPr>
        <p:spPr>
          <a:xfrm rot="0">
            <a:off x="8962210" y="1578150"/>
            <a:ext cx="474399" cy="474399"/>
          </a:xfrm>
          <a:prstGeom prst="ellipse">
            <a:avLst/>
          </a:prstGeom>
          <a:solidFill>
            <a:schemeClr val="accent1">
              <a:alpha val="50000"/>
            </a:schemeClr>
          </a:solidFill>
          <a:ln/>
        </p:spPr>
      </p:sp>
      <p:sp>
        <p:nvSpPr>
          <p:cNvPr name="AutoShape 13" id="13"/>
          <p:cNvSpPr/>
          <p:nvPr/>
        </p:nvSpPr>
        <p:spPr>
          <a:xfrm rot="0">
            <a:off x="9024882" y="1647069"/>
            <a:ext cx="334599" cy="334599"/>
          </a:xfrm>
          <a:prstGeom prst="ellipse">
            <a:avLst/>
          </a:prstGeom>
          <a:solidFill>
            <a:schemeClr val="accent1">
              <a:alpha val="100000"/>
            </a:schemeClr>
          </a:solidFill>
          <a:ln/>
        </p:spPr>
      </p:sp>
      <p:cxnSp>
        <p:nvCxnSpPr>
          <p:cNvPr name="Connector 14" id="14"/>
          <p:cNvCxnSpPr/>
          <p:nvPr/>
        </p:nvCxnSpPr>
        <p:spPr>
          <a:xfrm>
            <a:off x="9183730" y="1792120"/>
            <a:ext cx="0" cy="4187687"/>
          </a:xfrm>
          <a:prstGeom prst="line">
            <a:avLst/>
          </a:prstGeom>
          <a:ln w="9525">
            <a:solidFill>
              <a:schemeClr val="accent1"/>
            </a:solidFill>
            <a:prstDash val="dash"/>
            <a:headEnd type="none"/>
            <a:tailEnd type="none"/>
          </a:ln>
        </p:spPr>
        <p:style>
          <a:lnRef idx="0">
            <a:schemeClr val="accent1"/>
          </a:lnRef>
          <a:fillRef idx="1">
            <a:schemeClr val="accent1"/>
          </a:fillRef>
          <a:effectRef idx="0">
            <a:schemeClr val="accent1"/>
          </a:effectRef>
          <a:fontRef idx="minor">
            <a:schemeClr val="lt1"/>
          </a:fontRef>
        </p:style>
      </p:cxnSp>
      <p:sp>
        <p:nvSpPr>
          <p:cNvPr name="TextBox 15" id="15"/>
          <p:cNvSpPr txBox="true"/>
          <p:nvPr/>
        </p:nvSpPr>
        <p:spPr>
          <a:xfrm rot="0">
            <a:off x="6600860" y="2291273"/>
            <a:ext cx="2325536" cy="3533583"/>
          </a:xfrm>
          <a:prstGeom prst="rect">
            <a:avLst/>
          </a:prstGeom>
          <a:ln/>
        </p:spPr>
        <p:txBody>
          <a:bodyPr anchor="t" rtlCol="false" lIns="123825" rIns="57150" tIns="123825" bIns="123825" anchorCtr="false" vert="horz" wrap="square">
            <a:noAutofit/>
          </a:bodyPr>
          <a:lstStyle/>
          <a:p>
            <a:pPr>
              <a:lnSpc>
                <a:spcPct val="140000"/>
              </a:lnSpc>
            </a:pPr>
            <a:r>
              <a:rPr lang="en-US" sz="2000">
                <a:solidFill>
                  <a:schemeClr val="dk1">
                    <a:alpha val="100000"/>
                  </a:schemeClr>
                </a:solidFill>
                <a:latin typeface="Noto Sans SC"/>
                <a:ea typeface="Noto Sans SC"/>
                <a:cs typeface="Noto Sans SC"/>
              </a:rPr>
              <a:t>Multi-AZ RDS provides automatic failover capability for the relational database, ensuring database availability during unexpected outages.</a:t>
            </a:r>
          </a:p>
        </p:txBody>
      </p:sp>
      <p:sp>
        <p:nvSpPr>
          <p:cNvPr name="TextBox 16" id="16"/>
          <p:cNvSpPr txBox="true"/>
          <p:nvPr/>
        </p:nvSpPr>
        <p:spPr>
          <a:xfrm rot="0">
            <a:off x="9436609" y="2291273"/>
            <a:ext cx="2325536" cy="3533583"/>
          </a:xfrm>
          <a:prstGeom prst="rect">
            <a:avLst/>
          </a:prstGeom>
          <a:ln/>
        </p:spPr>
        <p:txBody>
          <a:bodyPr anchor="t" rtlCol="false" lIns="123825" rIns="57150" tIns="123825" bIns="123825" anchorCtr="false" vert="horz" wrap="square">
            <a:noAutofit/>
          </a:bodyPr>
          <a:lstStyle/>
          <a:p>
            <a:pPr>
              <a:lnSpc>
                <a:spcPct val="140000"/>
              </a:lnSpc>
            </a:pPr>
            <a:r>
              <a:rPr lang="en-US" sz="2000">
                <a:solidFill>
                  <a:schemeClr val="dk1">
                    <a:alpha val="100000"/>
                  </a:schemeClr>
                </a:solidFill>
                <a:latin typeface="Noto Sans SC"/>
                <a:ea typeface="Noto Sans SC"/>
                <a:cs typeface="Noto Sans SC"/>
              </a:rPr>
              <a:t>CloudFront reduces latency by caching static assets globally, providing users with quick access to content from edge locations.</a:t>
            </a:r>
          </a:p>
        </p:txBody>
      </p:sp>
      <p:sp>
        <p:nvSpPr>
          <p:cNvPr name="TextBox 17" id="17"/>
          <p:cNvSpPr txBox="true"/>
          <p:nvPr/>
        </p:nvSpPr>
        <p:spPr>
          <a:xfrm rot="0">
            <a:off x="929362" y="2291273"/>
            <a:ext cx="2325536" cy="3533583"/>
          </a:xfrm>
          <a:prstGeom prst="rect">
            <a:avLst/>
          </a:prstGeom>
          <a:ln/>
        </p:spPr>
        <p:txBody>
          <a:bodyPr anchor="t" rtlCol="false" lIns="123825" rIns="57150" tIns="123825" bIns="123825" anchorCtr="false" vert="horz" wrap="square">
            <a:noAutofit/>
          </a:bodyPr>
          <a:lstStyle/>
          <a:p>
            <a:pPr>
              <a:lnSpc>
                <a:spcPct val="140000"/>
              </a:lnSpc>
            </a:pPr>
            <a:r>
              <a:rPr lang="en-US" sz="2000">
                <a:solidFill>
                  <a:schemeClr val="dk1">
                    <a:alpha val="100000"/>
                  </a:schemeClr>
                </a:solidFill>
                <a:latin typeface="Noto Sans SC"/>
                <a:ea typeface="Noto Sans SC"/>
                <a:cs typeface="Noto Sans SC"/>
              </a:rPr>
              <a:t>Leverages ELB to distribute incoming traffic across multiple EC2 instances and Availability Zones, ensuring that no single point of failure disrupts uptime.</a:t>
            </a:r>
          </a:p>
        </p:txBody>
      </p:sp>
      <p:sp>
        <p:nvSpPr>
          <p:cNvPr name="TextBox 18" id="18"/>
          <p:cNvSpPr txBox="true"/>
          <p:nvPr/>
        </p:nvSpPr>
        <p:spPr>
          <a:xfrm rot="0">
            <a:off x="476023" y="265328"/>
            <a:ext cx="11239500" cy="914400"/>
          </a:xfrm>
          <a:prstGeom prst="rect">
            <a:avLst/>
          </a:prstGeom>
          <a:ln/>
        </p:spPr>
        <p:txBody>
          <a:bodyPr anchor="ctr" rtlCol="false" lIns="123825" rIns="57150" tIns="123825" bIns="123825" anchorCtr="false" vert="horz" wrap="square">
            <a:noAutofit/>
          </a:bodyPr>
          <a:lstStyle/>
          <a:p>
            <a:pPr>
              <a:lnSpc>
                <a:spcPct val="140000"/>
              </a:lnSpc>
            </a:pPr>
            <a:r>
              <a:rPr lang="en-US" b="true" sz="3000">
                <a:solidFill>
                  <a:schemeClr val="dk2">
                    <a:alpha val="100000"/>
                  </a:schemeClr>
                </a:solidFill>
                <a:latin typeface="Noto Sans SC"/>
                <a:ea typeface="Noto Sans SC"/>
                <a:cs typeface="Noto Sans SC"/>
              </a:rPr>
              <a:t>High Availability</a:t>
            </a:r>
          </a:p>
        </p:txBody>
      </p:sp>
    </p:spTree>
  </p:cSld>
  <p:clrMapOvr>
    <a:masterClrMapping/>
  </p:clrMapOvr>
  <p:transition spd="slow">
    <p:push/>
  </p:transition>
</p:sld>
</file>

<file path=ppt/slides/slide18.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TextBox 2" id="2"/>
          <p:cNvSpPr txBox="true"/>
          <p:nvPr/>
        </p:nvSpPr>
        <p:spPr>
          <a:xfrm rot="0">
            <a:off x="476023" y="265328"/>
            <a:ext cx="11239500" cy="914400"/>
          </a:xfrm>
          <a:prstGeom prst="rect">
            <a:avLst/>
          </a:prstGeom>
          <a:ln/>
        </p:spPr>
        <p:txBody>
          <a:bodyPr anchor="ctr" rtlCol="false" lIns="123825" rIns="57150" tIns="123825" bIns="123825" anchorCtr="false" vert="horz" wrap="square">
            <a:noAutofit/>
          </a:bodyPr>
          <a:lstStyle/>
          <a:p>
            <a:pPr>
              <a:lnSpc>
                <a:spcPct val="140000"/>
              </a:lnSpc>
            </a:pPr>
            <a:r>
              <a:rPr lang="en-US" b="true" sz="3000">
                <a:solidFill>
                  <a:schemeClr val="dk2">
                    <a:alpha val="100000"/>
                  </a:schemeClr>
                </a:solidFill>
                <a:latin typeface="Noto Sans SC"/>
                <a:ea typeface="Noto Sans SC"/>
                <a:cs typeface="Noto Sans SC"/>
              </a:rPr>
              <a:t>Scalability</a:t>
            </a:r>
          </a:p>
        </p:txBody>
      </p:sp>
      <p:sp>
        <p:nvSpPr>
          <p:cNvPr name="AutoShape 3" id="3"/>
          <p:cNvSpPr/>
          <p:nvPr/>
        </p:nvSpPr>
        <p:spPr>
          <a:xfrm rot="0">
            <a:off x="651754" y="1716288"/>
            <a:ext cx="3429000" cy="4591050"/>
          </a:xfrm>
          <a:prstGeom prst="round2DiagRect">
            <a:avLst/>
          </a:prstGeom>
          <a:solidFill>
            <a:schemeClr val="lt2">
              <a:alpha val="80000"/>
            </a:schemeClr>
          </a:solidFill>
          <a:ln/>
        </p:spPr>
      </p:sp>
      <p:sp>
        <p:nvSpPr>
          <p:cNvPr name="TextBox 4" id="4"/>
          <p:cNvSpPr txBox="true"/>
          <p:nvPr/>
        </p:nvSpPr>
        <p:spPr>
          <a:xfrm rot="0">
            <a:off x="912963" y="2299595"/>
            <a:ext cx="2857500" cy="3495197"/>
          </a:xfrm>
          <a:prstGeom prst="rect">
            <a:avLst/>
          </a:prstGeom>
          <a:ln/>
        </p:spPr>
        <p:txBody>
          <a:bodyPr anchor="t" rtlCol="false" lIns="0" rIns="0" tIns="0" bIns="0" anchorCtr="false" vert="horz" wrap="square">
            <a:noAutofit/>
          </a:bodyPr>
          <a:lstStyle/>
          <a:p>
            <a:pPr>
              <a:lnSpc>
                <a:spcPct val="140000"/>
              </a:lnSpc>
              <a:spcBef>
                <a:spcPct val="0"/>
              </a:spcBef>
            </a:pPr>
            <a:r>
              <a:rPr lang="en-US" sz="2000">
                <a:solidFill>
                  <a:schemeClr val="dk1">
                    <a:alpha val="100000"/>
                  </a:schemeClr>
                </a:solidFill>
                <a:latin typeface="Noto Sans SC"/>
                <a:ea typeface="Noto Sans SC"/>
                <a:cs typeface="Noto Sans SC"/>
              </a:rPr>
              <a:t>Auto Scaling dynamically adjusts the number of EC2 instances according to traffic patterns, accommodating sudden spikes or reducing idle resources automatically.</a:t>
            </a:r>
          </a:p>
        </p:txBody>
      </p:sp>
      <p:sp>
        <p:nvSpPr>
          <p:cNvPr name="AutoShape 5" id="5"/>
          <p:cNvSpPr/>
          <p:nvPr/>
        </p:nvSpPr>
        <p:spPr>
          <a:xfrm rot="0">
            <a:off x="4345585" y="1704871"/>
            <a:ext cx="3429000" cy="4591050"/>
          </a:xfrm>
          <a:prstGeom prst="round2DiagRect">
            <a:avLst/>
          </a:prstGeom>
          <a:solidFill>
            <a:schemeClr val="lt2">
              <a:alpha val="80000"/>
            </a:schemeClr>
          </a:solidFill>
          <a:ln/>
        </p:spPr>
      </p:sp>
      <p:sp>
        <p:nvSpPr>
          <p:cNvPr name="TextBox 6" id="6"/>
          <p:cNvSpPr txBox="true"/>
          <p:nvPr/>
        </p:nvSpPr>
        <p:spPr>
          <a:xfrm rot="0">
            <a:off x="4606794" y="2288178"/>
            <a:ext cx="2857500" cy="3506614"/>
          </a:xfrm>
          <a:prstGeom prst="rect">
            <a:avLst/>
          </a:prstGeom>
          <a:ln/>
        </p:spPr>
        <p:txBody>
          <a:bodyPr anchor="t" rtlCol="false" lIns="0" rIns="0" tIns="0" bIns="0" anchorCtr="false" vert="horz" wrap="square">
            <a:noAutofit/>
          </a:bodyPr>
          <a:lstStyle/>
          <a:p>
            <a:pPr>
              <a:lnSpc>
                <a:spcPct val="140000"/>
              </a:lnSpc>
              <a:spcBef>
                <a:spcPct val="0"/>
              </a:spcBef>
            </a:pPr>
            <a:r>
              <a:rPr lang="en-US" sz="2000">
                <a:solidFill>
                  <a:schemeClr val="dk1">
                    <a:alpha val="100000"/>
                  </a:schemeClr>
                </a:solidFill>
                <a:latin typeface="Noto Sans SC"/>
                <a:ea typeface="Noto Sans SC"/>
                <a:cs typeface="Noto Sans SC"/>
              </a:rPr>
              <a:t>AWS Lambda enhances scalability by managing event-driven workloads, such as image processing or creating 3D model thumbnails, without requiring pre-provisioned infrastructure.</a:t>
            </a:r>
          </a:p>
        </p:txBody>
      </p:sp>
      <p:sp>
        <p:nvSpPr>
          <p:cNvPr name="AutoShape 7" id="7"/>
          <p:cNvSpPr/>
          <p:nvPr/>
        </p:nvSpPr>
        <p:spPr>
          <a:xfrm rot="0">
            <a:off x="8039417" y="1693454"/>
            <a:ext cx="3429000" cy="4591050"/>
          </a:xfrm>
          <a:prstGeom prst="round2DiagRect">
            <a:avLst/>
          </a:prstGeom>
          <a:solidFill>
            <a:schemeClr val="lt2">
              <a:alpha val="80000"/>
            </a:schemeClr>
          </a:solidFill>
          <a:ln/>
        </p:spPr>
      </p:sp>
      <p:sp>
        <p:nvSpPr>
          <p:cNvPr name="TextBox 8" id="8"/>
          <p:cNvSpPr txBox="true"/>
          <p:nvPr/>
        </p:nvSpPr>
        <p:spPr>
          <a:xfrm rot="0">
            <a:off x="8300625" y="2276762"/>
            <a:ext cx="2857500" cy="3518031"/>
          </a:xfrm>
          <a:prstGeom prst="rect">
            <a:avLst/>
          </a:prstGeom>
          <a:ln/>
        </p:spPr>
        <p:txBody>
          <a:bodyPr anchor="t" rtlCol="false" lIns="0" rIns="0" tIns="0" bIns="0" anchorCtr="false" vert="horz" wrap="square">
            <a:noAutofit/>
          </a:bodyPr>
          <a:lstStyle/>
          <a:p>
            <a:pPr>
              <a:lnSpc>
                <a:spcPct val="140000"/>
              </a:lnSpc>
              <a:spcBef>
                <a:spcPct val="0"/>
              </a:spcBef>
            </a:pPr>
            <a:r>
              <a:rPr lang="en-US" sz="2000">
                <a:solidFill>
                  <a:schemeClr val="dk1">
                    <a:alpha val="100000"/>
                  </a:schemeClr>
                </a:solidFill>
                <a:latin typeface="Noto Sans SC"/>
                <a:ea typeface="Noto Sans SC"/>
                <a:cs typeface="Noto Sans SC"/>
              </a:rPr>
              <a:t>DynamoDB offers horizontal scaling to handle increased read and write throughput for product catalog metadata and interaction data without performance degradation.</a:t>
            </a:r>
          </a:p>
        </p:txBody>
      </p:sp>
    </p:spTree>
  </p:cSld>
  <p:clrMapOvr>
    <a:masterClrMapping/>
  </p:clrMapOvr>
  <p:transition spd="slow">
    <p:push/>
  </p:transition>
</p:sld>
</file>

<file path=ppt/slides/slide19.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TextBox 2" id="2"/>
          <p:cNvSpPr txBox="true"/>
          <p:nvPr/>
        </p:nvSpPr>
        <p:spPr>
          <a:xfrm rot="0">
            <a:off x="10393985" y="-922877"/>
            <a:ext cx="1317650" cy="775716"/>
          </a:xfrm>
          <a:prstGeom prst="rect">
            <a:avLst/>
          </a:prstGeom>
          <a:ln/>
        </p:spPr>
        <p:txBody>
          <a:bodyPr anchor="t" rtlCol="false" lIns="123825" rIns="57150" tIns="123825" bIns="123825" anchorCtr="false" vert="horz" wrap="square">
            <a:spAutoFit/>
          </a:bodyPr>
          <a:lstStyle/>
          <a:p>
            <a:pPr algn="ctr">
              <a:lnSpc>
                <a:spcPct val="186000"/>
              </a:lnSpc>
            </a:pPr>
            <a:r>
              <a:rPr lang="en-US" b="true" sz="1414">
                <a:solidFill>
                  <a:srgbClr val="FFFFFF">
                    <a:alpha val="100000"/>
                  </a:srgbClr>
                </a:solidFill>
                <a:latin typeface="Noto Sans SC"/>
                <a:ea typeface="Noto Sans SC"/>
                <a:cs typeface="Noto Sans SC"/>
              </a:rPr>
              <a:t>Point三</a:t>
            </a:r>
          </a:p>
        </p:txBody>
      </p:sp>
      <p:sp>
        <p:nvSpPr>
          <p:cNvPr name="TextBox 3" id="3"/>
          <p:cNvSpPr txBox="true"/>
          <p:nvPr/>
        </p:nvSpPr>
        <p:spPr>
          <a:xfrm rot="0">
            <a:off x="476023" y="265328"/>
            <a:ext cx="11239500" cy="914400"/>
          </a:xfrm>
          <a:prstGeom prst="rect">
            <a:avLst/>
          </a:prstGeom>
          <a:ln/>
        </p:spPr>
        <p:txBody>
          <a:bodyPr anchor="ctr" rtlCol="false" lIns="123825" rIns="57150" tIns="123825" bIns="123825" anchorCtr="false" vert="horz" wrap="square">
            <a:noAutofit/>
          </a:bodyPr>
          <a:lstStyle/>
          <a:p>
            <a:pPr>
              <a:lnSpc>
                <a:spcPct val="140000"/>
              </a:lnSpc>
            </a:pPr>
            <a:r>
              <a:rPr lang="en-US" b="true" sz="3000">
                <a:solidFill>
                  <a:schemeClr val="dk2">
                    <a:alpha val="100000"/>
                  </a:schemeClr>
                </a:solidFill>
                <a:latin typeface="Noto Sans SC"/>
                <a:ea typeface="Noto Sans SC"/>
                <a:cs typeface="Noto Sans SC"/>
              </a:rPr>
              <a:t>Performance</a:t>
            </a:r>
          </a:p>
        </p:txBody>
      </p:sp>
      <p:sp>
        <p:nvSpPr>
          <p:cNvPr name="AutoShape 4" id="4"/>
          <p:cNvSpPr/>
          <p:nvPr/>
        </p:nvSpPr>
        <p:spPr>
          <a:xfrm rot="0">
            <a:off x="8139661" y="1795631"/>
            <a:ext cx="3569064" cy="4239495"/>
          </a:xfrm>
          <a:prstGeom prst="roundRect">
            <a:avLst>
              <a:gd fmla="val 6169" name="adj"/>
            </a:avLst>
          </a:prstGeom>
          <a:solidFill>
            <a:schemeClr val="lt2">
              <a:alpha val="80000"/>
            </a:schemeClr>
          </a:solidFill>
          <a:ln/>
        </p:spPr>
      </p:sp>
      <p:sp>
        <p:nvSpPr>
          <p:cNvPr name="AutoShape 5" id="5"/>
          <p:cNvSpPr/>
          <p:nvPr/>
        </p:nvSpPr>
        <p:spPr>
          <a:xfrm rot="0">
            <a:off x="4328276" y="1469621"/>
            <a:ext cx="3529626" cy="4891516"/>
          </a:xfrm>
          <a:prstGeom prst="roundRect">
            <a:avLst>
              <a:gd fmla="val 6169" name="adj"/>
            </a:avLst>
          </a:prstGeom>
          <a:solidFill>
            <a:schemeClr val="accent1">
              <a:alpha val="100000"/>
            </a:schemeClr>
          </a:solidFill>
          <a:ln/>
        </p:spPr>
      </p:sp>
      <p:sp>
        <p:nvSpPr>
          <p:cNvPr name="AutoShape 6" id="6"/>
          <p:cNvSpPr/>
          <p:nvPr/>
        </p:nvSpPr>
        <p:spPr>
          <a:xfrm rot="0">
            <a:off x="483275" y="1795631"/>
            <a:ext cx="3569064" cy="4239495"/>
          </a:xfrm>
          <a:prstGeom prst="roundRect">
            <a:avLst>
              <a:gd fmla="val 6169" name="adj"/>
            </a:avLst>
          </a:prstGeom>
          <a:solidFill>
            <a:schemeClr val="lt2">
              <a:alpha val="80000"/>
            </a:schemeClr>
          </a:solidFill>
          <a:ln/>
        </p:spPr>
      </p:sp>
      <p:sp>
        <p:nvSpPr>
          <p:cNvPr name="TextBox 7" id="7"/>
          <p:cNvSpPr txBox="true"/>
          <p:nvPr/>
        </p:nvSpPr>
        <p:spPr>
          <a:xfrm rot="0">
            <a:off x="743807" y="2863197"/>
            <a:ext cx="3048000" cy="2839003"/>
          </a:xfrm>
          <a:prstGeom prst="rect">
            <a:avLst/>
          </a:prstGeom>
          <a:ln/>
        </p:spPr>
        <p:txBody>
          <a:bodyPr anchor="t" rtlCol="false" lIns="123825" rIns="57150" tIns="123825" bIns="123825"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CloudFront accelerates content delivery by caching 3D models and static assets at edge locations near users, ensuring lower latency and faster load times.</a:t>
            </a:r>
          </a:p>
        </p:txBody>
      </p:sp>
      <p:sp>
        <p:nvSpPr>
          <p:cNvPr name="TextBox 8" id="8"/>
          <p:cNvSpPr txBox="true"/>
          <p:nvPr/>
        </p:nvSpPr>
        <p:spPr>
          <a:xfrm rot="0">
            <a:off x="4536361" y="2863197"/>
            <a:ext cx="3048000" cy="2839003"/>
          </a:xfrm>
          <a:prstGeom prst="rect">
            <a:avLst/>
          </a:prstGeom>
          <a:ln/>
        </p:spPr>
        <p:txBody>
          <a:bodyPr anchor="t" rtlCol="false" lIns="123825" rIns="57150" tIns="123825" bIns="123825" anchorCtr="false" vert="horz" wrap="square">
            <a:noAutofit/>
          </a:bodyPr>
          <a:lstStyle/>
          <a:p>
            <a:pPr algn="ctr">
              <a:lnSpc>
                <a:spcPct val="140000"/>
              </a:lnSpc>
            </a:pPr>
            <a:r>
              <a:rPr lang="en-US" sz="2000">
                <a:solidFill>
                  <a:srgbClr val="FFFFFF">
                    <a:alpha val="100000"/>
                  </a:srgbClr>
                </a:solidFill>
                <a:latin typeface="Noto Sans SC"/>
                <a:ea typeface="Noto Sans SC"/>
                <a:cs typeface="Noto Sans SC"/>
              </a:rPr>
              <a:t>Amazon S3 enables efficient storage and fast retrieval of static content such as 3D models, images, and textures, optimizing the end-user experience.</a:t>
            </a:r>
          </a:p>
        </p:txBody>
      </p:sp>
      <p:sp>
        <p:nvSpPr>
          <p:cNvPr name="TextBox 9" id="9"/>
          <p:cNvSpPr txBox="true"/>
          <p:nvPr/>
        </p:nvSpPr>
        <p:spPr>
          <a:xfrm rot="0">
            <a:off x="8400193" y="2863197"/>
            <a:ext cx="3048000" cy="2839003"/>
          </a:xfrm>
          <a:prstGeom prst="rect">
            <a:avLst/>
          </a:prstGeom>
          <a:ln/>
        </p:spPr>
        <p:txBody>
          <a:bodyPr anchor="t" rtlCol="false" lIns="123825" rIns="57150" tIns="123825" bIns="123825"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DynamoDB delivers low-latency, high-throughput performance for retrieving and updating product or user interaction data critical to platform responsiveness.</a:t>
            </a:r>
          </a:p>
        </p:txBody>
      </p:sp>
      <p:sp>
        <p:nvSpPr>
          <p:cNvPr name="Freeform 10" id="10"/>
          <p:cNvSpPr/>
          <p:nvPr/>
        </p:nvSpPr>
        <p:spPr>
          <a:xfrm rot="0">
            <a:off x="5817029" y="1982274"/>
            <a:ext cx="552120" cy="536784"/>
          </a:xfrm>
          <a:custGeom>
            <a:avLst/>
            <a:gdLst/>
            <a:ahLst/>
            <a:cxnLst/>
            <a:rect r="r" b="b" t="t" l="l"/>
            <a:pathLst>
              <a:path h="304800" w="304800">
                <a:moveTo>
                  <a:pt x="167640" y="0"/>
                </a:moveTo>
                <a:lnTo>
                  <a:pt x="182880" y="0"/>
                </a:lnTo>
                <a:lnTo>
                  <a:pt x="182880" y="45720"/>
                </a:lnTo>
                <a:lnTo>
                  <a:pt x="228600" y="152400"/>
                </a:lnTo>
                <a:lnTo>
                  <a:pt x="228600" y="274320"/>
                </a:lnTo>
                <a:cubicBezTo>
                  <a:pt x="228600" y="291151"/>
                  <a:pt x="214951" y="304800"/>
                  <a:pt x="198120" y="304800"/>
                </a:cubicBezTo>
                <a:lnTo>
                  <a:pt x="198120" y="304800"/>
                </a:lnTo>
                <a:lnTo>
                  <a:pt x="76200" y="304800"/>
                </a:lnTo>
                <a:cubicBezTo>
                  <a:pt x="59436" y="304800"/>
                  <a:pt x="40996" y="291998"/>
                  <a:pt x="35052" y="276149"/>
                </a:cubicBezTo>
                <a:lnTo>
                  <a:pt x="0" y="182880"/>
                </a:lnTo>
                <a:lnTo>
                  <a:pt x="0" y="152400"/>
                </a:lnTo>
                <a:cubicBezTo>
                  <a:pt x="0" y="135569"/>
                  <a:pt x="13649" y="121920"/>
                  <a:pt x="30480" y="121920"/>
                </a:cubicBezTo>
                <a:lnTo>
                  <a:pt x="30480" y="121920"/>
                </a:lnTo>
                <a:lnTo>
                  <a:pt x="137160" y="121920"/>
                </a:lnTo>
                <a:lnTo>
                  <a:pt x="137160" y="30480"/>
                </a:lnTo>
                <a:cubicBezTo>
                  <a:pt x="137160" y="13649"/>
                  <a:pt x="150809" y="0"/>
                  <a:pt x="167640" y="0"/>
                </a:cubicBezTo>
                <a:lnTo>
                  <a:pt x="167640" y="0"/>
                </a:lnTo>
                <a:close/>
              </a:path>
              <a:path h="304800" w="304800">
                <a:moveTo>
                  <a:pt x="259080" y="152400"/>
                </a:moveTo>
                <a:lnTo>
                  <a:pt x="304800" y="152400"/>
                </a:lnTo>
                <a:lnTo>
                  <a:pt x="304800" y="304800"/>
                </a:lnTo>
                <a:lnTo>
                  <a:pt x="259080" y="304800"/>
                </a:lnTo>
                <a:lnTo>
                  <a:pt x="259080" y="152400"/>
                </a:lnTo>
              </a:path>
            </a:pathLst>
          </a:custGeom>
          <a:solidFill>
            <a:srgbClr val="FFFFFF">
              <a:alpha val="100000"/>
            </a:srgbClr>
          </a:solidFill>
          <a:ln/>
        </p:spPr>
      </p:sp>
      <p:sp>
        <p:nvSpPr>
          <p:cNvPr name="Freeform 11" id="11"/>
          <p:cNvSpPr/>
          <p:nvPr/>
        </p:nvSpPr>
        <p:spPr>
          <a:xfrm rot="0">
            <a:off x="2022539" y="2155360"/>
            <a:ext cx="490537" cy="477628"/>
          </a:xfrm>
          <a:custGeom>
            <a:avLst/>
            <a:gdLst/>
            <a:ahLst/>
            <a:cxnLst/>
            <a:rect r="r" b="b" t="t" l="l"/>
            <a:pathLst>
              <a:path h="304800" w="304800">
                <a:moveTo>
                  <a:pt x="152800" y="79486"/>
                </a:moveTo>
                <a:cubicBezTo>
                  <a:pt x="152800" y="79486"/>
                  <a:pt x="133750" y="38891"/>
                  <a:pt x="90888" y="38891"/>
                </a:cubicBezTo>
                <a:cubicBezTo>
                  <a:pt x="44053" y="38891"/>
                  <a:pt x="19450" y="78581"/>
                  <a:pt x="19450" y="118262"/>
                </a:cubicBezTo>
                <a:cubicBezTo>
                  <a:pt x="19450" y="184147"/>
                  <a:pt x="152800" y="265900"/>
                  <a:pt x="152800" y="265900"/>
                </a:cubicBezTo>
                <a:cubicBezTo>
                  <a:pt x="152800" y="265900"/>
                  <a:pt x="285350" y="184937"/>
                  <a:pt x="285350" y="118262"/>
                </a:cubicBezTo>
                <a:cubicBezTo>
                  <a:pt x="285350" y="77781"/>
                  <a:pt x="259956" y="38891"/>
                  <a:pt x="214713" y="38891"/>
                </a:cubicBezTo>
                <a:cubicBezTo>
                  <a:pt x="169469" y="38891"/>
                  <a:pt x="152800" y="79486"/>
                  <a:pt x="152800" y="79486"/>
                </a:cubicBezTo>
              </a:path>
            </a:pathLst>
          </a:custGeom>
          <a:solidFill>
            <a:schemeClr val="accent1">
              <a:alpha val="100000"/>
            </a:schemeClr>
          </a:solidFill>
          <a:ln/>
        </p:spPr>
      </p:sp>
      <p:sp>
        <p:nvSpPr>
          <p:cNvPr name="Freeform 12" id="12"/>
          <p:cNvSpPr/>
          <p:nvPr/>
        </p:nvSpPr>
        <p:spPr>
          <a:xfrm rot="0">
            <a:off x="9677710" y="2140023"/>
            <a:ext cx="492965" cy="492965"/>
          </a:xfrm>
          <a:custGeom>
            <a:avLst/>
            <a:gdLst/>
            <a:ahLst/>
            <a:cxnLst/>
            <a:rect r="r" b="b" t="t" l="l"/>
            <a:pathLst>
              <a:path h="304800" w="304800">
                <a:moveTo>
                  <a:pt x="210855" y="186928"/>
                </a:moveTo>
                <a:lnTo>
                  <a:pt x="304800" y="114300"/>
                </a:lnTo>
                <a:lnTo>
                  <a:pt x="190500" y="114300"/>
                </a:lnTo>
                <a:lnTo>
                  <a:pt x="152400" y="0"/>
                </a:lnTo>
                <a:lnTo>
                  <a:pt x="114300" y="114300"/>
                </a:lnTo>
                <a:lnTo>
                  <a:pt x="0" y="114300"/>
                </a:lnTo>
                <a:lnTo>
                  <a:pt x="94059" y="186633"/>
                </a:lnTo>
                <a:lnTo>
                  <a:pt x="57150" y="304800"/>
                </a:lnTo>
                <a:lnTo>
                  <a:pt x="152552" y="231648"/>
                </a:lnTo>
                <a:lnTo>
                  <a:pt x="247726" y="304800"/>
                </a:lnTo>
              </a:path>
            </a:pathLst>
          </a:custGeom>
          <a:solidFill>
            <a:schemeClr val="accent1">
              <a:alpha val="100000"/>
            </a:schemeClr>
          </a:solidFill>
          <a:ln/>
        </p:spPr>
      </p:sp>
    </p:spTree>
  </p:cSld>
  <p:clrMapOvr>
    <a:masterClrMapping/>
  </p:clrMapOvr>
  <p:transition spd="slow">
    <p:push/>
  </p:transition>
</p:sld>
</file>

<file path=ppt/slides/slide20.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AutoShape 2" id="2"/>
          <p:cNvSpPr/>
          <p:nvPr/>
        </p:nvSpPr>
        <p:spPr>
          <a:xfrm rot="0">
            <a:off x="538667" y="1819508"/>
            <a:ext cx="5461334" cy="1920000"/>
          </a:xfrm>
          <a:prstGeom prst="roundRect">
            <a:avLst>
              <a:gd fmla="val 12222" name="adj"/>
            </a:avLst>
          </a:prstGeom>
          <a:solidFill>
            <a:schemeClr val="lt2">
              <a:alpha val="100000"/>
            </a:schemeClr>
          </a:solidFill>
          <a:ln/>
        </p:spPr>
      </p:sp>
      <p:sp>
        <p:nvSpPr>
          <p:cNvPr name="TextBox 3" id="3"/>
          <p:cNvSpPr txBox="true"/>
          <p:nvPr/>
        </p:nvSpPr>
        <p:spPr>
          <a:xfrm rot="0">
            <a:off x="476023" y="265328"/>
            <a:ext cx="11239500" cy="914400"/>
          </a:xfrm>
          <a:prstGeom prst="rect">
            <a:avLst/>
          </a:prstGeom>
          <a:ln/>
        </p:spPr>
        <p:txBody>
          <a:bodyPr anchor="ctr" rtlCol="false" lIns="123825" rIns="57150" tIns="123825" bIns="123825" anchorCtr="false" vert="horz" wrap="square">
            <a:noAutofit/>
          </a:bodyPr>
          <a:lstStyle/>
          <a:p>
            <a:pPr>
              <a:lnSpc>
                <a:spcPct val="140000"/>
              </a:lnSpc>
            </a:pPr>
            <a:r>
              <a:rPr lang="en-US" b="true" sz="3000">
                <a:solidFill>
                  <a:schemeClr val="dk2">
                    <a:alpha val="100000"/>
                  </a:schemeClr>
                </a:solidFill>
                <a:latin typeface="Noto Sans SC"/>
                <a:ea typeface="Noto Sans SC"/>
                <a:cs typeface="Noto Sans SC"/>
              </a:rPr>
              <a:t>Security</a:t>
            </a:r>
          </a:p>
        </p:txBody>
      </p:sp>
      <p:sp>
        <p:nvSpPr>
          <p:cNvPr name="TextBox 4" id="4"/>
          <p:cNvSpPr txBox="true"/>
          <p:nvPr/>
        </p:nvSpPr>
        <p:spPr>
          <a:xfrm rot="0">
            <a:off x="794041" y="2045910"/>
            <a:ext cx="4950584" cy="1467196"/>
          </a:xfrm>
          <a:prstGeom prst="rect">
            <a:avLst/>
          </a:prstGeom>
          <a:ln/>
        </p:spPr>
        <p:txBody>
          <a:bodyPr anchor="t" rtlCol="false" lIns="66008" rIns="66008" tIns="33052" bIns="33052"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IAM enforces a principle of least privilege, ensuring that users and systems only have access to the resources they truly need.</a:t>
            </a:r>
          </a:p>
        </p:txBody>
      </p:sp>
      <p:sp>
        <p:nvSpPr>
          <p:cNvPr name="AutoShape 5" id="5"/>
          <p:cNvSpPr/>
          <p:nvPr/>
        </p:nvSpPr>
        <p:spPr>
          <a:xfrm rot="0">
            <a:off x="6211833" y="1819508"/>
            <a:ext cx="5461334" cy="1920000"/>
          </a:xfrm>
          <a:prstGeom prst="roundRect">
            <a:avLst>
              <a:gd fmla="val 12222" name="adj"/>
            </a:avLst>
          </a:prstGeom>
          <a:solidFill>
            <a:schemeClr val="lt2">
              <a:alpha val="100000"/>
            </a:schemeClr>
          </a:solidFill>
          <a:ln/>
        </p:spPr>
      </p:sp>
      <p:sp>
        <p:nvSpPr>
          <p:cNvPr name="TextBox 6" id="6"/>
          <p:cNvSpPr txBox="true"/>
          <p:nvPr/>
        </p:nvSpPr>
        <p:spPr>
          <a:xfrm rot="0">
            <a:off x="6467208" y="2045910"/>
            <a:ext cx="4950584" cy="1467196"/>
          </a:xfrm>
          <a:prstGeom prst="rect">
            <a:avLst/>
          </a:prstGeom>
          <a:ln/>
        </p:spPr>
        <p:txBody>
          <a:bodyPr anchor="t" rtlCol="false" lIns="66008" rIns="66008" tIns="33052" bIns="33052"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Security Groups act as a virtual firewall for EC2 instances, limiting inbound and outbound traffic based on fine-tuned security rules.</a:t>
            </a:r>
          </a:p>
        </p:txBody>
      </p:sp>
      <p:sp>
        <p:nvSpPr>
          <p:cNvPr name="AutoShape 7" id="7"/>
          <p:cNvSpPr/>
          <p:nvPr/>
        </p:nvSpPr>
        <p:spPr>
          <a:xfrm rot="0">
            <a:off x="538667" y="3962758"/>
            <a:ext cx="5461334" cy="1920000"/>
          </a:xfrm>
          <a:prstGeom prst="roundRect">
            <a:avLst>
              <a:gd fmla="val 12222" name="adj"/>
            </a:avLst>
          </a:prstGeom>
          <a:solidFill>
            <a:schemeClr val="lt2">
              <a:alpha val="100000"/>
            </a:schemeClr>
          </a:solidFill>
          <a:ln/>
        </p:spPr>
      </p:sp>
      <p:sp>
        <p:nvSpPr>
          <p:cNvPr name="TextBox 8" id="8"/>
          <p:cNvSpPr txBox="true"/>
          <p:nvPr/>
        </p:nvSpPr>
        <p:spPr>
          <a:xfrm rot="0">
            <a:off x="794041" y="4189160"/>
            <a:ext cx="4950584" cy="1467196"/>
          </a:xfrm>
          <a:prstGeom prst="rect">
            <a:avLst/>
          </a:prstGeom>
          <a:ln/>
        </p:spPr>
        <p:txBody>
          <a:bodyPr anchor="t" rtlCol="false" lIns="66008" rIns="66008" tIns="33052" bIns="33052"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AWS WAF adds an extra layer of defense by blocking malicious web traffic and protecting the application from common attack patterns.</a:t>
            </a:r>
          </a:p>
        </p:txBody>
      </p:sp>
      <p:sp>
        <p:nvSpPr>
          <p:cNvPr name="AutoShape 9" id="9"/>
          <p:cNvSpPr/>
          <p:nvPr/>
        </p:nvSpPr>
        <p:spPr>
          <a:xfrm rot="0">
            <a:off x="6211833" y="3962758"/>
            <a:ext cx="5461334" cy="1920000"/>
          </a:xfrm>
          <a:prstGeom prst="roundRect">
            <a:avLst>
              <a:gd fmla="val 12222" name="adj"/>
            </a:avLst>
          </a:prstGeom>
          <a:solidFill>
            <a:schemeClr val="lt2">
              <a:alpha val="100000"/>
            </a:schemeClr>
          </a:solidFill>
          <a:ln/>
        </p:spPr>
      </p:sp>
      <p:sp>
        <p:nvSpPr>
          <p:cNvPr name="TextBox 10" id="10"/>
          <p:cNvSpPr txBox="true"/>
          <p:nvPr/>
        </p:nvSpPr>
        <p:spPr>
          <a:xfrm rot="0">
            <a:off x="6418776" y="4092296"/>
            <a:ext cx="4950584" cy="1467196"/>
          </a:xfrm>
          <a:prstGeom prst="rect">
            <a:avLst/>
          </a:prstGeom>
          <a:ln/>
        </p:spPr>
        <p:txBody>
          <a:bodyPr anchor="t" rtlCol="false" lIns="66008" rIns="66008" tIns="33052" bIns="33052"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SSL/TLS encryption through CloudFront ensures the confidentiality and integrity of data in transit, safeguarding sensitive information exchanged between users and the platform.</a:t>
            </a:r>
          </a:p>
        </p:txBody>
      </p:sp>
    </p:spTree>
  </p:cSld>
  <p:clrMapOvr>
    <a:masterClrMapping/>
  </p:clrMapOvr>
  <p:transition spd="slow">
    <p:push/>
  </p:transition>
</p:sld>
</file>

<file path=ppt/slides/slide21.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AutoShape 2" id="2"/>
          <p:cNvSpPr/>
          <p:nvPr/>
        </p:nvSpPr>
        <p:spPr>
          <a:xfrm rot="0">
            <a:off x="538667" y="1819508"/>
            <a:ext cx="5461334" cy="1920000"/>
          </a:xfrm>
          <a:prstGeom prst="roundRect">
            <a:avLst>
              <a:gd fmla="val 12222" name="adj"/>
            </a:avLst>
          </a:prstGeom>
          <a:solidFill>
            <a:schemeClr val="lt2">
              <a:alpha val="100000"/>
            </a:schemeClr>
          </a:solidFill>
          <a:ln/>
        </p:spPr>
      </p:sp>
      <p:sp>
        <p:nvSpPr>
          <p:cNvPr name="TextBox 3" id="3"/>
          <p:cNvSpPr txBox="true"/>
          <p:nvPr/>
        </p:nvSpPr>
        <p:spPr>
          <a:xfrm rot="0">
            <a:off x="476023" y="265328"/>
            <a:ext cx="11239500" cy="914400"/>
          </a:xfrm>
          <a:prstGeom prst="rect">
            <a:avLst/>
          </a:prstGeom>
          <a:ln/>
        </p:spPr>
        <p:txBody>
          <a:bodyPr anchor="ctr" rtlCol="false" lIns="123825" rIns="57150" tIns="123825" bIns="123825" anchorCtr="false" vert="horz" wrap="square">
            <a:noAutofit/>
          </a:bodyPr>
          <a:lstStyle/>
          <a:p>
            <a:pPr>
              <a:lnSpc>
                <a:spcPct val="140000"/>
              </a:lnSpc>
            </a:pPr>
            <a:r>
              <a:rPr lang="en-US" b="true" sz="3000">
                <a:solidFill>
                  <a:schemeClr val="dk2">
                    <a:alpha val="100000"/>
                  </a:schemeClr>
                </a:solidFill>
                <a:latin typeface="Noto Sans SC"/>
                <a:ea typeface="Noto Sans SC"/>
                <a:cs typeface="Noto Sans SC"/>
              </a:rPr>
              <a:t>Cost Optimization</a:t>
            </a:r>
          </a:p>
        </p:txBody>
      </p:sp>
      <p:sp>
        <p:nvSpPr>
          <p:cNvPr name="TextBox 4" id="4"/>
          <p:cNvSpPr txBox="true"/>
          <p:nvPr/>
        </p:nvSpPr>
        <p:spPr>
          <a:xfrm rot="0">
            <a:off x="794041" y="1819508"/>
            <a:ext cx="4950584" cy="1467196"/>
          </a:xfrm>
          <a:prstGeom prst="rect">
            <a:avLst/>
          </a:prstGeom>
          <a:ln/>
        </p:spPr>
        <p:txBody>
          <a:bodyPr anchor="t" rtlCol="false" lIns="66008" rIns="66008" tIns="33052" bIns="33052"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AWS Lambda reduces operational costs by enabling developers to execute compute logic without maintaining idle servers, thus optimizing resource cost efficiency.</a:t>
            </a:r>
          </a:p>
        </p:txBody>
      </p:sp>
      <p:sp>
        <p:nvSpPr>
          <p:cNvPr name="AutoShape 5" id="5"/>
          <p:cNvSpPr/>
          <p:nvPr/>
        </p:nvSpPr>
        <p:spPr>
          <a:xfrm rot="0">
            <a:off x="6211833" y="1819508"/>
            <a:ext cx="5461334" cy="1920000"/>
          </a:xfrm>
          <a:prstGeom prst="roundRect">
            <a:avLst>
              <a:gd fmla="val 12222" name="adj"/>
            </a:avLst>
          </a:prstGeom>
          <a:solidFill>
            <a:schemeClr val="lt2">
              <a:alpha val="100000"/>
            </a:schemeClr>
          </a:solidFill>
          <a:ln/>
        </p:spPr>
      </p:sp>
      <p:sp>
        <p:nvSpPr>
          <p:cNvPr name="TextBox 6" id="6"/>
          <p:cNvSpPr txBox="true"/>
          <p:nvPr/>
        </p:nvSpPr>
        <p:spPr>
          <a:xfrm rot="0">
            <a:off x="6467208" y="1868325"/>
            <a:ext cx="4950584" cy="1467196"/>
          </a:xfrm>
          <a:prstGeom prst="rect">
            <a:avLst/>
          </a:prstGeom>
          <a:ln/>
        </p:spPr>
        <p:txBody>
          <a:bodyPr anchor="t" rtlCol="false" lIns="66008" rIns="66008" tIns="33052" bIns="33052"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Auto Scaling prevents resource over-provisioning by constantly monitoring traffic patterns and allocating just enough resources during peak times.</a:t>
            </a:r>
          </a:p>
        </p:txBody>
      </p:sp>
      <p:sp>
        <p:nvSpPr>
          <p:cNvPr name="AutoShape 7" id="7"/>
          <p:cNvSpPr/>
          <p:nvPr/>
        </p:nvSpPr>
        <p:spPr>
          <a:xfrm rot="0">
            <a:off x="538667" y="3962758"/>
            <a:ext cx="5461334" cy="1920000"/>
          </a:xfrm>
          <a:prstGeom prst="roundRect">
            <a:avLst>
              <a:gd fmla="val 12222" name="adj"/>
            </a:avLst>
          </a:prstGeom>
          <a:solidFill>
            <a:schemeClr val="lt2">
              <a:alpha val="100000"/>
            </a:schemeClr>
          </a:solidFill>
          <a:ln/>
        </p:spPr>
      </p:sp>
      <p:sp>
        <p:nvSpPr>
          <p:cNvPr name="TextBox 8" id="8"/>
          <p:cNvSpPr txBox="true"/>
          <p:nvPr/>
        </p:nvSpPr>
        <p:spPr>
          <a:xfrm rot="0">
            <a:off x="794041" y="4011575"/>
            <a:ext cx="4950584" cy="1467196"/>
          </a:xfrm>
          <a:prstGeom prst="rect">
            <a:avLst/>
          </a:prstGeom>
          <a:ln/>
        </p:spPr>
        <p:txBody>
          <a:bodyPr anchor="t" rtlCol="false" lIns="66008" rIns="66008" tIns="33052" bIns="33052"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AWS Trusted Advisor provides actionable insights to identify cost savings opportunities and alert administrators to eliminate unnecessary expenses.</a:t>
            </a:r>
          </a:p>
        </p:txBody>
      </p:sp>
      <p:sp>
        <p:nvSpPr>
          <p:cNvPr name="AutoShape 9" id="9"/>
          <p:cNvSpPr/>
          <p:nvPr/>
        </p:nvSpPr>
        <p:spPr>
          <a:xfrm rot="0">
            <a:off x="6211833" y="3962758"/>
            <a:ext cx="5461334" cy="1920000"/>
          </a:xfrm>
          <a:prstGeom prst="roundRect">
            <a:avLst>
              <a:gd fmla="val 12222" name="adj"/>
            </a:avLst>
          </a:prstGeom>
          <a:solidFill>
            <a:schemeClr val="lt2">
              <a:alpha val="100000"/>
            </a:schemeClr>
          </a:solidFill>
          <a:ln/>
        </p:spPr>
      </p:sp>
      <p:sp>
        <p:nvSpPr>
          <p:cNvPr name="TextBox 10" id="10"/>
          <p:cNvSpPr txBox="true"/>
          <p:nvPr/>
        </p:nvSpPr>
        <p:spPr>
          <a:xfrm rot="0">
            <a:off x="6467208" y="4189160"/>
            <a:ext cx="4950584" cy="1467196"/>
          </a:xfrm>
          <a:prstGeom prst="rect">
            <a:avLst/>
          </a:prstGeom>
          <a:ln/>
        </p:spPr>
        <p:txBody>
          <a:bodyPr anchor="t" rtlCol="false" lIns="66008" rIns="66008" tIns="33052" bIns="33052"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S3 lifecycle policies optimize storage costs by automatically transitioning outdated assets to more affordable, long-term storage classes.</a:t>
            </a:r>
          </a:p>
        </p:txBody>
      </p:sp>
    </p:spTree>
  </p:cSld>
  <p:clrMapOvr>
    <a:masterClrMapping/>
  </p:clrMapOvr>
  <p:transition spd="slow">
    <p:push/>
  </p:transition>
</p:sld>
</file>

<file path=ppt/slides/slide22.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0"/>
          </a:blip>
          <a:srcRect/>
          <a:stretch>
            <a:fillRect b="0" t="0" l="0" r="0"/>
          </a:stretch>
        </a:blipFill>
      </p:bgPr>
    </p:bg>
    <p:spTree>
      <p:nvGrpSpPr>
        <p:cNvPr id="1" name=""/>
        <p:cNvGrpSpPr/>
        <p:nvPr/>
      </p:nvGrpSpPr>
      <p:grpSpPr>
        <a:xfrm>
          <a:off x="0" y="0"/>
          <a:ext cx="0" cy="0"/>
          <a:chOff x="0" y="0"/>
          <a:chExt cx="0" cy="0"/>
        </a:xfrm>
      </p:grpSpPr>
      <p:sp>
        <p:nvSpPr>
          <p:cNvPr name="TextBox 2" id="2"/>
          <p:cNvSpPr txBox="true"/>
          <p:nvPr/>
        </p:nvSpPr>
        <p:spPr>
          <a:xfrm rot="0">
            <a:off x="10022720" y="2593320"/>
            <a:ext cx="1524655" cy="1842306"/>
          </a:xfrm>
          <a:prstGeom prst="rect">
            <a:avLst/>
          </a:prstGeom>
          <a:ln/>
        </p:spPr>
        <p:txBody>
          <a:bodyPr anchor="b" rtlCol="false" lIns="0" rIns="0" tIns="0" bIns="0" anchorCtr="false" vert="horz" wrap="square">
            <a:normAutofit/>
          </a:bodyPr>
          <a:lstStyle/>
          <a:p>
            <a:pPr algn="r">
              <a:lnSpc>
                <a:spcPct val="120000"/>
              </a:lnSpc>
            </a:pPr>
            <a:r>
              <a:rPr lang="en-US" sz="7200">
                <a:solidFill>
                  <a:srgbClr val="59AE93">
                    <a:alpha val="100000"/>
                  </a:srgbClr>
                </a:solidFill>
                <a:highlight>
                  <a:srgbClr val="000000">
                    <a:alpha val="0"/>
                  </a:srgbClr>
                </a:highlight>
                <a:latin typeface="Noto Sans SC"/>
                <a:ea typeface="Noto Sans SC"/>
                <a:cs typeface="Noto Sans SC"/>
              </a:rPr>
              <a:t>04</a:t>
            </a:r>
          </a:p>
        </p:txBody>
      </p:sp>
      <p:sp>
        <p:nvSpPr>
          <p:cNvPr name="TextBox 3" id="3"/>
          <p:cNvSpPr txBox="true"/>
          <p:nvPr/>
        </p:nvSpPr>
        <p:spPr>
          <a:xfrm rot="0">
            <a:off x="6124575" y="2653796"/>
            <a:ext cx="3926719" cy="1842306"/>
          </a:xfrm>
          <a:prstGeom prst="rect">
            <a:avLst/>
          </a:prstGeom>
          <a:ln/>
        </p:spPr>
        <p:txBody>
          <a:bodyPr anchor="b" rtlCol="false" lIns="114300" rIns="114300" tIns="57150" bIns="57150" anchorCtr="false" vert="horz" wrap="square">
            <a:normAutofit/>
          </a:bodyPr>
          <a:lstStyle/>
          <a:p>
            <a:pPr algn="r">
              <a:lnSpc>
                <a:spcPct val="120000"/>
              </a:lnSpc>
            </a:pPr>
            <a:r>
              <a:rPr lang="en-US" sz="7200">
                <a:solidFill>
                  <a:srgbClr val="59AE93">
                    <a:alpha val="100000"/>
                  </a:srgbClr>
                </a:solidFill>
                <a:highlight>
                  <a:srgbClr val="000000">
                    <a:alpha val="0"/>
                  </a:srgbClr>
                </a:highlight>
                <a:latin typeface="Noto Sans SC"/>
                <a:ea typeface="Noto Sans SC"/>
                <a:cs typeface="Noto Sans SC"/>
              </a:rPr>
              <a:t>PART</a:t>
            </a:r>
          </a:p>
        </p:txBody>
      </p:sp>
      <p:sp>
        <p:nvSpPr>
          <p:cNvPr name="TextBox 4" id="4"/>
          <p:cNvSpPr txBox="true"/>
          <p:nvPr/>
        </p:nvSpPr>
        <p:spPr>
          <a:xfrm rot="0">
            <a:off x="1062567" y="4496102"/>
            <a:ext cx="10484808" cy="1798058"/>
          </a:xfrm>
          <a:prstGeom prst="rect">
            <a:avLst/>
          </a:prstGeom>
          <a:ln/>
        </p:spPr>
        <p:txBody>
          <a:bodyPr anchor="t" rtlCol="false" lIns="114300" rIns="114300" tIns="57150" bIns="57150" anchorCtr="false" vert="horz" wrap="square">
            <a:normAutofit/>
          </a:bodyPr>
          <a:lstStyle/>
          <a:p>
            <a:pPr algn="r">
              <a:lnSpc>
                <a:spcPct val="120000"/>
              </a:lnSpc>
            </a:pPr>
            <a:r>
              <a:rPr lang="en-US" b="true" sz="4500">
                <a:solidFill>
                  <a:srgbClr val="1F1F1F">
                    <a:alpha val="100000"/>
                  </a:srgbClr>
                </a:solidFill>
                <a:latin typeface="Noto Sans SC"/>
                <a:ea typeface="Noto Sans SC"/>
                <a:cs typeface="Noto Sans SC"/>
              </a:rPr>
              <a:t>Design Trade-Offs and Challenges</a:t>
            </a:r>
          </a:p>
        </p:txBody>
      </p:sp>
    </p:spTree>
  </p:cSld>
  <p:clrMapOvr>
    <a:masterClrMapping/>
  </p:clrMapOvr>
  <p:transition spd="slow">
    <p:push/>
  </p:transition>
</p:sld>
</file>

<file path=ppt/slides/slide23.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AutoShape 2" id="2"/>
          <p:cNvSpPr/>
          <p:nvPr/>
        </p:nvSpPr>
        <p:spPr>
          <a:xfrm rot="0">
            <a:off x="919643" y="1243502"/>
            <a:ext cx="10352713" cy="2571750"/>
          </a:xfrm>
          <a:prstGeom prst="roundRect">
            <a:avLst>
              <a:gd fmla="val 9289" name="adj"/>
            </a:avLst>
          </a:prstGeom>
          <a:solidFill>
            <a:srgbClr val="FFFFFF">
              <a:alpha val="100000"/>
            </a:srgbClr>
          </a:solidFill>
          <a:ln/>
          <a:effectLst>
            <a:outerShdw dir="0" blurRad="361950" dist="0">
              <a:schemeClr val="dk1">
                <a:alpha val="6000"/>
              </a:schemeClr>
            </a:outerShdw>
          </a:effectLst>
        </p:spPr>
      </p:sp>
      <p:sp>
        <p:nvSpPr>
          <p:cNvPr name="AutoShape 3" id="3"/>
          <p:cNvSpPr/>
          <p:nvPr/>
        </p:nvSpPr>
        <p:spPr>
          <a:xfrm rot="0">
            <a:off x="919643" y="3948315"/>
            <a:ext cx="10352713" cy="2571750"/>
          </a:xfrm>
          <a:prstGeom prst="roundRect">
            <a:avLst>
              <a:gd fmla="val 9289" name="adj"/>
            </a:avLst>
          </a:prstGeom>
          <a:solidFill>
            <a:srgbClr val="FFFFFF">
              <a:alpha val="100000"/>
            </a:srgbClr>
          </a:solidFill>
          <a:ln/>
          <a:effectLst>
            <a:outerShdw dir="0" blurRad="361950" dist="0">
              <a:schemeClr val="dk1">
                <a:alpha val="6000"/>
              </a:schemeClr>
            </a:outerShdw>
          </a:effectLst>
        </p:spPr>
      </p:sp>
      <p:sp>
        <p:nvSpPr>
          <p:cNvPr name="TextBox 4" id="4"/>
          <p:cNvSpPr txBox="true"/>
          <p:nvPr/>
        </p:nvSpPr>
        <p:spPr>
          <a:xfrm rot="0">
            <a:off x="476023" y="265328"/>
            <a:ext cx="11239500" cy="914400"/>
          </a:xfrm>
          <a:prstGeom prst="rect">
            <a:avLst/>
          </a:prstGeom>
          <a:ln/>
        </p:spPr>
        <p:txBody>
          <a:bodyPr anchor="ctr" rtlCol="false" lIns="123825" rIns="57150" tIns="123825" bIns="123825" anchorCtr="false" vert="horz" wrap="square">
            <a:noAutofit/>
          </a:bodyPr>
          <a:lstStyle/>
          <a:p>
            <a:pPr>
              <a:lnSpc>
                <a:spcPct val="140000"/>
              </a:lnSpc>
            </a:pPr>
            <a:r>
              <a:rPr lang="en-US" b="true" sz="3000">
                <a:solidFill>
                  <a:schemeClr val="dk2">
                    <a:alpha val="100000"/>
                  </a:schemeClr>
                </a:solidFill>
                <a:latin typeface="Noto Sans SC"/>
                <a:ea typeface="Noto Sans SC"/>
                <a:cs typeface="Noto Sans SC"/>
              </a:rPr>
              <a:t>EC2 vs. Lambda</a:t>
            </a:r>
          </a:p>
        </p:txBody>
      </p:sp>
      <p:sp>
        <p:nvSpPr>
          <p:cNvPr name="TextBox 5" id="5"/>
          <p:cNvSpPr txBox="true"/>
          <p:nvPr/>
        </p:nvSpPr>
        <p:spPr>
          <a:xfrm rot="0">
            <a:off x="1304925" y="4254502"/>
            <a:ext cx="9582150" cy="481965"/>
          </a:xfrm>
          <a:prstGeom prst="rect">
            <a:avLst/>
          </a:prstGeom>
          <a:ln/>
        </p:spPr>
        <p:txBody>
          <a:bodyPr anchor="ctr" rtlCol="false" lIns="91440" rIns="91440" tIns="45720" bIns="45720" anchorCtr="false" vert="horz" wrap="square">
            <a:noAutofit/>
          </a:bodyPr>
          <a:lstStyle/>
          <a:p>
            <a:pPr>
              <a:lnSpc>
                <a:spcPct val="100000"/>
              </a:lnSpc>
              <a:spcBef>
                <a:spcPts val="375"/>
              </a:spcBef>
            </a:pPr>
            <a:r>
              <a:rPr lang="en-US" b="true" sz="2400">
                <a:solidFill>
                  <a:srgbClr val="000000">
                    <a:alpha val="100000"/>
                  </a:srgbClr>
                </a:solidFill>
                <a:latin typeface="Noto Sans SC"/>
                <a:ea typeface="Noto Sans SC"/>
                <a:cs typeface="Noto Sans SC"/>
              </a:rPr>
              <a:t>Serverless efficiency</a:t>
            </a:r>
          </a:p>
        </p:txBody>
      </p:sp>
      <p:sp>
        <p:nvSpPr>
          <p:cNvPr name="TextBox 6" id="6"/>
          <p:cNvSpPr txBox="true"/>
          <p:nvPr/>
        </p:nvSpPr>
        <p:spPr>
          <a:xfrm rot="0">
            <a:off x="1304925" y="4770937"/>
            <a:ext cx="9582150" cy="1424940"/>
          </a:xfrm>
          <a:prstGeom prst="rect">
            <a:avLst/>
          </a:prstGeom>
          <a:ln/>
        </p:spPr>
        <p:txBody>
          <a:bodyPr anchor="t" rtlCol="false" lIns="91440" rIns="91440" tIns="45720" bIns="45720" anchorCtr="false" vert="horz" wrap="square">
            <a:noAutofit/>
          </a:bodyPr>
          <a:lstStyle/>
          <a:p>
            <a:pPr>
              <a:lnSpc>
                <a:spcPct val="140000"/>
              </a:lnSpc>
              <a:spcBef>
                <a:spcPts val="375"/>
              </a:spcBef>
            </a:pPr>
            <a:r>
              <a:rPr lang="en-US" sz="2000">
                <a:solidFill>
                  <a:srgbClr val="000000">
                    <a:alpha val="100000"/>
                  </a:srgbClr>
                </a:solidFill>
                <a:latin typeface="Noto Sans SC"/>
                <a:ea typeface="Noto Sans SC"/>
                <a:cs typeface="Noto Sans SC"/>
              </a:rPr>
              <a:t>AWS Lambda offers a cost-efficient solution for processing tasks like image rendering or generating thumbnails, as it eliminates idle server costs. However, it has constraints in execution time and memory, making it less suitable for intensive 3D computations.</a:t>
            </a:r>
          </a:p>
        </p:txBody>
      </p:sp>
      <p:sp>
        <p:nvSpPr>
          <p:cNvPr name="TextBox 7" id="7"/>
          <p:cNvSpPr txBox="true"/>
          <p:nvPr/>
        </p:nvSpPr>
        <p:spPr>
          <a:xfrm rot="0">
            <a:off x="1304925" y="1560110"/>
            <a:ext cx="9582150" cy="481965"/>
          </a:xfrm>
          <a:prstGeom prst="rect">
            <a:avLst/>
          </a:prstGeom>
          <a:ln/>
        </p:spPr>
        <p:txBody>
          <a:bodyPr anchor="ctr" rtlCol="false" lIns="91440" rIns="91440" tIns="45720" bIns="45720" anchorCtr="false" vert="horz" wrap="square">
            <a:noAutofit/>
          </a:bodyPr>
          <a:lstStyle/>
          <a:p>
            <a:pPr>
              <a:lnSpc>
                <a:spcPct val="100000"/>
              </a:lnSpc>
              <a:spcBef>
                <a:spcPts val="375"/>
              </a:spcBef>
            </a:pPr>
            <a:r>
              <a:rPr lang="en-US" b="true" sz="2400">
                <a:solidFill>
                  <a:srgbClr val="000000">
                    <a:alpha val="100000"/>
                  </a:srgbClr>
                </a:solidFill>
                <a:latin typeface="Noto Sans SC"/>
                <a:ea typeface="Noto Sans SC"/>
                <a:cs typeface="Noto Sans SC"/>
              </a:rPr>
              <a:t>Complex backend task suitability</a:t>
            </a:r>
          </a:p>
        </p:txBody>
      </p:sp>
      <p:sp>
        <p:nvSpPr>
          <p:cNvPr name="TextBox 8" id="8"/>
          <p:cNvSpPr txBox="true"/>
          <p:nvPr/>
        </p:nvSpPr>
        <p:spPr>
          <a:xfrm rot="0">
            <a:off x="1304925" y="2076546"/>
            <a:ext cx="9582150" cy="1424940"/>
          </a:xfrm>
          <a:prstGeom prst="rect">
            <a:avLst/>
          </a:prstGeom>
          <a:ln/>
        </p:spPr>
        <p:txBody>
          <a:bodyPr anchor="t" rtlCol="false" lIns="91440" rIns="91440" tIns="45720" bIns="45720" anchorCtr="false" vert="horz" wrap="square">
            <a:noAutofit/>
          </a:bodyPr>
          <a:lstStyle/>
          <a:p>
            <a:pPr>
              <a:lnSpc>
                <a:spcPct val="140000"/>
              </a:lnSpc>
              <a:spcBef>
                <a:spcPts val="375"/>
              </a:spcBef>
            </a:pPr>
            <a:r>
              <a:rPr lang="en-US" sz="2000">
                <a:solidFill>
                  <a:srgbClr val="000000">
                    <a:alpha val="100000"/>
                  </a:srgbClr>
                </a:solidFill>
                <a:latin typeface="Noto Sans SC"/>
                <a:ea typeface="Noto Sans SC"/>
                <a:cs typeface="Noto Sans SC"/>
              </a:rPr>
              <a:t>EC2 excels at handling heavy computation and complex backend tasks, such as managing user sessions or checkout processes, but can become expensive during periods of low traffic.</a:t>
            </a:r>
          </a:p>
        </p:txBody>
      </p:sp>
    </p:spTree>
  </p:cSld>
  <p:clrMapOvr>
    <a:masterClrMapping/>
  </p:clrMapOvr>
  <p:transition spd="slow">
    <p:push/>
  </p:transition>
</p:sld>
</file>

<file path=ppt/slides/slide24.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TextBox 2" id="2"/>
          <p:cNvSpPr txBox="true"/>
          <p:nvPr/>
        </p:nvSpPr>
        <p:spPr>
          <a:xfrm rot="0">
            <a:off x="5807927" y="2358377"/>
            <a:ext cx="5907405" cy="1510312"/>
          </a:xfrm>
          <a:prstGeom prst="rect">
            <a:avLst/>
          </a:prstGeom>
          <a:noFill/>
          <a:ln/>
        </p:spPr>
        <p:txBody>
          <a:bodyPr anchor="ctr" rtlCol="false" lIns="91440" rIns="91440" tIns="45720" bIns="45720"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Lambda automatically scales with demand, ensuring micro-tasks are effectively handled, while EC2 relies on Auto Scaling to manage traffic fluctuations for backend workloads.</a:t>
            </a:r>
          </a:p>
        </p:txBody>
      </p:sp>
      <p:sp>
        <p:nvSpPr>
          <p:cNvPr name="TextBox 3" id="3"/>
          <p:cNvSpPr txBox="true"/>
          <p:nvPr/>
        </p:nvSpPr>
        <p:spPr>
          <a:xfrm rot="0">
            <a:off x="5807927" y="1857281"/>
            <a:ext cx="4673593" cy="501096"/>
          </a:xfrm>
          <a:prstGeom prst="rect">
            <a:avLst/>
          </a:prstGeom>
          <a:noFill/>
          <a:ln/>
        </p:spPr>
        <p:txBody>
          <a:bodyPr anchor="ctr" rtlCol="false" lIns="91440" rIns="91440" tIns="45720" bIns="45720" anchorCtr="false" vert="horz" wrap="square">
            <a:noAutofit/>
          </a:bodyPr>
          <a:lstStyle/>
          <a:p>
            <a:pPr algn="l">
              <a:lnSpc>
                <a:spcPct val="80000"/>
              </a:lnSpc>
            </a:pPr>
            <a:r>
              <a:rPr lang="en-US" b="true" sz="2400">
                <a:solidFill>
                  <a:schemeClr val="accent1">
                    <a:alpha val="100000"/>
                  </a:schemeClr>
                </a:solidFill>
                <a:latin typeface="Noto Sans SC"/>
                <a:ea typeface="Noto Sans SC"/>
                <a:cs typeface="Noto Sans SC"/>
              </a:rPr>
              <a:t>Scaling for workloads</a:t>
            </a:r>
          </a:p>
        </p:txBody>
      </p:sp>
      <p:sp>
        <p:nvSpPr>
          <p:cNvPr name="TextBox 4" id="4"/>
          <p:cNvSpPr txBox="true"/>
          <p:nvPr/>
        </p:nvSpPr>
        <p:spPr>
          <a:xfrm rot="0">
            <a:off x="5807927" y="4837221"/>
            <a:ext cx="5907596" cy="1490999"/>
          </a:xfrm>
          <a:prstGeom prst="rect">
            <a:avLst/>
          </a:prstGeom>
          <a:noFill/>
          <a:ln/>
        </p:spPr>
        <p:txBody>
          <a:bodyPr anchor="ctr" rtlCol="false" lIns="91440" rIns="91440" tIns="45720" bIns="45720"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EC2 requires continuous provisioning, sometimes leading to underutilization, whereas Lambda operates on a pay-per-use model, reducing wastage of resources.</a:t>
            </a:r>
          </a:p>
        </p:txBody>
      </p:sp>
      <p:sp>
        <p:nvSpPr>
          <p:cNvPr name="TextBox 5" id="5"/>
          <p:cNvSpPr txBox="true"/>
          <p:nvPr/>
        </p:nvSpPr>
        <p:spPr>
          <a:xfrm rot="0">
            <a:off x="5807927" y="4336125"/>
            <a:ext cx="4673593" cy="501096"/>
          </a:xfrm>
          <a:prstGeom prst="rect">
            <a:avLst/>
          </a:prstGeom>
          <a:noFill/>
          <a:ln/>
        </p:spPr>
        <p:txBody>
          <a:bodyPr anchor="ctr" rtlCol="false" lIns="91440" rIns="91440" tIns="45720" bIns="45720" anchorCtr="false" vert="horz" wrap="square">
            <a:noAutofit/>
          </a:bodyPr>
          <a:lstStyle/>
          <a:p>
            <a:pPr algn="l">
              <a:lnSpc>
                <a:spcPct val="80000"/>
              </a:lnSpc>
            </a:pPr>
            <a:r>
              <a:rPr lang="en-US" b="true" sz="2400">
                <a:solidFill>
                  <a:schemeClr val="accent1">
                    <a:alpha val="100000"/>
                  </a:schemeClr>
                </a:solidFill>
                <a:latin typeface="Noto Sans SC"/>
                <a:ea typeface="Noto Sans SC"/>
                <a:cs typeface="Noto Sans SC"/>
              </a:rPr>
              <a:t>Cost considerations</a:t>
            </a:r>
          </a:p>
        </p:txBody>
      </p:sp>
      <p:sp>
        <p:nvSpPr>
          <p:cNvPr name="TextBox 6" id="6"/>
          <p:cNvSpPr txBox="true"/>
          <p:nvPr/>
        </p:nvSpPr>
        <p:spPr>
          <a:xfrm rot="0">
            <a:off x="476023" y="265328"/>
            <a:ext cx="11239500" cy="914400"/>
          </a:xfrm>
          <a:prstGeom prst="rect">
            <a:avLst/>
          </a:prstGeom>
          <a:ln/>
        </p:spPr>
        <p:txBody>
          <a:bodyPr anchor="t" rtlCol="false" lIns="123825" rIns="57150" tIns="123825" bIns="123825" anchorCtr="false" vert="horz" wrap="square">
            <a:spAutoFit/>
          </a:bodyPr>
          <a:lstStyle/>
          <a:p>
            <a:pPr>
              <a:lnSpc>
                <a:spcPct val="140000"/>
              </a:lnSpc>
            </a:pPr>
            <a:r>
              <a:rPr lang="en-US" b="true" sz="3000">
                <a:solidFill>
                  <a:schemeClr val="dk2">
                    <a:alpha val="100000"/>
                  </a:schemeClr>
                </a:solidFill>
                <a:latin typeface="Noto Sans SC"/>
                <a:ea typeface="Noto Sans SC"/>
                <a:cs typeface="Noto Sans SC"/>
              </a:rPr>
              <a:t>EC2 vs. Lambda</a:t>
            </a:r>
          </a:p>
        </p:txBody>
      </p:sp>
      <p:pic>
        <p:nvPicPr>
          <p:cNvPr name="Picture 7" id="7"/>
          <p:cNvPicPr>
            <a:picLocks noChangeAspect="true"/>
          </p:cNvPicPr>
          <p:nvPr/>
        </p:nvPicPr>
        <p:blipFill>
          <a:blip r:embed="rId3"/>
          <a:srcRect t="25193" b="25193"/>
          <a:stretch>
            <a:fillRect/>
          </a:stretch>
        </p:blipFill>
        <p:spPr>
          <a:xfrm rot="0">
            <a:off x="590913" y="1505957"/>
            <a:ext cx="4953101" cy="2378258"/>
          </a:xfrm>
          <a:prstGeom prst="rect">
            <a:avLst/>
          </a:prstGeom>
        </p:spPr>
      </p:pic>
      <p:pic>
        <p:nvPicPr>
          <p:cNvPr name="Picture 8" id="8"/>
          <p:cNvPicPr>
            <a:picLocks noChangeAspect="true"/>
          </p:cNvPicPr>
          <p:nvPr/>
        </p:nvPicPr>
        <p:blipFill>
          <a:blip r:embed="rId4"/>
          <a:srcRect t="22706" b="22706"/>
          <a:stretch>
            <a:fillRect/>
          </a:stretch>
        </p:blipFill>
        <p:spPr>
          <a:xfrm rot="0">
            <a:off x="590913" y="4122127"/>
            <a:ext cx="4953101" cy="2265249"/>
          </a:xfrm>
          <a:prstGeom prst="rect">
            <a:avLst/>
          </a:prstGeom>
        </p:spPr>
      </p:pic>
    </p:spTree>
  </p:cSld>
  <p:clrMapOvr>
    <a:masterClrMapping/>
  </p:clrMapOvr>
  <p:transition spd="slow">
    <p:push/>
  </p:transition>
</p:sld>
</file>

<file path=ppt/slides/slide25.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TextBox 2" id="2"/>
          <p:cNvSpPr txBox="true"/>
          <p:nvPr/>
        </p:nvSpPr>
        <p:spPr>
          <a:xfrm rot="0">
            <a:off x="522226" y="1950718"/>
            <a:ext cx="3736162" cy="3215301"/>
          </a:xfrm>
          <a:prstGeom prst="rect">
            <a:avLst/>
          </a:prstGeom>
          <a:ln/>
        </p:spPr>
        <p:txBody>
          <a:bodyPr anchor="ctr" rtlCol="false" lIns="123825" rIns="57150" tIns="123825" bIns="123825" anchorCtr="false" vert="horz" wrap="square">
            <a:noAutofit/>
          </a:bodyPr>
          <a:lstStyle/>
          <a:p>
            <a:pPr>
              <a:lnSpc>
                <a:spcPct val="140000"/>
              </a:lnSpc>
            </a:pPr>
            <a:r>
              <a:rPr lang="en-US" b="true" sz="3000">
                <a:solidFill>
                  <a:schemeClr val="accent1">
                    <a:alpha val="100000"/>
                  </a:schemeClr>
                </a:solidFill>
                <a:latin typeface="Noto Sans SC"/>
                <a:ea typeface="Noto Sans SC"/>
                <a:cs typeface="Noto Sans SC"/>
              </a:rPr>
              <a:t>RDS vs. DynamoDB</a:t>
            </a:r>
          </a:p>
        </p:txBody>
      </p:sp>
      <p:sp>
        <p:nvSpPr>
          <p:cNvPr name="TextBox 3" id="3"/>
          <p:cNvSpPr txBox="true"/>
          <p:nvPr/>
        </p:nvSpPr>
        <p:spPr>
          <a:xfrm rot="0">
            <a:off x="10803939" y="0"/>
            <a:ext cx="982980" cy="2615565"/>
          </a:xfrm>
          <a:prstGeom prst="rect">
            <a:avLst/>
          </a:prstGeom>
          <a:ln/>
        </p:spPr>
        <p:txBody>
          <a:bodyPr anchor="t" rtlCol="false" lIns="91440" rIns="91440" tIns="45720" bIns="45720" anchorCtr="false" vert="horz" wrap="square">
            <a:spAutoFit/>
          </a:bodyPr>
          <a:lstStyle/>
          <a:p>
            <a:pPr>
              <a:lnSpc>
                <a:spcPct val="100000"/>
              </a:lnSpc>
              <a:spcBef>
                <a:spcPts val="375"/>
              </a:spcBef>
            </a:pPr>
            <a:r>
              <a:rPr lang="en-US" sz="15000">
                <a:solidFill>
                  <a:schemeClr val="dk1">
                    <a:alpha val="13000"/>
                  </a:schemeClr>
                </a:solidFill>
                <a:latin typeface="Helvetica"/>
                <a:ea typeface="Helvetica"/>
                <a:cs typeface="Helvetica"/>
              </a:rPr>
              <a:t>”</a:t>
            </a:r>
          </a:p>
        </p:txBody>
      </p:sp>
      <p:sp>
        <p:nvSpPr>
          <p:cNvPr name="TextBox 4" id="4"/>
          <p:cNvSpPr txBox="true"/>
          <p:nvPr/>
        </p:nvSpPr>
        <p:spPr>
          <a:xfrm rot="0">
            <a:off x="4854674" y="1222166"/>
            <a:ext cx="6839839" cy="4672403"/>
          </a:xfrm>
          <a:prstGeom prst="rect">
            <a:avLst/>
          </a:prstGeom>
          <a:ln/>
        </p:spPr>
        <p:txBody>
          <a:bodyPr anchor="t" rtlCol="false" lIns="123825" rIns="57150" tIns="123825" bIns="123825" anchorCtr="false" vert="horz" wrap="square">
            <a:noAutofit/>
          </a:bodyPr>
          <a:lstStyle/>
          <a:p>
            <a:pPr>
              <a:lnSpc>
                <a:spcPct val="140000"/>
              </a:lnSpc>
            </a:pPr>
            <a:r>
              <a:rPr lang="en-US" sz="2100">
                <a:solidFill>
                  <a:schemeClr val="dk1">
                    <a:alpha val="100000"/>
                  </a:schemeClr>
                </a:solidFill>
                <a:latin typeface="Noto Sans SC"/>
                <a:ea typeface="Noto Sans SC"/>
                <a:cs typeface="Noto Sans SC"/>
              </a:rPr>
              <a:t>Transactional workload management Amazon RDS, equipped with MySQL or PostgreSQL engines, is optimized for transactional processing such as orders and payments history, offering robust consistency and reliability. High-speed access for independent data DynamoDB shines in delivering low-latency, horizontally scalable metadata queries, ideal for product catalogs and user interaction records, though it may compromise consistency in complex queries. Scalability differences RDS scales vertically, giving limited expansion options, unlike DynamoDB’s horizontal scaling, which effectively handles growing datasets without bottlenecks.</a:t>
            </a:r>
          </a:p>
        </p:txBody>
      </p:sp>
    </p:spTree>
  </p:cSld>
  <p:clrMapOvr>
    <a:masterClrMapping/>
  </p:clrMapOvr>
  <p:transition spd="slow">
    <p:push/>
  </p:transition>
</p:sld>
</file>

<file path=ppt/slides/slide26.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TextBox 2" id="2"/>
          <p:cNvSpPr txBox="true"/>
          <p:nvPr/>
        </p:nvSpPr>
        <p:spPr>
          <a:xfrm rot="0">
            <a:off x="1737670" y="2490956"/>
            <a:ext cx="9356207" cy="3050913"/>
          </a:xfrm>
          <a:prstGeom prst="rect">
            <a:avLst/>
          </a:prstGeom>
          <a:ln/>
        </p:spPr>
        <p:txBody>
          <a:bodyPr anchor="ctr" rtlCol="false" lIns="66008" rIns="66008" tIns="33052" bIns="33052" anchorCtr="false" vert="horz" wrap="square">
            <a:normAutofit/>
          </a:bodyPr>
          <a:lstStyle/>
          <a:p>
            <a:pPr algn="l">
              <a:lnSpc>
                <a:spcPct val="180000"/>
              </a:lnSpc>
            </a:pPr>
            <a:r>
              <a:rPr lang="en-US" sz="2400">
                <a:solidFill>
                  <a:schemeClr val="dk1">
                    <a:alpha val="100000"/>
                  </a:schemeClr>
                </a:solidFill>
                <a:latin typeface="Noto Sans SC"/>
                <a:ea typeface="Noto Sans SC"/>
                <a:cs typeface="Noto Sans SC"/>
              </a:rPr>
              <a:t>Cost and operational efficiency RDS incurs higher operational costs due to failover and database administration needs, whereas DynamoDB offers cost-effective serverless operation with minimal maintenance.</a:t>
            </a:r>
          </a:p>
        </p:txBody>
      </p:sp>
      <p:sp>
        <p:nvSpPr>
          <p:cNvPr name="TextBox 3" id="3"/>
          <p:cNvSpPr txBox="true"/>
          <p:nvPr/>
        </p:nvSpPr>
        <p:spPr>
          <a:xfrm rot="0">
            <a:off x="476023" y="265328"/>
            <a:ext cx="11239500" cy="914400"/>
          </a:xfrm>
          <a:prstGeom prst="rect">
            <a:avLst/>
          </a:prstGeom>
          <a:ln/>
        </p:spPr>
        <p:txBody>
          <a:bodyPr anchor="ctr" rtlCol="false" lIns="123825" rIns="57150" tIns="123825" bIns="123825" anchorCtr="false" vert="horz" wrap="square">
            <a:noAutofit/>
          </a:bodyPr>
          <a:lstStyle/>
          <a:p>
            <a:pPr>
              <a:lnSpc>
                <a:spcPct val="140000"/>
              </a:lnSpc>
            </a:pPr>
            <a:r>
              <a:rPr lang="en-US" b="true" sz="3000">
                <a:solidFill>
                  <a:schemeClr val="dk2">
                    <a:alpha val="100000"/>
                  </a:schemeClr>
                </a:solidFill>
                <a:latin typeface="Noto Sans SC"/>
                <a:ea typeface="Noto Sans SC"/>
                <a:cs typeface="Noto Sans SC"/>
              </a:rPr>
              <a:t>RDS vs. DynamoDB</a:t>
            </a:r>
          </a:p>
        </p:txBody>
      </p:sp>
      <p:sp>
        <p:nvSpPr>
          <p:cNvPr name="TextBox 4" id="4"/>
          <p:cNvSpPr txBox="true"/>
          <p:nvPr/>
        </p:nvSpPr>
        <p:spPr>
          <a:xfrm rot="0">
            <a:off x="602667" y="1407650"/>
            <a:ext cx="982980" cy="2577465"/>
          </a:xfrm>
          <a:prstGeom prst="rect">
            <a:avLst/>
          </a:prstGeom>
          <a:ln/>
        </p:spPr>
        <p:txBody>
          <a:bodyPr anchor="t" rtlCol="false" lIns="91440" rIns="91440" tIns="45720" bIns="45720" anchorCtr="false" vert="horz" wrap="square">
            <a:spAutoFit/>
          </a:bodyPr>
          <a:lstStyle/>
          <a:p>
            <a:pPr>
              <a:lnSpc>
                <a:spcPct val="100000"/>
              </a:lnSpc>
              <a:spcBef>
                <a:spcPts val="375"/>
              </a:spcBef>
            </a:pPr>
            <a:r>
              <a:rPr lang="en-US" sz="15000">
                <a:solidFill>
                  <a:schemeClr val="dk1">
                    <a:alpha val="13000"/>
                  </a:schemeClr>
                </a:solidFill>
                <a:latin typeface="Helvetica"/>
                <a:ea typeface="Helvetica"/>
                <a:cs typeface="Helvetica"/>
              </a:rPr>
              <a:t>“</a:t>
            </a:r>
          </a:p>
        </p:txBody>
      </p:sp>
      <p:sp>
        <p:nvSpPr>
          <p:cNvPr name="AutoShape 5" id="5"/>
          <p:cNvSpPr/>
          <p:nvPr/>
        </p:nvSpPr>
        <p:spPr>
          <a:xfrm rot="0">
            <a:off x="8096185" y="5899917"/>
            <a:ext cx="3178667" cy="128000"/>
          </a:xfrm>
          <a:prstGeom prst="rect">
            <a:avLst/>
          </a:prstGeom>
          <a:solidFill>
            <a:schemeClr val="accent1">
              <a:alpha val="100000"/>
            </a:schemeClr>
          </a:solidFill>
          <a:ln/>
        </p:spPr>
      </p:sp>
    </p:spTree>
  </p:cSld>
  <p:clrMapOvr>
    <a:masterClrMapping/>
  </p:clrMapOvr>
  <p:transition spd="slow">
    <p:push/>
  </p:transition>
</p:sld>
</file>

<file path=ppt/slides/slide27.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TextBox 2" id="2"/>
          <p:cNvSpPr txBox="true"/>
          <p:nvPr/>
        </p:nvSpPr>
        <p:spPr>
          <a:xfrm rot="0">
            <a:off x="476023" y="265328"/>
            <a:ext cx="11239500" cy="914400"/>
          </a:xfrm>
          <a:prstGeom prst="rect">
            <a:avLst/>
          </a:prstGeom>
          <a:ln/>
        </p:spPr>
        <p:txBody>
          <a:bodyPr anchor="ctr" rtlCol="false" lIns="123825" rIns="57150" tIns="123825" bIns="123825" anchorCtr="false" vert="horz" wrap="square">
            <a:noAutofit/>
          </a:bodyPr>
          <a:lstStyle/>
          <a:p>
            <a:pPr>
              <a:lnSpc>
                <a:spcPct val="140000"/>
              </a:lnSpc>
            </a:pPr>
            <a:r>
              <a:rPr lang="en-US" b="true" sz="3000">
                <a:solidFill>
                  <a:schemeClr val="dk2">
                    <a:alpha val="100000"/>
                  </a:schemeClr>
                </a:solidFill>
                <a:latin typeface="Noto Sans SC"/>
                <a:ea typeface="Noto Sans SC"/>
                <a:cs typeface="Noto Sans SC"/>
              </a:rPr>
              <a:t>Global Delivery</a:t>
            </a:r>
          </a:p>
        </p:txBody>
      </p:sp>
      <p:sp>
        <p:nvSpPr>
          <p:cNvPr name="AutoShape 3" id="3"/>
          <p:cNvSpPr/>
          <p:nvPr/>
        </p:nvSpPr>
        <p:spPr>
          <a:xfrm rot="0">
            <a:off x="359506" y="2142172"/>
            <a:ext cx="2759613" cy="3597025"/>
          </a:xfrm>
          <a:prstGeom prst="roundRect">
            <a:avLst>
              <a:gd fmla="val 7233" name="adj"/>
            </a:avLst>
          </a:prstGeom>
          <a:solidFill>
            <a:schemeClr val="lt2">
              <a:alpha val="60000"/>
            </a:schemeClr>
          </a:solidFill>
          <a:ln/>
        </p:spPr>
      </p:sp>
      <p:sp>
        <p:nvSpPr>
          <p:cNvPr name="TextBox 4" id="4"/>
          <p:cNvSpPr txBox="true"/>
          <p:nvPr/>
        </p:nvSpPr>
        <p:spPr>
          <a:xfrm rot="0">
            <a:off x="517924" y="2315528"/>
            <a:ext cx="2517106" cy="3185817"/>
          </a:xfrm>
          <a:prstGeom prst="rect">
            <a:avLst/>
          </a:prstGeom>
          <a:ln/>
        </p:spPr>
        <p:txBody>
          <a:bodyPr anchor="t" rtlCol="false" lIns="66008" rIns="66008" tIns="33052" bIns="33052"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AWS CloudFront accelerates global delivery of static assets like 3D models and images, ensuring low-latency customer experiences across regions.</a:t>
            </a:r>
          </a:p>
        </p:txBody>
      </p:sp>
      <p:sp>
        <p:nvSpPr>
          <p:cNvPr name="AutoShape 5" id="5"/>
          <p:cNvSpPr/>
          <p:nvPr/>
        </p:nvSpPr>
        <p:spPr>
          <a:xfrm rot="0">
            <a:off x="3262749" y="2142172"/>
            <a:ext cx="2759613" cy="3597025"/>
          </a:xfrm>
          <a:prstGeom prst="roundRect">
            <a:avLst>
              <a:gd fmla="val 7233" name="adj"/>
            </a:avLst>
          </a:prstGeom>
          <a:solidFill>
            <a:schemeClr val="lt2">
              <a:alpha val="61000"/>
            </a:schemeClr>
          </a:solidFill>
          <a:ln/>
        </p:spPr>
      </p:sp>
      <p:sp>
        <p:nvSpPr>
          <p:cNvPr name="AutoShape 6" id="6"/>
          <p:cNvSpPr/>
          <p:nvPr/>
        </p:nvSpPr>
        <p:spPr>
          <a:xfrm rot="0">
            <a:off x="6163149" y="2142172"/>
            <a:ext cx="2759613" cy="3597025"/>
          </a:xfrm>
          <a:prstGeom prst="roundRect">
            <a:avLst>
              <a:gd fmla="val 7233" name="adj"/>
            </a:avLst>
          </a:prstGeom>
          <a:solidFill>
            <a:schemeClr val="lt2">
              <a:alpha val="60000"/>
            </a:schemeClr>
          </a:solidFill>
          <a:ln/>
        </p:spPr>
      </p:sp>
      <p:sp>
        <p:nvSpPr>
          <p:cNvPr name="AutoShape 7" id="7"/>
          <p:cNvSpPr/>
          <p:nvPr/>
        </p:nvSpPr>
        <p:spPr>
          <a:xfrm rot="0">
            <a:off x="9066393" y="2142172"/>
            <a:ext cx="2759613" cy="3597025"/>
          </a:xfrm>
          <a:prstGeom prst="roundRect">
            <a:avLst>
              <a:gd fmla="val 7233" name="adj"/>
            </a:avLst>
          </a:prstGeom>
          <a:solidFill>
            <a:schemeClr val="lt2">
              <a:alpha val="61000"/>
            </a:schemeClr>
          </a:solidFill>
          <a:ln/>
        </p:spPr>
      </p:sp>
      <p:sp>
        <p:nvSpPr>
          <p:cNvPr name="TextBox 8" id="8"/>
          <p:cNvSpPr txBox="true"/>
          <p:nvPr/>
        </p:nvSpPr>
        <p:spPr>
          <a:xfrm rot="0">
            <a:off x="3421168" y="2315528"/>
            <a:ext cx="2498524" cy="3185817"/>
          </a:xfrm>
          <a:prstGeom prst="rect">
            <a:avLst/>
          </a:prstGeom>
          <a:ln/>
        </p:spPr>
        <p:txBody>
          <a:bodyPr anchor="t" rtlCol="false" lIns="66008" rIns="66008" tIns="33052" bIns="33052"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Frequent updates to 3D assets trigger cache invalidation processes, adding operational complexity and potentially slowing down delivery for the latest assets.</a:t>
            </a:r>
          </a:p>
        </p:txBody>
      </p:sp>
      <p:sp>
        <p:nvSpPr>
          <p:cNvPr name="TextBox 9" id="9"/>
          <p:cNvSpPr txBox="true"/>
          <p:nvPr/>
        </p:nvSpPr>
        <p:spPr>
          <a:xfrm rot="0">
            <a:off x="6321567" y="2315528"/>
            <a:ext cx="2517106" cy="3185817"/>
          </a:xfrm>
          <a:prstGeom prst="rect">
            <a:avLst/>
          </a:prstGeom>
          <a:ln/>
        </p:spPr>
        <p:txBody>
          <a:bodyPr anchor="t" rtlCol="false" lIns="66008" rIns="66008" tIns="33052" bIns="33052"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Using CloudFront with Amazon S3 ensures seamless delivery of stored 3D content, enhancing reliability and performance in asset management.</a:t>
            </a:r>
          </a:p>
        </p:txBody>
      </p:sp>
      <p:sp>
        <p:nvSpPr>
          <p:cNvPr name="TextBox 10" id="10"/>
          <p:cNvSpPr txBox="true"/>
          <p:nvPr/>
        </p:nvSpPr>
        <p:spPr>
          <a:xfrm rot="0">
            <a:off x="9224811" y="2315528"/>
            <a:ext cx="2490713" cy="3185817"/>
          </a:xfrm>
          <a:prstGeom prst="rect">
            <a:avLst/>
          </a:prstGeom>
          <a:ln/>
        </p:spPr>
        <p:txBody>
          <a:bodyPr anchor="t" rtlCol="false" lIns="66008" rIns="66008" tIns="33052" bIns="33052" anchorCtr="false" vert="horz" wrap="square">
            <a:noAutofit/>
          </a:bodyPr>
          <a:lstStyle/>
          <a:p>
            <a:pPr algn="l">
              <a:lnSpc>
                <a:spcPct val="140000"/>
              </a:lnSpc>
            </a:pPr>
            <a:r>
              <a:rPr lang="en-US" sz="2000">
                <a:solidFill>
                  <a:schemeClr val="dk1">
                    <a:alpha val="100000"/>
                  </a:schemeClr>
                </a:solidFill>
                <a:latin typeface="Noto Sans SC"/>
                <a:ea typeface="Noto Sans SC"/>
                <a:cs typeface="Noto Sans SC"/>
              </a:rPr>
              <a:t>CloudFront manages traffic spikes efficiently through its edge caching, ensuring uninterrupted availability during promotional events or peak demand periods.</a:t>
            </a:r>
          </a:p>
        </p:txBody>
      </p:sp>
      <p:sp>
        <p:nvSpPr>
          <p:cNvPr name="TextBox 11" id="11"/>
          <p:cNvSpPr txBox="true"/>
          <p:nvPr/>
        </p:nvSpPr>
        <p:spPr>
          <a:xfrm rot="0">
            <a:off x="378556" y="1192655"/>
            <a:ext cx="2759613" cy="885463"/>
          </a:xfrm>
          <a:prstGeom prst="rect">
            <a:avLst/>
          </a:prstGeom>
          <a:ln/>
        </p:spPr>
        <p:txBody>
          <a:bodyPr anchor="ctr" rtlCol="false" lIns="91440" rIns="91440" tIns="45720" bIns="45720" anchorCtr="false" vert="horz" wrap="square">
            <a:noAutofit/>
          </a:bodyPr>
          <a:lstStyle/>
          <a:p>
            <a:pPr algn="ctr">
              <a:lnSpc>
                <a:spcPct val="100000"/>
              </a:lnSpc>
              <a:spcBef>
                <a:spcPts val="375"/>
              </a:spcBef>
            </a:pPr>
            <a:r>
              <a:rPr lang="en-US" b="true" sz="2000">
                <a:solidFill>
                  <a:schemeClr val="accent1">
                    <a:alpha val="100000"/>
                  </a:schemeClr>
                </a:solidFill>
                <a:latin typeface="Noto Sans SC"/>
                <a:ea typeface="Noto Sans SC"/>
                <a:cs typeface="Noto Sans SC"/>
              </a:rPr>
              <a:t>Efficient asset distribution</a:t>
            </a:r>
          </a:p>
        </p:txBody>
      </p:sp>
      <p:sp>
        <p:nvSpPr>
          <p:cNvPr name="TextBox 12" id="12"/>
          <p:cNvSpPr txBox="true"/>
          <p:nvPr/>
        </p:nvSpPr>
        <p:spPr>
          <a:xfrm rot="0">
            <a:off x="3309310" y="1192655"/>
            <a:ext cx="2759613" cy="885463"/>
          </a:xfrm>
          <a:prstGeom prst="rect">
            <a:avLst/>
          </a:prstGeom>
          <a:ln/>
        </p:spPr>
        <p:txBody>
          <a:bodyPr anchor="ctr" rtlCol="false" lIns="91440" rIns="91440" tIns="45720" bIns="45720" anchorCtr="false" vert="horz" wrap="square">
            <a:noAutofit/>
          </a:bodyPr>
          <a:lstStyle/>
          <a:p>
            <a:pPr algn="ctr">
              <a:lnSpc>
                <a:spcPct val="100000"/>
              </a:lnSpc>
              <a:spcBef>
                <a:spcPts val="375"/>
              </a:spcBef>
            </a:pPr>
            <a:r>
              <a:rPr lang="en-US" b="true" sz="2000">
                <a:solidFill>
                  <a:schemeClr val="accent1">
                    <a:alpha val="100000"/>
                  </a:schemeClr>
                </a:solidFill>
                <a:latin typeface="Noto Sans SC"/>
                <a:ea typeface="Noto Sans SC"/>
                <a:cs typeface="Noto Sans SC"/>
              </a:rPr>
              <a:t>Challenges in asset updates</a:t>
            </a:r>
          </a:p>
        </p:txBody>
      </p:sp>
      <p:sp>
        <p:nvSpPr>
          <p:cNvPr name="TextBox 13" id="13"/>
          <p:cNvSpPr txBox="true"/>
          <p:nvPr/>
        </p:nvSpPr>
        <p:spPr>
          <a:xfrm rot="0">
            <a:off x="6142647" y="1192655"/>
            <a:ext cx="2759613" cy="885463"/>
          </a:xfrm>
          <a:prstGeom prst="rect">
            <a:avLst/>
          </a:prstGeom>
          <a:ln/>
        </p:spPr>
        <p:txBody>
          <a:bodyPr anchor="ctr" rtlCol="false" lIns="91440" rIns="91440" tIns="45720" bIns="45720" anchorCtr="false" vert="horz" wrap="square">
            <a:noAutofit/>
          </a:bodyPr>
          <a:lstStyle/>
          <a:p>
            <a:pPr algn="ctr">
              <a:lnSpc>
                <a:spcPct val="100000"/>
              </a:lnSpc>
              <a:spcBef>
                <a:spcPts val="375"/>
              </a:spcBef>
            </a:pPr>
            <a:r>
              <a:rPr lang="en-US" b="true" sz="2000">
                <a:solidFill>
                  <a:schemeClr val="accent1">
                    <a:alpha val="100000"/>
                  </a:schemeClr>
                </a:solidFill>
                <a:latin typeface="Noto Sans SC"/>
                <a:ea typeface="Noto Sans SC"/>
                <a:cs typeface="Noto Sans SC"/>
              </a:rPr>
              <a:t>Integration with S3</a:t>
            </a:r>
          </a:p>
        </p:txBody>
      </p:sp>
      <p:sp>
        <p:nvSpPr>
          <p:cNvPr name="TextBox 14" id="14"/>
          <p:cNvSpPr txBox="true"/>
          <p:nvPr/>
        </p:nvSpPr>
        <p:spPr>
          <a:xfrm rot="0">
            <a:off x="9073400" y="1192655"/>
            <a:ext cx="2759613" cy="885463"/>
          </a:xfrm>
          <a:prstGeom prst="rect">
            <a:avLst/>
          </a:prstGeom>
          <a:ln/>
        </p:spPr>
        <p:txBody>
          <a:bodyPr anchor="ctr" rtlCol="false" lIns="91440" rIns="91440" tIns="45720" bIns="45720" anchorCtr="false" vert="horz" wrap="square">
            <a:noAutofit/>
          </a:bodyPr>
          <a:lstStyle/>
          <a:p>
            <a:pPr algn="ctr">
              <a:lnSpc>
                <a:spcPct val="100000"/>
              </a:lnSpc>
              <a:spcBef>
                <a:spcPts val="375"/>
              </a:spcBef>
            </a:pPr>
            <a:r>
              <a:rPr lang="en-US" b="true" sz="2000">
                <a:solidFill>
                  <a:schemeClr val="accent1">
                    <a:alpha val="100000"/>
                  </a:schemeClr>
                </a:solidFill>
                <a:latin typeface="Noto Sans SC"/>
                <a:ea typeface="Noto Sans SC"/>
                <a:cs typeface="Noto Sans SC"/>
              </a:rPr>
              <a:t>Scalability for spike management</a:t>
            </a:r>
          </a:p>
        </p:txBody>
      </p:sp>
    </p:spTree>
  </p:cSld>
  <p:clrMapOvr>
    <a:masterClrMapping/>
  </p:clrMapOvr>
  <p:transition spd="slow">
    <p:push/>
  </p:transition>
</p:sld>
</file>

<file path=ppt/slides/slide28.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AutoShape 2" id="2"/>
          <p:cNvSpPr/>
          <p:nvPr/>
        </p:nvSpPr>
        <p:spPr>
          <a:xfrm rot="0">
            <a:off x="538667" y="1819508"/>
            <a:ext cx="5461334" cy="1920000"/>
          </a:xfrm>
          <a:prstGeom prst="roundRect">
            <a:avLst>
              <a:gd fmla="val 12222" name="adj"/>
            </a:avLst>
          </a:prstGeom>
          <a:solidFill>
            <a:schemeClr val="lt2">
              <a:alpha val="100000"/>
            </a:schemeClr>
          </a:solidFill>
          <a:ln/>
        </p:spPr>
      </p:sp>
      <p:sp>
        <p:nvSpPr>
          <p:cNvPr name="TextBox 3" id="3"/>
          <p:cNvSpPr txBox="true"/>
          <p:nvPr/>
        </p:nvSpPr>
        <p:spPr>
          <a:xfrm rot="0">
            <a:off x="476023" y="265328"/>
            <a:ext cx="11239500" cy="914400"/>
          </a:xfrm>
          <a:prstGeom prst="rect">
            <a:avLst/>
          </a:prstGeom>
          <a:ln/>
        </p:spPr>
        <p:txBody>
          <a:bodyPr anchor="ctr" rtlCol="false" lIns="123825" rIns="57150" tIns="123825" bIns="123825" anchorCtr="false" vert="horz" wrap="square">
            <a:noAutofit/>
          </a:bodyPr>
          <a:lstStyle/>
          <a:p>
            <a:pPr>
              <a:lnSpc>
                <a:spcPct val="140000"/>
              </a:lnSpc>
            </a:pPr>
            <a:r>
              <a:rPr lang="en-US" b="true" sz="3000">
                <a:solidFill>
                  <a:schemeClr val="dk2">
                    <a:alpha val="100000"/>
                  </a:schemeClr>
                </a:solidFill>
                <a:latin typeface="Noto Sans SC"/>
                <a:ea typeface="Noto Sans SC"/>
                <a:cs typeface="Noto Sans SC"/>
              </a:rPr>
              <a:t>Monitoring Complexity</a:t>
            </a:r>
          </a:p>
        </p:txBody>
      </p:sp>
      <p:sp>
        <p:nvSpPr>
          <p:cNvPr name="TextBox 4" id="4"/>
          <p:cNvSpPr txBox="true"/>
          <p:nvPr/>
        </p:nvSpPr>
        <p:spPr>
          <a:xfrm rot="0">
            <a:off x="794041" y="1658453"/>
            <a:ext cx="4950584" cy="1467196"/>
          </a:xfrm>
          <a:prstGeom prst="rect">
            <a:avLst/>
          </a:prstGeom>
          <a:ln/>
        </p:spPr>
        <p:txBody>
          <a:bodyPr anchor="t" rtlCol="false" lIns="66008" rIns="66008" tIns="33052" bIns="33052" anchorCtr="false" vert="horz" wrap="square">
            <a:noAutofit/>
          </a:bodyPr>
          <a:lstStyle/>
          <a:p>
            <a:pPr algn="l">
              <a:lnSpc>
                <a:spcPct val="140000"/>
              </a:lnSpc>
            </a:pPr>
            <a:r>
              <a:rPr lang="en-US" sz="1900">
                <a:solidFill>
                  <a:schemeClr val="dk1">
                    <a:alpha val="100000"/>
                  </a:schemeClr>
                </a:solidFill>
                <a:latin typeface="Noto Sans SC"/>
                <a:ea typeface="Noto Sans SC"/>
                <a:cs typeface="Noto Sans SC"/>
              </a:rPr>
              <a:t>Designing effective alerts: Crafting targeted CloudWatch alerts for traffic surges or errors in rendering 3D assets requires a deep understanding of workload patterns and error types.</a:t>
            </a:r>
          </a:p>
        </p:txBody>
      </p:sp>
      <p:sp>
        <p:nvSpPr>
          <p:cNvPr name="AutoShape 5" id="5"/>
          <p:cNvSpPr/>
          <p:nvPr/>
        </p:nvSpPr>
        <p:spPr>
          <a:xfrm rot="0">
            <a:off x="6211833" y="1819508"/>
            <a:ext cx="5461334" cy="1920000"/>
          </a:xfrm>
          <a:prstGeom prst="roundRect">
            <a:avLst>
              <a:gd fmla="val 12222" name="adj"/>
            </a:avLst>
          </a:prstGeom>
          <a:solidFill>
            <a:schemeClr val="lt2">
              <a:alpha val="100000"/>
            </a:schemeClr>
          </a:solidFill>
          <a:ln/>
        </p:spPr>
      </p:sp>
      <p:sp>
        <p:nvSpPr>
          <p:cNvPr name="TextBox 6" id="6"/>
          <p:cNvSpPr txBox="true"/>
          <p:nvPr/>
        </p:nvSpPr>
        <p:spPr>
          <a:xfrm rot="0">
            <a:off x="6467208" y="2045910"/>
            <a:ext cx="4950584" cy="1467196"/>
          </a:xfrm>
          <a:prstGeom prst="rect">
            <a:avLst/>
          </a:prstGeom>
          <a:ln/>
        </p:spPr>
        <p:txBody>
          <a:bodyPr anchor="t" rtlCol="false" lIns="66008" rIns="66008" tIns="33052" bIns="33052" anchorCtr="false" vert="horz" wrap="square">
            <a:noAutofit/>
          </a:bodyPr>
          <a:lstStyle/>
          <a:p>
            <a:pPr algn="l">
              <a:lnSpc>
                <a:spcPct val="140000"/>
              </a:lnSpc>
            </a:pPr>
            <a:r>
              <a:rPr lang="en-US" sz="1900">
                <a:solidFill>
                  <a:schemeClr val="dk1">
                    <a:alpha val="100000"/>
                  </a:schemeClr>
                </a:solidFill>
                <a:latin typeface="Noto Sans SC"/>
                <a:ea typeface="Noto Sans SC"/>
                <a:cs typeface="Noto Sans SC"/>
              </a:rPr>
              <a:t>Metric tracking: CloudWatch provides detailed performance metrics, but correlating them to actionable insights for complex platform behaviors remains a challenge.</a:t>
            </a:r>
          </a:p>
        </p:txBody>
      </p:sp>
      <p:sp>
        <p:nvSpPr>
          <p:cNvPr name="AutoShape 7" id="7"/>
          <p:cNvSpPr/>
          <p:nvPr/>
        </p:nvSpPr>
        <p:spPr>
          <a:xfrm rot="0">
            <a:off x="538667" y="3962758"/>
            <a:ext cx="5461334" cy="1920000"/>
          </a:xfrm>
          <a:prstGeom prst="roundRect">
            <a:avLst>
              <a:gd fmla="val 12222" name="adj"/>
            </a:avLst>
          </a:prstGeom>
          <a:solidFill>
            <a:schemeClr val="lt2">
              <a:alpha val="100000"/>
            </a:schemeClr>
          </a:solidFill>
          <a:ln/>
        </p:spPr>
      </p:sp>
      <p:sp>
        <p:nvSpPr>
          <p:cNvPr name="TextBox 8" id="8"/>
          <p:cNvSpPr txBox="true"/>
          <p:nvPr/>
        </p:nvSpPr>
        <p:spPr>
          <a:xfrm rot="0">
            <a:off x="794041" y="4189160"/>
            <a:ext cx="4950584" cy="1467196"/>
          </a:xfrm>
          <a:prstGeom prst="rect">
            <a:avLst/>
          </a:prstGeom>
          <a:ln/>
        </p:spPr>
        <p:txBody>
          <a:bodyPr anchor="t" rtlCol="false" lIns="66008" rIns="66008" tIns="33052" bIns="33052" anchorCtr="false" vert="horz" wrap="square">
            <a:noAutofit/>
          </a:bodyPr>
          <a:lstStyle/>
          <a:p>
            <a:pPr algn="l">
              <a:lnSpc>
                <a:spcPct val="140000"/>
              </a:lnSpc>
            </a:pPr>
            <a:r>
              <a:rPr lang="en-US" sz="1900">
                <a:solidFill>
                  <a:schemeClr val="dk1">
                    <a:alpha val="100000"/>
                  </a:schemeClr>
                </a:solidFill>
                <a:latin typeface="Noto Sans SC"/>
                <a:ea typeface="Noto Sans SC"/>
                <a:cs typeface="Noto Sans SC"/>
              </a:rPr>
              <a:t>Error detection in rendering tasks: Monitoring for anomalies in computational tasks, such as 3D rendering errors or thumbnail generation, needs meticulous configuration of triggers and alarms.</a:t>
            </a:r>
          </a:p>
        </p:txBody>
      </p:sp>
      <p:sp>
        <p:nvSpPr>
          <p:cNvPr name="AutoShape 9" id="9"/>
          <p:cNvSpPr/>
          <p:nvPr/>
        </p:nvSpPr>
        <p:spPr>
          <a:xfrm rot="0">
            <a:off x="6211833" y="3962758"/>
            <a:ext cx="5461334" cy="1920000"/>
          </a:xfrm>
          <a:prstGeom prst="roundRect">
            <a:avLst>
              <a:gd fmla="val 12222" name="adj"/>
            </a:avLst>
          </a:prstGeom>
          <a:solidFill>
            <a:schemeClr val="lt2">
              <a:alpha val="100000"/>
            </a:schemeClr>
          </a:solidFill>
          <a:ln/>
        </p:spPr>
      </p:sp>
      <p:sp>
        <p:nvSpPr>
          <p:cNvPr name="TextBox 10" id="10"/>
          <p:cNvSpPr txBox="true"/>
          <p:nvPr/>
        </p:nvSpPr>
        <p:spPr>
          <a:xfrm rot="0">
            <a:off x="6467208" y="4189160"/>
            <a:ext cx="4950584" cy="1467196"/>
          </a:xfrm>
          <a:prstGeom prst="rect">
            <a:avLst/>
          </a:prstGeom>
          <a:ln/>
        </p:spPr>
        <p:txBody>
          <a:bodyPr anchor="t" rtlCol="false" lIns="66008" rIns="66008" tIns="33052" bIns="33052" anchorCtr="false" vert="horz" wrap="square">
            <a:noAutofit/>
          </a:bodyPr>
          <a:lstStyle/>
          <a:p>
            <a:pPr algn="l">
              <a:lnSpc>
                <a:spcPct val="140000"/>
              </a:lnSpc>
            </a:pPr>
            <a:r>
              <a:rPr lang="en-US" sz="1900">
                <a:solidFill>
                  <a:schemeClr val="dk1">
                    <a:alpha val="100000"/>
                  </a:schemeClr>
                </a:solidFill>
                <a:latin typeface="Noto Sans SC"/>
                <a:ea typeface="Noto Sans SC"/>
                <a:cs typeface="Noto Sans SC"/>
              </a:rPr>
              <a:t>Enhanced visibility with Trusted Advisor: Using AWS Trusted Advisor a1ongside CloudWatch ensures recommendations for performance and security refinement in monitoring strategies.</a:t>
            </a:r>
          </a:p>
        </p:txBody>
      </p:sp>
    </p:spTree>
  </p:cSld>
  <p:clrMapOvr>
    <a:masterClrMapping/>
  </p:clrMapOvr>
  <p:transition spd="slow">
    <p:push/>
  </p:transition>
</p:sld>
</file>

<file path=ppt/slides/slide29.xml><?xml version="1.0" encoding="utf-8"?>
<p:sld xmlns:p="http://schemas.openxmlformats.org/presentationml/2006/main" xmlns:a="http://schemas.openxmlformats.org/drawingml/2006/main" xmlns:r="http://schemas.openxmlformats.org/officeDocument/2006/relationships">
  <p:cSld>
    <p:bg>
      <p:bgPr>
        <a:blipFill dpi="0" rotWithShape="true">
          <a:blip r:embed="rId2">
            <a:alphaModFix amt="100000"/>
          </a:blip>
          <a:srcRect/>
          <a:stretch>
            <a:fillRect b="0" t="0" l="0" r="0"/>
          </a:stretch>
        </a:blipFill>
      </p:bgPr>
    </p:bg>
    <p:spTree>
      <p:nvGrpSpPr>
        <p:cNvPr id="1" name=""/>
        <p:cNvGrpSpPr/>
        <p:nvPr/>
      </p:nvGrpSpPr>
      <p:grpSpPr>
        <a:xfrm>
          <a:off x="0" y="0"/>
          <a:ext cx="0" cy="0"/>
          <a:chOff x="0" y="0"/>
          <a:chExt cx="0" cy="0"/>
        </a:xfrm>
      </p:grpSpPr>
      <p:sp>
        <p:nvSpPr>
          <p:cNvPr name="TextBox 2" id="2"/>
          <p:cNvSpPr txBox="true"/>
          <p:nvPr/>
        </p:nvSpPr>
        <p:spPr>
          <a:xfrm rot="0">
            <a:off x="851732" y="3729654"/>
            <a:ext cx="6962775" cy="514350"/>
          </a:xfrm>
          <a:prstGeom prst="rect">
            <a:avLst/>
          </a:prstGeom>
          <a:ln/>
        </p:spPr>
        <p:txBody>
          <a:bodyPr anchor="ctr" rtlCol="false" lIns="114300" rIns="114300" tIns="57150" bIns="57150" anchorCtr="false" vert="horz" wrap="square">
            <a:spAutoFit/>
          </a:bodyPr>
          <a:lstStyle/>
          <a:p>
            <a:pPr algn="l">
              <a:lnSpc>
                <a:spcPct val="120000"/>
              </a:lnSpc>
            </a:pPr>
            <a:r>
              <a:rPr lang="en-US" b="true" sz="2100">
                <a:solidFill>
                  <a:srgbClr val="1F1F1F">
                    <a:alpha val="100000"/>
                  </a:srgbClr>
                </a:solidFill>
                <a:latin typeface="Noto Sans SC"/>
                <a:ea typeface="Noto Sans SC"/>
                <a:cs typeface="Noto Sans SC"/>
              </a:rPr>
              <a:t> </a:t>
            </a:r>
          </a:p>
        </p:txBody>
      </p:sp>
      <p:sp>
        <p:nvSpPr>
          <p:cNvPr name="TextBox 3" id="3"/>
          <p:cNvSpPr txBox="true"/>
          <p:nvPr/>
        </p:nvSpPr>
        <p:spPr>
          <a:xfrm rot="0">
            <a:off x="804107" y="2352514"/>
            <a:ext cx="7439025" cy="1266825"/>
          </a:xfrm>
          <a:prstGeom prst="rect">
            <a:avLst/>
          </a:prstGeom>
          <a:ln/>
        </p:spPr>
        <p:txBody>
          <a:bodyPr anchor="ctr" rtlCol="false" lIns="114300" rIns="114300" tIns="57150" bIns="57150" anchorCtr="false" vert="horz" wrap="square">
            <a:spAutoFit/>
          </a:bodyPr>
          <a:lstStyle/>
          <a:p>
            <a:pPr algn="l">
              <a:lnSpc>
                <a:spcPct val="56000"/>
              </a:lnSpc>
            </a:pPr>
            <a:r>
              <a:rPr lang="en-US" b="true" sz="9000">
                <a:solidFill>
                  <a:srgbClr val="59AE93">
                    <a:alpha val="100000"/>
                  </a:srgbClr>
                </a:solidFill>
                <a:latin typeface="Noto Sans SC"/>
                <a:ea typeface="Noto Sans SC"/>
                <a:cs typeface="Noto Sans SC"/>
              </a:rPr>
              <a:t>Thank you</a:t>
            </a:r>
          </a:p>
        </p:txBody>
      </p:sp>
    </p:spTree>
  </p:cSld>
  <p:clrMapOvr>
    <a:masterClrMapping/>
  </p:clrMapOvr>
  <p:transition spd="slow">
    <p:push/>
  </p:transition>
</p:sld>
</file>

<file path=ppt/theme/theme1.xml><?xml version="1.0" encoding="utf-8"?>
<a:theme xmlns:a="http://schemas.openxmlformats.org/drawingml/2006/main" name="Office Theme">
  <a:themeElements>
    <a:clrScheme name="Office">
      <a:dk1>
        <a:srgbClr val="1F1F1F"/>
      </a:dk1>
      <a:lt1>
        <a:srgbClr val="E1E0E7"/>
      </a:lt1>
      <a:dk2>
        <a:srgbClr val="094935"/>
      </a:dk2>
      <a:lt2>
        <a:srgbClr val="D2D1DA"/>
      </a:lt2>
      <a:accent1>
        <a:srgbClr val="59AE93"/>
      </a:accent1>
      <a:accent2>
        <a:srgbClr val="4EA187"/>
      </a:accent2>
      <a:accent3>
        <a:srgbClr val="4A957D"/>
      </a:accent3>
      <a:accent4>
        <a:srgbClr val="37896F"/>
      </a:accent4>
      <a:accent5>
        <a:srgbClr val="378069"/>
      </a:accent5>
      <a:accent6>
        <a:srgbClr val="35746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